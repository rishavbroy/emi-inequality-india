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  <p:sldMasterId id="2147483770" r:id="rId2"/>
    <p:sldMasterId id="2147483782" r:id="rId3"/>
  </p:sldMasterIdLst>
  <p:notesMasterIdLst>
    <p:notesMasterId r:id="rId56"/>
  </p:notesMasterIdLst>
  <p:handoutMasterIdLst>
    <p:handoutMasterId r:id="rId57"/>
  </p:handoutMasterIdLst>
  <p:sldIdLst>
    <p:sldId id="271" r:id="rId4"/>
    <p:sldId id="272" r:id="rId5"/>
    <p:sldId id="274" r:id="rId6"/>
    <p:sldId id="273" r:id="rId7"/>
    <p:sldId id="290" r:id="rId8"/>
    <p:sldId id="291" r:id="rId9"/>
    <p:sldId id="292" r:id="rId10"/>
    <p:sldId id="293" r:id="rId11"/>
    <p:sldId id="294" r:id="rId12"/>
    <p:sldId id="295" r:id="rId13"/>
    <p:sldId id="297" r:id="rId14"/>
    <p:sldId id="306" r:id="rId15"/>
    <p:sldId id="307" r:id="rId16"/>
    <p:sldId id="308" r:id="rId17"/>
    <p:sldId id="309" r:id="rId18"/>
    <p:sldId id="310" r:id="rId19"/>
    <p:sldId id="311" r:id="rId20"/>
    <p:sldId id="322" r:id="rId21"/>
    <p:sldId id="312" r:id="rId22"/>
    <p:sldId id="313" r:id="rId23"/>
    <p:sldId id="301" r:id="rId24"/>
    <p:sldId id="331" r:id="rId25"/>
    <p:sldId id="314" r:id="rId26"/>
    <p:sldId id="315" r:id="rId27"/>
    <p:sldId id="316" r:id="rId28"/>
    <p:sldId id="317" r:id="rId29"/>
    <p:sldId id="332" r:id="rId30"/>
    <p:sldId id="334" r:id="rId31"/>
    <p:sldId id="335" r:id="rId32"/>
    <p:sldId id="323" r:id="rId33"/>
    <p:sldId id="325" r:id="rId34"/>
    <p:sldId id="326" r:id="rId35"/>
    <p:sldId id="324" r:id="rId36"/>
    <p:sldId id="327" r:id="rId37"/>
    <p:sldId id="328" r:id="rId38"/>
    <p:sldId id="329" r:id="rId39"/>
    <p:sldId id="330" r:id="rId40"/>
    <p:sldId id="318" r:id="rId41"/>
    <p:sldId id="319" r:id="rId42"/>
    <p:sldId id="320" r:id="rId43"/>
    <p:sldId id="336" r:id="rId44"/>
    <p:sldId id="321" r:id="rId45"/>
    <p:sldId id="338" r:id="rId46"/>
    <p:sldId id="337" r:id="rId47"/>
    <p:sldId id="339" r:id="rId48"/>
    <p:sldId id="340" r:id="rId49"/>
    <p:sldId id="341" r:id="rId50"/>
    <p:sldId id="342" r:id="rId51"/>
    <p:sldId id="284" r:id="rId52"/>
    <p:sldId id="343" r:id="rId53"/>
    <p:sldId id="344" r:id="rId54"/>
    <p:sldId id="25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shav" initials="R" lastIdx="1" clrIdx="0">
    <p:extLst>
      <p:ext uri="{19B8F6BF-5375-455C-9EA6-DF929625EA0E}">
        <p15:presenceInfo xmlns:p15="http://schemas.microsoft.com/office/powerpoint/2012/main" userId="Risha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543F"/>
    <a:srgbClr val="FFFFFF"/>
    <a:srgbClr val="62A9D0"/>
    <a:srgbClr val="3AA066"/>
    <a:srgbClr val="FFC565"/>
    <a:srgbClr val="722811"/>
    <a:srgbClr val="79861A"/>
    <a:srgbClr val="F47856"/>
    <a:srgbClr val="EF6039"/>
    <a:srgbClr val="6E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2E9F5-D8CF-A74C-A41D-746CB6815C42}" v="4" dt="2025-10-04T08:14:35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>
    <p:restoredLeft sz="12006" autoAdjust="0"/>
    <p:restoredTop sz="94656"/>
  </p:normalViewPr>
  <p:slideViewPr>
    <p:cSldViewPr snapToGrid="0">
      <p:cViewPr varScale="1">
        <p:scale>
          <a:sx n="112" d="100"/>
          <a:sy n="112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9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Roy" userId="0b3cf1e2-1e52-4ba5-bcb9-e1a3d41a4d56" providerId="ADAL" clId="{3D1C40D8-9CE7-4AB4-BE2A-F7D0060A2729}"/>
    <pc:docChg chg="undo redo custSel addSld delSld modSld sldOrd">
      <pc:chgData name="Rishav Roy" userId="0b3cf1e2-1e52-4ba5-bcb9-e1a3d41a4d56" providerId="ADAL" clId="{3D1C40D8-9CE7-4AB4-BE2A-F7D0060A2729}" dt="2025-04-01T05:22:01.058" v="1062" actId="1076"/>
      <pc:docMkLst>
        <pc:docMk/>
      </pc:docMkLst>
      <pc:sldChg chg="modSp new mod">
        <pc:chgData name="Rishav Roy" userId="0b3cf1e2-1e52-4ba5-bcb9-e1a3d41a4d56" providerId="ADAL" clId="{3D1C40D8-9CE7-4AB4-BE2A-F7D0060A2729}" dt="2025-04-01T04:35:02.065" v="85" actId="2711"/>
        <pc:sldMkLst>
          <pc:docMk/>
          <pc:sldMk cId="1548999367" sldId="256"/>
        </pc:sldMkLst>
      </pc:sldChg>
      <pc:sldChg chg="modSp new mod">
        <pc:chgData name="Rishav Roy" userId="0b3cf1e2-1e52-4ba5-bcb9-e1a3d41a4d56" providerId="ADAL" clId="{3D1C40D8-9CE7-4AB4-BE2A-F7D0060A2729}" dt="2025-04-01T04:38:39.833" v="260" actId="20577"/>
        <pc:sldMkLst>
          <pc:docMk/>
          <pc:sldMk cId="3896439862" sldId="257"/>
        </pc:sldMkLst>
      </pc:sldChg>
      <pc:sldChg chg="modSp new mod">
        <pc:chgData name="Rishav Roy" userId="0b3cf1e2-1e52-4ba5-bcb9-e1a3d41a4d56" providerId="ADAL" clId="{3D1C40D8-9CE7-4AB4-BE2A-F7D0060A2729}" dt="2025-04-01T04:44:31.016" v="504" actId="20577"/>
        <pc:sldMkLst>
          <pc:docMk/>
          <pc:sldMk cId="3421743387" sldId="258"/>
        </pc:sldMkLst>
      </pc:sldChg>
      <pc:sldChg chg="new del">
        <pc:chgData name="Rishav Roy" userId="0b3cf1e2-1e52-4ba5-bcb9-e1a3d41a4d56" providerId="ADAL" clId="{3D1C40D8-9CE7-4AB4-BE2A-F7D0060A2729}" dt="2025-04-01T04:51:19.009" v="506" actId="47"/>
        <pc:sldMkLst>
          <pc:docMk/>
          <pc:sldMk cId="2322817162" sldId="259"/>
        </pc:sldMkLst>
      </pc:sldChg>
      <pc:sldChg chg="modSp add mod">
        <pc:chgData name="Rishav Roy" userId="0b3cf1e2-1e52-4ba5-bcb9-e1a3d41a4d56" providerId="ADAL" clId="{3D1C40D8-9CE7-4AB4-BE2A-F7D0060A2729}" dt="2025-04-01T05:19:14.700" v="1039" actId="20577"/>
        <pc:sldMkLst>
          <pc:docMk/>
          <pc:sldMk cId="4264854869" sldId="259"/>
        </pc:sldMkLst>
      </pc:sldChg>
      <pc:sldChg chg="addSp delSp modSp new mod modClrScheme chgLayout">
        <pc:chgData name="Rishav Roy" userId="0b3cf1e2-1e52-4ba5-bcb9-e1a3d41a4d56" providerId="ADAL" clId="{3D1C40D8-9CE7-4AB4-BE2A-F7D0060A2729}" dt="2025-04-01T05:19:13.297" v="1037" actId="14100"/>
        <pc:sldMkLst>
          <pc:docMk/>
          <pc:sldMk cId="1543318054" sldId="260"/>
        </pc:sldMkLst>
      </pc:sldChg>
      <pc:sldChg chg="addSp modSp new mod">
        <pc:chgData name="Rishav Roy" userId="0b3cf1e2-1e52-4ba5-bcb9-e1a3d41a4d56" providerId="ADAL" clId="{3D1C40D8-9CE7-4AB4-BE2A-F7D0060A2729}" dt="2025-04-01T05:01:50.098" v="778" actId="14100"/>
        <pc:sldMkLst>
          <pc:docMk/>
          <pc:sldMk cId="2336647474" sldId="261"/>
        </pc:sldMkLst>
      </pc:sldChg>
      <pc:sldChg chg="addSp new mod">
        <pc:chgData name="Rishav Roy" userId="0b3cf1e2-1e52-4ba5-bcb9-e1a3d41a4d56" providerId="ADAL" clId="{3D1C40D8-9CE7-4AB4-BE2A-F7D0060A2729}" dt="2025-04-01T05:03:49.558" v="780" actId="22"/>
        <pc:sldMkLst>
          <pc:docMk/>
          <pc:sldMk cId="219851802" sldId="262"/>
        </pc:sldMkLst>
      </pc:sldChg>
      <pc:sldChg chg="addSp new mod">
        <pc:chgData name="Rishav Roy" userId="0b3cf1e2-1e52-4ba5-bcb9-e1a3d41a4d56" providerId="ADAL" clId="{3D1C40D8-9CE7-4AB4-BE2A-F7D0060A2729}" dt="2025-04-01T05:05:03.542" v="782" actId="22"/>
        <pc:sldMkLst>
          <pc:docMk/>
          <pc:sldMk cId="1936504634" sldId="263"/>
        </pc:sldMkLst>
      </pc:sldChg>
      <pc:sldChg chg="addSp new mod">
        <pc:chgData name="Rishav Roy" userId="0b3cf1e2-1e52-4ba5-bcb9-e1a3d41a4d56" providerId="ADAL" clId="{3D1C40D8-9CE7-4AB4-BE2A-F7D0060A2729}" dt="2025-04-01T05:05:37.095" v="784" actId="22"/>
        <pc:sldMkLst>
          <pc:docMk/>
          <pc:sldMk cId="973307602" sldId="264"/>
        </pc:sldMkLst>
      </pc:sldChg>
      <pc:sldChg chg="addSp delSp modSp new mod ord">
        <pc:chgData name="Rishav Roy" userId="0b3cf1e2-1e52-4ba5-bcb9-e1a3d41a4d56" providerId="ADAL" clId="{3D1C40D8-9CE7-4AB4-BE2A-F7D0060A2729}" dt="2025-04-01T05:22:01.058" v="1062" actId="1076"/>
        <pc:sldMkLst>
          <pc:docMk/>
          <pc:sldMk cId="1078801771" sldId="265"/>
        </pc:sldMkLst>
      </pc:sldChg>
      <pc:sldChg chg="addSp delSp modSp new mod ord modClrScheme chgLayout">
        <pc:chgData name="Rishav Roy" userId="0b3cf1e2-1e52-4ba5-bcb9-e1a3d41a4d56" providerId="ADAL" clId="{3D1C40D8-9CE7-4AB4-BE2A-F7D0060A2729}" dt="2025-04-01T05:11:21.033" v="832"/>
        <pc:sldMkLst>
          <pc:docMk/>
          <pc:sldMk cId="3331695212" sldId="266"/>
        </pc:sldMkLst>
      </pc:sldChg>
      <pc:sldChg chg="addSp modSp new mod modClrScheme chgLayout">
        <pc:chgData name="Rishav Roy" userId="0b3cf1e2-1e52-4ba5-bcb9-e1a3d41a4d56" providerId="ADAL" clId="{3D1C40D8-9CE7-4AB4-BE2A-F7D0060A2729}" dt="2025-04-01T05:17:16.886" v="961" actId="20577"/>
        <pc:sldMkLst>
          <pc:docMk/>
          <pc:sldMk cId="2461412321" sldId="267"/>
        </pc:sldMkLst>
      </pc:sldChg>
      <pc:sldChg chg="modSp add mod">
        <pc:chgData name="Rishav Roy" userId="0b3cf1e2-1e52-4ba5-bcb9-e1a3d41a4d56" providerId="ADAL" clId="{3D1C40D8-9CE7-4AB4-BE2A-F7D0060A2729}" dt="2025-04-01T05:17:24.930" v="997" actId="20577"/>
        <pc:sldMkLst>
          <pc:docMk/>
          <pc:sldMk cId="1007173783" sldId="268"/>
        </pc:sldMkLst>
      </pc:sldChg>
      <pc:sldChg chg="modSp add mod">
        <pc:chgData name="Rishav Roy" userId="0b3cf1e2-1e52-4ba5-bcb9-e1a3d41a4d56" providerId="ADAL" clId="{3D1C40D8-9CE7-4AB4-BE2A-F7D0060A2729}" dt="2025-04-01T05:17:31.708" v="1024" actId="20577"/>
        <pc:sldMkLst>
          <pc:docMk/>
          <pc:sldMk cId="677489725" sldId="269"/>
        </pc:sldMkLst>
      </pc:sldChg>
      <pc:sldChg chg="modSp add mod">
        <pc:chgData name="Rishav Roy" userId="0b3cf1e2-1e52-4ba5-bcb9-e1a3d41a4d56" providerId="ADAL" clId="{3D1C40D8-9CE7-4AB4-BE2A-F7D0060A2729}" dt="2025-04-01T05:17:38.431" v="1028" actId="403"/>
        <pc:sldMkLst>
          <pc:docMk/>
          <pc:sldMk cId="2958180177" sldId="270"/>
        </pc:sldMkLst>
      </pc:sldChg>
      <pc:sldMasterChg chg="addSldLayout">
        <pc:chgData name="Rishav Roy" userId="0b3cf1e2-1e52-4ba5-bcb9-e1a3d41a4d56" providerId="ADAL" clId="{3D1C40D8-9CE7-4AB4-BE2A-F7D0060A2729}" dt="2025-04-01T04:32:59.842" v="0" actId="680"/>
        <pc:sldMasterMkLst>
          <pc:docMk/>
          <pc:sldMasterMk cId="2192178706" sldId="2147483648"/>
        </pc:sldMasterMkLst>
        <pc:sldLayoutChg chg="add">
          <pc:chgData name="Rishav Roy" userId="0b3cf1e2-1e52-4ba5-bcb9-e1a3d41a4d56" providerId="ADAL" clId="{3D1C40D8-9CE7-4AB4-BE2A-F7D0060A2729}" dt="2025-04-01T04:32:59.842" v="0" actId="680"/>
          <pc:sldLayoutMkLst>
            <pc:docMk/>
            <pc:sldMasterMk cId="2192178706" sldId="2147483648"/>
            <pc:sldLayoutMk cId="3481754329" sldId="2147483649"/>
          </pc:sldLayoutMkLst>
        </pc:sldLayoutChg>
      </pc:sldMasterChg>
    </pc:docChg>
  </pc:docChgLst>
  <pc:docChgLst>
    <pc:chgData name="Rishav" userId="0b3cf1e2-1e52-4ba5-bcb9-e1a3d41a4d56" providerId="ADAL" clId="{34C18B5A-1444-426A-BD8A-8E0F892E37F5}"/>
    <pc:docChg chg="undo redo custSel addSld delSld modSld sldOrd addSection delSection">
      <pc:chgData name="Rishav" userId="0b3cf1e2-1e52-4ba5-bcb9-e1a3d41a4d56" providerId="ADAL" clId="{34C18B5A-1444-426A-BD8A-8E0F892E37F5}" dt="2025-05-02T19:37:01.569" v="7943" actId="20577"/>
      <pc:docMkLst>
        <pc:docMk/>
      </pc:docMkLst>
      <pc:sldChg chg="del">
        <pc:chgData name="Rishav" userId="0b3cf1e2-1e52-4ba5-bcb9-e1a3d41a4d56" providerId="ADAL" clId="{34C18B5A-1444-426A-BD8A-8E0F892E37F5}" dt="2025-04-25T01:48:52.376" v="84" actId="47"/>
        <pc:sldMkLst>
          <pc:docMk/>
          <pc:sldMk cId="1548999367" sldId="256"/>
        </pc:sldMkLst>
      </pc:sldChg>
      <pc:sldChg chg="del setBg">
        <pc:chgData name="Rishav" userId="0b3cf1e2-1e52-4ba5-bcb9-e1a3d41a4d56" providerId="ADAL" clId="{34C18B5A-1444-426A-BD8A-8E0F892E37F5}" dt="2025-04-25T03:43:54.381" v="4020" actId="47"/>
        <pc:sldMkLst>
          <pc:docMk/>
          <pc:sldMk cId="3896439862" sldId="257"/>
        </pc:sldMkLst>
      </pc:sldChg>
      <pc:sldChg chg="del">
        <pc:chgData name="Rishav" userId="0b3cf1e2-1e52-4ba5-bcb9-e1a3d41a4d56" providerId="ADAL" clId="{34C18B5A-1444-426A-BD8A-8E0F892E37F5}" dt="2025-04-25T03:43:59.324" v="4021" actId="47"/>
        <pc:sldMkLst>
          <pc:docMk/>
          <pc:sldMk cId="3421743387" sldId="258"/>
        </pc:sldMkLst>
      </pc:sldChg>
      <pc:sldChg chg="addSp delSp modSp mod">
        <pc:chgData name="Rishav" userId="0b3cf1e2-1e52-4ba5-bcb9-e1a3d41a4d56" providerId="ADAL" clId="{34C18B5A-1444-426A-BD8A-8E0F892E37F5}" dt="2025-04-25T22:51:24.438" v="7448" actId="20577"/>
        <pc:sldMkLst>
          <pc:docMk/>
          <pc:sldMk cId="4264854869" sldId="259"/>
        </pc:sldMkLst>
      </pc:sldChg>
      <pc:sldChg chg="del">
        <pc:chgData name="Rishav" userId="0b3cf1e2-1e52-4ba5-bcb9-e1a3d41a4d56" providerId="ADAL" clId="{34C18B5A-1444-426A-BD8A-8E0F892E37F5}" dt="2025-04-25T18:15:25.692" v="5700" actId="47"/>
        <pc:sldMkLst>
          <pc:docMk/>
          <pc:sldMk cId="1543318054" sldId="260"/>
        </pc:sldMkLst>
      </pc:sldChg>
      <pc:sldChg chg="del">
        <pc:chgData name="Rishav" userId="0b3cf1e2-1e52-4ba5-bcb9-e1a3d41a4d56" providerId="ADAL" clId="{34C18B5A-1444-426A-BD8A-8E0F892E37F5}" dt="2025-04-25T18:15:26.904" v="5701" actId="47"/>
        <pc:sldMkLst>
          <pc:docMk/>
          <pc:sldMk cId="2336647474" sldId="261"/>
        </pc:sldMkLst>
      </pc:sldChg>
      <pc:sldChg chg="del">
        <pc:chgData name="Rishav" userId="0b3cf1e2-1e52-4ba5-bcb9-e1a3d41a4d56" providerId="ADAL" clId="{34C18B5A-1444-426A-BD8A-8E0F892E37F5}" dt="2025-04-25T18:15:28.203" v="5703" actId="47"/>
        <pc:sldMkLst>
          <pc:docMk/>
          <pc:sldMk cId="219851802" sldId="262"/>
        </pc:sldMkLst>
      </pc:sldChg>
      <pc:sldChg chg="del">
        <pc:chgData name="Rishav" userId="0b3cf1e2-1e52-4ba5-bcb9-e1a3d41a4d56" providerId="ADAL" clId="{34C18B5A-1444-426A-BD8A-8E0F892E37F5}" dt="2025-04-25T18:15:28.718" v="5704" actId="47"/>
        <pc:sldMkLst>
          <pc:docMk/>
          <pc:sldMk cId="1936504634" sldId="263"/>
        </pc:sldMkLst>
      </pc:sldChg>
      <pc:sldChg chg="del">
        <pc:chgData name="Rishav" userId="0b3cf1e2-1e52-4ba5-bcb9-e1a3d41a4d56" providerId="ADAL" clId="{34C18B5A-1444-426A-BD8A-8E0F892E37F5}" dt="2025-04-25T18:15:29.191" v="5705" actId="47"/>
        <pc:sldMkLst>
          <pc:docMk/>
          <pc:sldMk cId="973307602" sldId="264"/>
        </pc:sldMkLst>
      </pc:sldChg>
      <pc:sldChg chg="del">
        <pc:chgData name="Rishav" userId="0b3cf1e2-1e52-4ba5-bcb9-e1a3d41a4d56" providerId="ADAL" clId="{34C18B5A-1444-426A-BD8A-8E0F892E37F5}" dt="2025-04-25T18:15:27.491" v="5702" actId="47"/>
        <pc:sldMkLst>
          <pc:docMk/>
          <pc:sldMk cId="1078801771" sldId="265"/>
        </pc:sldMkLst>
      </pc:sldChg>
      <pc:sldChg chg="del ord">
        <pc:chgData name="Rishav" userId="0b3cf1e2-1e52-4ba5-bcb9-e1a3d41a4d56" providerId="ADAL" clId="{34C18B5A-1444-426A-BD8A-8E0F892E37F5}" dt="2025-04-25T15:06:18.413" v="5237" actId="2696"/>
        <pc:sldMkLst>
          <pc:docMk/>
          <pc:sldMk cId="3331695212" sldId="266"/>
        </pc:sldMkLst>
      </pc:sldChg>
      <pc:sldChg chg="del">
        <pc:chgData name="Rishav" userId="0b3cf1e2-1e52-4ba5-bcb9-e1a3d41a4d56" providerId="ADAL" clId="{34C18B5A-1444-426A-BD8A-8E0F892E37F5}" dt="2025-04-25T18:15:29.945" v="5706" actId="47"/>
        <pc:sldMkLst>
          <pc:docMk/>
          <pc:sldMk cId="2461412321" sldId="267"/>
        </pc:sldMkLst>
      </pc:sldChg>
      <pc:sldChg chg="del">
        <pc:chgData name="Rishav" userId="0b3cf1e2-1e52-4ba5-bcb9-e1a3d41a4d56" providerId="ADAL" clId="{34C18B5A-1444-426A-BD8A-8E0F892E37F5}" dt="2025-04-25T18:15:30.280" v="5707" actId="47"/>
        <pc:sldMkLst>
          <pc:docMk/>
          <pc:sldMk cId="1007173783" sldId="268"/>
        </pc:sldMkLst>
      </pc:sldChg>
      <pc:sldChg chg="del">
        <pc:chgData name="Rishav" userId="0b3cf1e2-1e52-4ba5-bcb9-e1a3d41a4d56" providerId="ADAL" clId="{34C18B5A-1444-426A-BD8A-8E0F892E37F5}" dt="2025-04-25T18:15:30.541" v="5708" actId="47"/>
        <pc:sldMkLst>
          <pc:docMk/>
          <pc:sldMk cId="677489725" sldId="269"/>
        </pc:sldMkLst>
      </pc:sldChg>
      <pc:sldChg chg="del">
        <pc:chgData name="Rishav" userId="0b3cf1e2-1e52-4ba5-bcb9-e1a3d41a4d56" providerId="ADAL" clId="{34C18B5A-1444-426A-BD8A-8E0F892E37F5}" dt="2025-04-25T18:15:30.912" v="5709" actId="47"/>
        <pc:sldMkLst>
          <pc:docMk/>
          <pc:sldMk cId="2958180177" sldId="270"/>
        </pc:sldMkLst>
      </pc:sldChg>
      <pc:sldChg chg="add del ord setBg">
        <pc:chgData name="Rishav" userId="0b3cf1e2-1e52-4ba5-bcb9-e1a3d41a4d56" providerId="ADAL" clId="{34C18B5A-1444-426A-BD8A-8E0F892E37F5}" dt="2025-04-25T00:26:10.111" v="26" actId="20578"/>
        <pc:sldMkLst>
          <pc:docMk/>
          <pc:sldMk cId="634829879" sldId="271"/>
        </pc:sldMkLst>
      </pc:sldChg>
      <pc:sldChg chg="addSp delSp modSp new mod ord setBg">
        <pc:chgData name="Rishav" userId="0b3cf1e2-1e52-4ba5-bcb9-e1a3d41a4d56" providerId="ADAL" clId="{34C18B5A-1444-426A-BD8A-8E0F892E37F5}" dt="2025-04-25T21:15:44.052" v="6022" actId="1038"/>
        <pc:sldMkLst>
          <pc:docMk/>
          <pc:sldMk cId="2145429617" sldId="272"/>
        </pc:sldMkLst>
      </pc:sldChg>
      <pc:sldChg chg="addSp modSp new mod ord setBg">
        <pc:chgData name="Rishav" userId="0b3cf1e2-1e52-4ba5-bcb9-e1a3d41a4d56" providerId="ADAL" clId="{34C18B5A-1444-426A-BD8A-8E0F892E37F5}" dt="2025-04-25T22:13:10.879" v="6652" actId="14100"/>
        <pc:sldMkLst>
          <pc:docMk/>
          <pc:sldMk cId="1817193809" sldId="273"/>
        </pc:sldMkLst>
      </pc:sldChg>
      <pc:sldChg chg="addSp delSp modSp new mod ord setBg">
        <pc:chgData name="Rishav" userId="0b3cf1e2-1e52-4ba5-bcb9-e1a3d41a4d56" providerId="ADAL" clId="{34C18B5A-1444-426A-BD8A-8E0F892E37F5}" dt="2025-04-25T02:02:00.582" v="390" actId="21"/>
        <pc:sldMkLst>
          <pc:docMk/>
          <pc:sldMk cId="101712885" sldId="274"/>
        </pc:sldMkLst>
      </pc:sldChg>
      <pc:sldChg chg="addSp delSp modSp new del mod setBg modClrScheme chgLayout">
        <pc:chgData name="Rishav" userId="0b3cf1e2-1e52-4ba5-bcb9-e1a3d41a4d56" providerId="ADAL" clId="{34C18B5A-1444-426A-BD8A-8E0F892E37F5}" dt="2025-04-25T03:43:53.140" v="4019" actId="47"/>
        <pc:sldMkLst>
          <pc:docMk/>
          <pc:sldMk cId="1400693880" sldId="275"/>
        </pc:sldMkLst>
      </pc:sldChg>
      <pc:sldChg chg="add del">
        <pc:chgData name="Rishav" userId="0b3cf1e2-1e52-4ba5-bcb9-e1a3d41a4d56" providerId="ADAL" clId="{34C18B5A-1444-426A-BD8A-8E0F892E37F5}" dt="2025-04-25T03:44:07.564" v="4022" actId="47"/>
        <pc:sldMkLst>
          <pc:docMk/>
          <pc:sldMk cId="3832869783" sldId="276"/>
        </pc:sldMkLst>
      </pc:sldChg>
      <pc:sldChg chg="add del">
        <pc:chgData name="Rishav" userId="0b3cf1e2-1e52-4ba5-bcb9-e1a3d41a4d56" providerId="ADAL" clId="{34C18B5A-1444-426A-BD8A-8E0F892E37F5}" dt="2025-04-25T03:44:09.152" v="4023" actId="47"/>
        <pc:sldMkLst>
          <pc:docMk/>
          <pc:sldMk cId="3294255010" sldId="277"/>
        </pc:sldMkLst>
      </pc:sldChg>
      <pc:sldChg chg="add del">
        <pc:chgData name="Rishav" userId="0b3cf1e2-1e52-4ba5-bcb9-e1a3d41a4d56" providerId="ADAL" clId="{34C18B5A-1444-426A-BD8A-8E0F892E37F5}" dt="2025-04-25T03:44:12.056" v="4024" actId="47"/>
        <pc:sldMkLst>
          <pc:docMk/>
          <pc:sldMk cId="626552005" sldId="278"/>
        </pc:sldMkLst>
      </pc:sldChg>
      <pc:sldChg chg="add del ord">
        <pc:chgData name="Rishav" userId="0b3cf1e2-1e52-4ba5-bcb9-e1a3d41a4d56" providerId="ADAL" clId="{34C18B5A-1444-426A-BD8A-8E0F892E37F5}" dt="2025-04-25T18:11:59.401" v="5620" actId="47"/>
        <pc:sldMkLst>
          <pc:docMk/>
          <pc:sldMk cId="2996161695" sldId="279"/>
        </pc:sldMkLst>
      </pc:sldChg>
      <pc:sldChg chg="delSp add del mod ord">
        <pc:chgData name="Rishav" userId="0b3cf1e2-1e52-4ba5-bcb9-e1a3d41a4d56" providerId="ADAL" clId="{34C18B5A-1444-426A-BD8A-8E0F892E37F5}" dt="2025-04-25T18:13:17.269" v="5642" actId="47"/>
        <pc:sldMkLst>
          <pc:docMk/>
          <pc:sldMk cId="1719869737" sldId="280"/>
        </pc:sldMkLst>
      </pc:sldChg>
      <pc:sldChg chg="add del ord">
        <pc:chgData name="Rishav" userId="0b3cf1e2-1e52-4ba5-bcb9-e1a3d41a4d56" providerId="ADAL" clId="{34C18B5A-1444-426A-BD8A-8E0F892E37F5}" dt="2025-04-25T18:15:24.126" v="5698" actId="47"/>
        <pc:sldMkLst>
          <pc:docMk/>
          <pc:sldMk cId="2366098436" sldId="281"/>
        </pc:sldMkLst>
      </pc:sldChg>
      <pc:sldChg chg="add del ord">
        <pc:chgData name="Rishav" userId="0b3cf1e2-1e52-4ba5-bcb9-e1a3d41a4d56" providerId="ADAL" clId="{34C18B5A-1444-426A-BD8A-8E0F892E37F5}" dt="2025-04-25T18:13:17.704" v="5643" actId="47"/>
        <pc:sldMkLst>
          <pc:docMk/>
          <pc:sldMk cId="2154888156" sldId="282"/>
        </pc:sldMkLst>
      </pc:sldChg>
      <pc:sldChg chg="add del">
        <pc:chgData name="Rishav" userId="0b3cf1e2-1e52-4ba5-bcb9-e1a3d41a4d56" providerId="ADAL" clId="{34C18B5A-1444-426A-BD8A-8E0F892E37F5}" dt="2025-04-25T18:15:24.989" v="5699" actId="47"/>
        <pc:sldMkLst>
          <pc:docMk/>
          <pc:sldMk cId="2311732748" sldId="283"/>
        </pc:sldMkLst>
      </pc:sldChg>
      <pc:sldChg chg="add del ord">
        <pc:chgData name="Rishav" userId="0b3cf1e2-1e52-4ba5-bcb9-e1a3d41a4d56" providerId="ADAL" clId="{34C18B5A-1444-426A-BD8A-8E0F892E37F5}" dt="2025-04-25T03:45:11.421" v="4038"/>
        <pc:sldMkLst>
          <pc:docMk/>
          <pc:sldMk cId="2624529866" sldId="284"/>
        </pc:sldMkLst>
      </pc:sldChg>
      <pc:sldChg chg="add del ord">
        <pc:chgData name="Rishav" userId="0b3cf1e2-1e52-4ba5-bcb9-e1a3d41a4d56" providerId="ADAL" clId="{34C18B5A-1444-426A-BD8A-8E0F892E37F5}" dt="2025-04-25T18:13:18.450" v="5644" actId="47"/>
        <pc:sldMkLst>
          <pc:docMk/>
          <pc:sldMk cId="2412217294" sldId="285"/>
        </pc:sldMkLst>
      </pc:sldChg>
      <pc:sldChg chg="modSp add del mod ord">
        <pc:chgData name="Rishav" userId="0b3cf1e2-1e52-4ba5-bcb9-e1a3d41a4d56" providerId="ADAL" clId="{34C18B5A-1444-426A-BD8A-8E0F892E37F5}" dt="2025-04-25T18:15:16.434" v="5696" actId="47"/>
        <pc:sldMkLst>
          <pc:docMk/>
          <pc:sldMk cId="1870332614" sldId="286"/>
        </pc:sldMkLst>
      </pc:sldChg>
      <pc:sldChg chg="add del ord">
        <pc:chgData name="Rishav" userId="0b3cf1e2-1e52-4ba5-bcb9-e1a3d41a4d56" providerId="ADAL" clId="{34C18B5A-1444-426A-BD8A-8E0F892E37F5}" dt="2025-04-25T16:11:45.460" v="5297" actId="2696"/>
        <pc:sldMkLst>
          <pc:docMk/>
          <pc:sldMk cId="2148168362" sldId="287"/>
        </pc:sldMkLst>
      </pc:sldChg>
      <pc:sldChg chg="add del ord">
        <pc:chgData name="Rishav" userId="0b3cf1e2-1e52-4ba5-bcb9-e1a3d41a4d56" providerId="ADAL" clId="{34C18B5A-1444-426A-BD8A-8E0F892E37F5}" dt="2025-04-25T16:05:45.613" v="5238" actId="47"/>
        <pc:sldMkLst>
          <pc:docMk/>
          <pc:sldMk cId="741243714" sldId="288"/>
        </pc:sldMkLst>
      </pc:sldChg>
      <pc:sldChg chg="new del">
        <pc:chgData name="Rishav" userId="0b3cf1e2-1e52-4ba5-bcb9-e1a3d41a4d56" providerId="ADAL" clId="{34C18B5A-1444-426A-BD8A-8E0F892E37F5}" dt="2025-04-25T01:58:24.430" v="175" actId="47"/>
        <pc:sldMkLst>
          <pc:docMk/>
          <pc:sldMk cId="1880625695" sldId="289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2841692038" sldId="289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2798754583" sldId="290"/>
        </pc:sldMkLst>
      </pc:sldChg>
      <pc:sldChg chg="addSp delSp modSp add del mod setBg">
        <pc:chgData name="Rishav" userId="0b3cf1e2-1e52-4ba5-bcb9-e1a3d41a4d56" providerId="ADAL" clId="{34C18B5A-1444-426A-BD8A-8E0F892E37F5}" dt="2025-04-25T21:43:18.813" v="6221" actId="1076"/>
        <pc:sldMkLst>
          <pc:docMk/>
          <pc:sldMk cId="3158398254" sldId="290"/>
        </pc:sldMkLst>
      </pc:sldChg>
      <pc:sldChg chg="addSp delSp modSp add mod setBg">
        <pc:chgData name="Rishav" userId="0b3cf1e2-1e52-4ba5-bcb9-e1a3d41a4d56" providerId="ADAL" clId="{34C18B5A-1444-426A-BD8A-8E0F892E37F5}" dt="2025-04-25T02:36:54.842" v="1802"/>
        <pc:sldMkLst>
          <pc:docMk/>
          <pc:sldMk cId="44504149" sldId="291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2983174516" sldId="291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137550010" sldId="292"/>
        </pc:sldMkLst>
      </pc:sldChg>
      <pc:sldChg chg="new del">
        <pc:chgData name="Rishav" userId="0b3cf1e2-1e52-4ba5-bcb9-e1a3d41a4d56" providerId="ADAL" clId="{34C18B5A-1444-426A-BD8A-8E0F892E37F5}" dt="2025-04-25T02:05:24.110" v="467" actId="47"/>
        <pc:sldMkLst>
          <pc:docMk/>
          <pc:sldMk cId="643070388" sldId="292"/>
        </pc:sldMkLst>
      </pc:sldChg>
      <pc:sldChg chg="addSp delSp modSp add mod">
        <pc:chgData name="Rishav" userId="0b3cf1e2-1e52-4ba5-bcb9-e1a3d41a4d56" providerId="ADAL" clId="{34C18B5A-1444-426A-BD8A-8E0F892E37F5}" dt="2025-04-25T02:08:56.357" v="605"/>
        <pc:sldMkLst>
          <pc:docMk/>
          <pc:sldMk cId="2380850424" sldId="292"/>
        </pc:sldMkLst>
      </pc:sldChg>
      <pc:sldChg chg="modSp add del mod">
        <pc:chgData name="Rishav" userId="0b3cf1e2-1e52-4ba5-bcb9-e1a3d41a4d56" providerId="ADAL" clId="{34C18B5A-1444-426A-BD8A-8E0F892E37F5}" dt="2025-04-25T02:05:44.069" v="470" actId="47"/>
        <pc:sldMkLst>
          <pc:docMk/>
          <pc:sldMk cId="3754559461" sldId="292"/>
        </pc:sldMkLst>
      </pc:sldChg>
      <pc:sldChg chg="new del">
        <pc:chgData name="Rishav" userId="0b3cf1e2-1e52-4ba5-bcb9-e1a3d41a4d56" providerId="ADAL" clId="{34C18B5A-1444-426A-BD8A-8E0F892E37F5}" dt="2025-04-25T02:06:17.848" v="508" actId="680"/>
        <pc:sldMkLst>
          <pc:docMk/>
          <pc:sldMk cId="2197283690" sldId="293"/>
        </pc:sldMkLst>
      </pc:sldChg>
      <pc:sldChg chg="addSp delSp modSp add mod setBg">
        <pc:chgData name="Rishav" userId="0b3cf1e2-1e52-4ba5-bcb9-e1a3d41a4d56" providerId="ADAL" clId="{34C18B5A-1444-426A-BD8A-8E0F892E37F5}" dt="2025-04-25T21:16:29.482" v="6159" actId="6549"/>
        <pc:sldMkLst>
          <pc:docMk/>
          <pc:sldMk cId="3528338489" sldId="293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3672193425" sldId="293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198118137" sldId="294"/>
        </pc:sldMkLst>
      </pc:sldChg>
      <pc:sldChg chg="add del setBg">
        <pc:chgData name="Rishav" userId="0b3cf1e2-1e52-4ba5-bcb9-e1a3d41a4d56" providerId="ADAL" clId="{34C18B5A-1444-426A-BD8A-8E0F892E37F5}" dt="2025-04-25T02:14:48.466" v="1050" actId="47"/>
        <pc:sldMkLst>
          <pc:docMk/>
          <pc:sldMk cId="2727919921" sldId="294"/>
        </pc:sldMkLst>
      </pc:sldChg>
      <pc:sldChg chg="modSp add mod setBg">
        <pc:chgData name="Rishav" userId="0b3cf1e2-1e52-4ba5-bcb9-e1a3d41a4d56" providerId="ADAL" clId="{34C18B5A-1444-426A-BD8A-8E0F892E37F5}" dt="2025-04-25T18:28:18.238" v="5996" actId="1076"/>
        <pc:sldMkLst>
          <pc:docMk/>
          <pc:sldMk cId="2782122411" sldId="294"/>
        </pc:sldMkLst>
      </pc:sldChg>
      <pc:sldChg chg="add del setBg">
        <pc:chgData name="Rishav" userId="0b3cf1e2-1e52-4ba5-bcb9-e1a3d41a4d56" providerId="ADAL" clId="{34C18B5A-1444-426A-BD8A-8E0F892E37F5}" dt="2025-04-25T02:18:10.810" v="1229"/>
        <pc:sldMkLst>
          <pc:docMk/>
          <pc:sldMk cId="1571514217" sldId="295"/>
        </pc:sldMkLst>
      </pc:sldChg>
      <pc:sldChg chg="addSp delSp modSp add mod">
        <pc:chgData name="Rishav" userId="0b3cf1e2-1e52-4ba5-bcb9-e1a3d41a4d56" providerId="ADAL" clId="{34C18B5A-1444-426A-BD8A-8E0F892E37F5}" dt="2025-04-25T18:28:46.319" v="6003" actId="14100"/>
        <pc:sldMkLst>
          <pc:docMk/>
          <pc:sldMk cId="3007457762" sldId="295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3444634098" sldId="295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410489631" sldId="296"/>
        </pc:sldMkLst>
      </pc:sldChg>
      <pc:sldChg chg="modSp add del mod ord">
        <pc:chgData name="Rishav" userId="0b3cf1e2-1e52-4ba5-bcb9-e1a3d41a4d56" providerId="ADAL" clId="{34C18B5A-1444-426A-BD8A-8E0F892E37F5}" dt="2025-04-25T12:07:38.024" v="4804" actId="2696"/>
        <pc:sldMkLst>
          <pc:docMk/>
          <pc:sldMk cId="2868256212" sldId="296"/>
        </pc:sldMkLst>
      </pc:sldChg>
      <pc:sldChg chg="addSp modSp add mod setBg modNotesTx">
        <pc:chgData name="Rishav" userId="0b3cf1e2-1e52-4ba5-bcb9-e1a3d41a4d56" providerId="ADAL" clId="{34C18B5A-1444-426A-BD8A-8E0F892E37F5}" dt="2025-04-25T22:17:16.446" v="6681" actId="113"/>
        <pc:sldMkLst>
          <pc:docMk/>
          <pc:sldMk cId="1505957163" sldId="297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3491695260" sldId="297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4066614388" sldId="298"/>
        </pc:sldMkLst>
      </pc:sldChg>
      <pc:sldChg chg="add del setBg">
        <pc:chgData name="Rishav" userId="0b3cf1e2-1e52-4ba5-bcb9-e1a3d41a4d56" providerId="ADAL" clId="{34C18B5A-1444-426A-BD8A-8E0F892E37F5}" dt="2025-04-25T03:43:16.902" v="4013" actId="47"/>
        <pc:sldMkLst>
          <pc:docMk/>
          <pc:sldMk cId="4126746929" sldId="298"/>
        </pc:sldMkLst>
      </pc:sldChg>
      <pc:sldChg chg="add del setBg">
        <pc:chgData name="Rishav" userId="0b3cf1e2-1e52-4ba5-bcb9-e1a3d41a4d56" providerId="ADAL" clId="{34C18B5A-1444-426A-BD8A-8E0F892E37F5}" dt="2025-04-25T03:43:28.209" v="4014" actId="47"/>
        <pc:sldMkLst>
          <pc:docMk/>
          <pc:sldMk cId="2849194821" sldId="299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3370898866" sldId="299"/>
        </pc:sldMkLst>
      </pc:sldChg>
      <pc:sldChg chg="add del setBg">
        <pc:chgData name="Rishav" userId="0b3cf1e2-1e52-4ba5-bcb9-e1a3d41a4d56" providerId="ADAL" clId="{34C18B5A-1444-426A-BD8A-8E0F892E37F5}" dt="2025-04-25T03:43:29.274" v="4015" actId="47"/>
        <pc:sldMkLst>
          <pc:docMk/>
          <pc:sldMk cId="562801015" sldId="300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793239652" sldId="300"/>
        </pc:sldMkLst>
      </pc:sldChg>
      <pc:sldChg chg="add del">
        <pc:chgData name="Rishav" userId="0b3cf1e2-1e52-4ba5-bcb9-e1a3d41a4d56" providerId="ADAL" clId="{34C18B5A-1444-426A-BD8A-8E0F892E37F5}" dt="2025-04-25T01:51:19.369" v="99"/>
        <pc:sldMkLst>
          <pc:docMk/>
          <pc:sldMk cId="38978481" sldId="301"/>
        </pc:sldMkLst>
      </pc:sldChg>
      <pc:sldChg chg="addSp delSp modSp add mod ord setBg">
        <pc:chgData name="Rishav" userId="0b3cf1e2-1e52-4ba5-bcb9-e1a3d41a4d56" providerId="ADAL" clId="{34C18B5A-1444-426A-BD8A-8E0F892E37F5}" dt="2025-04-25T18:07:43.818" v="5515" actId="113"/>
        <pc:sldMkLst>
          <pc:docMk/>
          <pc:sldMk cId="3382650060" sldId="301"/>
        </pc:sldMkLst>
      </pc:sldChg>
      <pc:sldChg chg="add del setBg">
        <pc:chgData name="Rishav" userId="0b3cf1e2-1e52-4ba5-bcb9-e1a3d41a4d56" providerId="ADAL" clId="{34C18B5A-1444-426A-BD8A-8E0F892E37F5}" dt="2025-04-25T18:15:19.424" v="5697" actId="47"/>
        <pc:sldMkLst>
          <pc:docMk/>
          <pc:sldMk cId="247180174" sldId="302"/>
        </pc:sldMkLst>
      </pc:sldChg>
      <pc:sldChg chg="add del setBg">
        <pc:chgData name="Rishav" userId="0b3cf1e2-1e52-4ba5-bcb9-e1a3d41a4d56" providerId="ADAL" clId="{34C18B5A-1444-426A-BD8A-8E0F892E37F5}" dt="2025-04-25T03:43:50.129" v="4016" actId="47"/>
        <pc:sldMkLst>
          <pc:docMk/>
          <pc:sldMk cId="1442491653" sldId="303"/>
        </pc:sldMkLst>
      </pc:sldChg>
      <pc:sldChg chg="add del setBg">
        <pc:chgData name="Rishav" userId="0b3cf1e2-1e52-4ba5-bcb9-e1a3d41a4d56" providerId="ADAL" clId="{34C18B5A-1444-426A-BD8A-8E0F892E37F5}" dt="2025-04-25T03:43:51.032" v="4017" actId="47"/>
        <pc:sldMkLst>
          <pc:docMk/>
          <pc:sldMk cId="2997988051" sldId="304"/>
        </pc:sldMkLst>
      </pc:sldChg>
      <pc:sldChg chg="add del setBg">
        <pc:chgData name="Rishav" userId="0b3cf1e2-1e52-4ba5-bcb9-e1a3d41a4d56" providerId="ADAL" clId="{34C18B5A-1444-426A-BD8A-8E0F892E37F5}" dt="2025-04-25T03:43:51.534" v="4018" actId="47"/>
        <pc:sldMkLst>
          <pc:docMk/>
          <pc:sldMk cId="696292967" sldId="305"/>
        </pc:sldMkLst>
      </pc:sldChg>
      <pc:sldChg chg="addSp modSp add mod setBg modNotesTx">
        <pc:chgData name="Rishav" userId="0b3cf1e2-1e52-4ba5-bcb9-e1a3d41a4d56" providerId="ADAL" clId="{34C18B5A-1444-426A-BD8A-8E0F892E37F5}" dt="2025-04-25T23:09:29.823" v="7569" actId="20577"/>
        <pc:sldMkLst>
          <pc:docMk/>
          <pc:sldMk cId="1896101311" sldId="306"/>
        </pc:sldMkLst>
      </pc:sldChg>
      <pc:sldChg chg="addSp delSp modSp add mod setBg">
        <pc:chgData name="Rishav" userId="0b3cf1e2-1e52-4ba5-bcb9-e1a3d41a4d56" providerId="ADAL" clId="{34C18B5A-1444-426A-BD8A-8E0F892E37F5}" dt="2025-04-25T02:51:31.809" v="2067" actId="20577"/>
        <pc:sldMkLst>
          <pc:docMk/>
          <pc:sldMk cId="3391110031" sldId="307"/>
        </pc:sldMkLst>
      </pc:sldChg>
      <pc:sldChg chg="add del">
        <pc:chgData name="Rishav" userId="0b3cf1e2-1e52-4ba5-bcb9-e1a3d41a4d56" providerId="ADAL" clId="{34C18B5A-1444-426A-BD8A-8E0F892E37F5}" dt="2025-04-25T02:51:50.134" v="2068" actId="47"/>
        <pc:sldMkLst>
          <pc:docMk/>
          <pc:sldMk cId="659392132" sldId="308"/>
        </pc:sldMkLst>
      </pc:sldChg>
      <pc:sldChg chg="addSp modSp add mod">
        <pc:chgData name="Rishav" userId="0b3cf1e2-1e52-4ba5-bcb9-e1a3d41a4d56" providerId="ADAL" clId="{34C18B5A-1444-426A-BD8A-8E0F892E37F5}" dt="2025-04-25T21:18:06.550" v="6180" actId="14100"/>
        <pc:sldMkLst>
          <pc:docMk/>
          <pc:sldMk cId="1220613480" sldId="308"/>
        </pc:sldMkLst>
      </pc:sldChg>
      <pc:sldChg chg="addSp modSp add mod">
        <pc:chgData name="Rishav" userId="0b3cf1e2-1e52-4ba5-bcb9-e1a3d41a4d56" providerId="ADAL" clId="{34C18B5A-1444-426A-BD8A-8E0F892E37F5}" dt="2025-04-25T21:18:14.791" v="6181" actId="14100"/>
        <pc:sldMkLst>
          <pc:docMk/>
          <pc:sldMk cId="1091825640" sldId="309"/>
        </pc:sldMkLst>
      </pc:sldChg>
      <pc:sldChg chg="addSp delSp modSp add mod ord">
        <pc:chgData name="Rishav" userId="0b3cf1e2-1e52-4ba5-bcb9-e1a3d41a4d56" providerId="ADAL" clId="{34C18B5A-1444-426A-BD8A-8E0F892E37F5}" dt="2025-04-25T04:34:28.830" v="4756"/>
        <pc:sldMkLst>
          <pc:docMk/>
          <pc:sldMk cId="273956802" sldId="310"/>
        </pc:sldMkLst>
      </pc:sldChg>
      <pc:sldChg chg="addSp delSp modSp add mod ord setBg">
        <pc:chgData name="Rishav" userId="0b3cf1e2-1e52-4ba5-bcb9-e1a3d41a4d56" providerId="ADAL" clId="{34C18B5A-1444-426A-BD8A-8E0F892E37F5}" dt="2025-04-25T16:12:55.267" v="5310" actId="404"/>
        <pc:sldMkLst>
          <pc:docMk/>
          <pc:sldMk cId="891371675" sldId="311"/>
        </pc:sldMkLst>
      </pc:sldChg>
      <pc:sldChg chg="addSp modSp add mod ord">
        <pc:chgData name="Rishav" userId="0b3cf1e2-1e52-4ba5-bcb9-e1a3d41a4d56" providerId="ADAL" clId="{34C18B5A-1444-426A-BD8A-8E0F892E37F5}" dt="2025-04-25T22:52:55.297" v="7449" actId="20577"/>
        <pc:sldMkLst>
          <pc:docMk/>
          <pc:sldMk cId="4287385357" sldId="312"/>
        </pc:sldMkLst>
      </pc:sldChg>
      <pc:sldChg chg="addSp modSp add mod addCm delCm">
        <pc:chgData name="Rishav" userId="0b3cf1e2-1e52-4ba5-bcb9-e1a3d41a4d56" providerId="ADAL" clId="{34C18B5A-1444-426A-BD8A-8E0F892E37F5}" dt="2025-04-25T22:52:58.070" v="7450" actId="20577"/>
        <pc:sldMkLst>
          <pc:docMk/>
          <pc:sldMk cId="202851461" sldId="313"/>
        </pc:sldMkLst>
      </pc:sldChg>
      <pc:sldChg chg="addSp delSp modSp add mod ord">
        <pc:chgData name="Rishav" userId="0b3cf1e2-1e52-4ba5-bcb9-e1a3d41a4d56" providerId="ADAL" clId="{34C18B5A-1444-426A-BD8A-8E0F892E37F5}" dt="2025-04-25T04:34:09.932" v="4754"/>
        <pc:sldMkLst>
          <pc:docMk/>
          <pc:sldMk cId="3293855217" sldId="314"/>
        </pc:sldMkLst>
      </pc:sldChg>
      <pc:sldChg chg="addSp delSp modSp add mod ord setBg">
        <pc:chgData name="Rishav" userId="0b3cf1e2-1e52-4ba5-bcb9-e1a3d41a4d56" providerId="ADAL" clId="{34C18B5A-1444-426A-BD8A-8E0F892E37F5}" dt="2025-04-25T22:14:13.878" v="6656"/>
        <pc:sldMkLst>
          <pc:docMk/>
          <pc:sldMk cId="620850150" sldId="315"/>
        </pc:sldMkLst>
      </pc:sldChg>
      <pc:sldChg chg="add del setBg">
        <pc:chgData name="Rishav" userId="0b3cf1e2-1e52-4ba5-bcb9-e1a3d41a4d56" providerId="ADAL" clId="{34C18B5A-1444-426A-BD8A-8E0F892E37F5}" dt="2025-04-25T03:32:36.382" v="2887"/>
        <pc:sldMkLst>
          <pc:docMk/>
          <pc:sldMk cId="396006950" sldId="316"/>
        </pc:sldMkLst>
      </pc:sldChg>
      <pc:sldChg chg="addSp delSp modSp add mod ord">
        <pc:chgData name="Rishav" userId="0b3cf1e2-1e52-4ba5-bcb9-e1a3d41a4d56" providerId="ADAL" clId="{34C18B5A-1444-426A-BD8A-8E0F892E37F5}" dt="2025-04-25T18:00:37.137" v="5458"/>
        <pc:sldMkLst>
          <pc:docMk/>
          <pc:sldMk cId="2433064728" sldId="316"/>
        </pc:sldMkLst>
      </pc:sldChg>
      <pc:sldChg chg="modSp add mod ord">
        <pc:chgData name="Rishav" userId="0b3cf1e2-1e52-4ba5-bcb9-e1a3d41a4d56" providerId="ADAL" clId="{34C18B5A-1444-426A-BD8A-8E0F892E37F5}" dt="2025-04-25T18:12:43.888" v="5629"/>
        <pc:sldMkLst>
          <pc:docMk/>
          <pc:sldMk cId="1646885117" sldId="317"/>
        </pc:sldMkLst>
      </pc:sldChg>
      <pc:sldChg chg="addSp delSp modSp add mod">
        <pc:chgData name="Rishav" userId="0b3cf1e2-1e52-4ba5-bcb9-e1a3d41a4d56" providerId="ADAL" clId="{34C18B5A-1444-426A-BD8A-8E0F892E37F5}" dt="2025-04-25T23:31:01.532" v="7700" actId="1036"/>
        <pc:sldMkLst>
          <pc:docMk/>
          <pc:sldMk cId="1303376325" sldId="318"/>
        </pc:sldMkLst>
      </pc:sldChg>
      <pc:sldChg chg="add del setBg">
        <pc:chgData name="Rishav" userId="0b3cf1e2-1e52-4ba5-bcb9-e1a3d41a4d56" providerId="ADAL" clId="{34C18B5A-1444-426A-BD8A-8E0F892E37F5}" dt="2025-04-25T03:51:42.052" v="4189"/>
        <pc:sldMkLst>
          <pc:docMk/>
          <pc:sldMk cId="3711740395" sldId="318"/>
        </pc:sldMkLst>
      </pc:sldChg>
      <pc:sldChg chg="delSp modSp add mod">
        <pc:chgData name="Rishav" userId="0b3cf1e2-1e52-4ba5-bcb9-e1a3d41a4d56" providerId="ADAL" clId="{34C18B5A-1444-426A-BD8A-8E0F892E37F5}" dt="2025-04-25T22:15:45.686" v="6678" actId="14100"/>
        <pc:sldMkLst>
          <pc:docMk/>
          <pc:sldMk cId="1860086859" sldId="319"/>
        </pc:sldMkLst>
      </pc:sldChg>
      <pc:sldChg chg="addSp delSp modSp add mod">
        <pc:chgData name="Rishav" userId="0b3cf1e2-1e52-4ba5-bcb9-e1a3d41a4d56" providerId="ADAL" clId="{34C18B5A-1444-426A-BD8A-8E0F892E37F5}" dt="2025-04-25T22:15:58.656" v="6680"/>
        <pc:sldMkLst>
          <pc:docMk/>
          <pc:sldMk cId="2921545586" sldId="320"/>
        </pc:sldMkLst>
      </pc:sldChg>
      <pc:sldChg chg="add del setBg">
        <pc:chgData name="Rishav" userId="0b3cf1e2-1e52-4ba5-bcb9-e1a3d41a4d56" providerId="ADAL" clId="{34C18B5A-1444-426A-BD8A-8E0F892E37F5}" dt="2025-04-25T04:25:22.033" v="4441"/>
        <pc:sldMkLst>
          <pc:docMk/>
          <pc:sldMk cId="3153714056" sldId="321"/>
        </pc:sldMkLst>
      </pc:sldChg>
      <pc:sldChg chg="modSp add mod ord">
        <pc:chgData name="Rishav" userId="0b3cf1e2-1e52-4ba5-bcb9-e1a3d41a4d56" providerId="ADAL" clId="{34C18B5A-1444-426A-BD8A-8E0F892E37F5}" dt="2025-04-25T22:11:36.657" v="6649" actId="404"/>
        <pc:sldMkLst>
          <pc:docMk/>
          <pc:sldMk cId="4144253573" sldId="321"/>
        </pc:sldMkLst>
      </pc:sldChg>
      <pc:sldChg chg="addSp delSp modSp add mod">
        <pc:chgData name="Rishav" userId="0b3cf1e2-1e52-4ba5-bcb9-e1a3d41a4d56" providerId="ADAL" clId="{34C18B5A-1444-426A-BD8A-8E0F892E37F5}" dt="2025-04-25T16:13:14.158" v="5314" actId="14826"/>
        <pc:sldMkLst>
          <pc:docMk/>
          <pc:sldMk cId="1180937845" sldId="322"/>
        </pc:sldMkLst>
      </pc:sldChg>
      <pc:sldChg chg="addSp delSp modSp add mod ord setBg modNotesTx">
        <pc:chgData name="Rishav" userId="0b3cf1e2-1e52-4ba5-bcb9-e1a3d41a4d56" providerId="ADAL" clId="{34C18B5A-1444-426A-BD8A-8E0F892E37F5}" dt="2025-05-02T18:28:28.347" v="7938" actId="20577"/>
        <pc:sldMkLst>
          <pc:docMk/>
          <pc:sldMk cId="1489961329" sldId="323"/>
        </pc:sldMkLst>
      </pc:sldChg>
      <pc:sldChg chg="addSp delSp modSp add mod modNotesTx">
        <pc:chgData name="Rishav" userId="0b3cf1e2-1e52-4ba5-bcb9-e1a3d41a4d56" providerId="ADAL" clId="{34C18B5A-1444-426A-BD8A-8E0F892E37F5}" dt="2025-04-25T22:29:26.629" v="6743" actId="20577"/>
        <pc:sldMkLst>
          <pc:docMk/>
          <pc:sldMk cId="1903674677" sldId="324"/>
        </pc:sldMkLst>
      </pc:sldChg>
      <pc:sldChg chg="addSp delSp modSp add mod">
        <pc:chgData name="Rishav" userId="0b3cf1e2-1e52-4ba5-bcb9-e1a3d41a4d56" providerId="ADAL" clId="{34C18B5A-1444-426A-BD8A-8E0F892E37F5}" dt="2025-04-25T17:54:54.177" v="5424" actId="1076"/>
        <pc:sldMkLst>
          <pc:docMk/>
          <pc:sldMk cId="3587157167" sldId="325"/>
        </pc:sldMkLst>
      </pc:sldChg>
      <pc:sldChg chg="delSp modSp add mod">
        <pc:chgData name="Rishav" userId="0b3cf1e2-1e52-4ba5-bcb9-e1a3d41a4d56" providerId="ADAL" clId="{34C18B5A-1444-426A-BD8A-8E0F892E37F5}" dt="2025-04-25T17:55:17.636" v="5429" actId="1076"/>
        <pc:sldMkLst>
          <pc:docMk/>
          <pc:sldMk cId="2655147875" sldId="326"/>
        </pc:sldMkLst>
      </pc:sldChg>
      <pc:sldChg chg="addSp delSp modSp add mod modNotesTx">
        <pc:chgData name="Rishav" userId="0b3cf1e2-1e52-4ba5-bcb9-e1a3d41a4d56" providerId="ADAL" clId="{34C18B5A-1444-426A-BD8A-8E0F892E37F5}" dt="2025-04-26T17:20:14.561" v="7893" actId="1076"/>
        <pc:sldMkLst>
          <pc:docMk/>
          <pc:sldMk cId="2677942110" sldId="327"/>
        </pc:sldMkLst>
      </pc:sldChg>
      <pc:sldChg chg="delSp modSp add mod">
        <pc:chgData name="Rishav" userId="0b3cf1e2-1e52-4ba5-bcb9-e1a3d41a4d56" providerId="ADAL" clId="{34C18B5A-1444-426A-BD8A-8E0F892E37F5}" dt="2025-04-25T17:56:11.301" v="5443" actId="1076"/>
        <pc:sldMkLst>
          <pc:docMk/>
          <pc:sldMk cId="733217318" sldId="328"/>
        </pc:sldMkLst>
      </pc:sldChg>
      <pc:sldChg chg="addSp delSp modSp add mod modNotesTx">
        <pc:chgData name="Rishav" userId="0b3cf1e2-1e52-4ba5-bcb9-e1a3d41a4d56" providerId="ADAL" clId="{34C18B5A-1444-426A-BD8A-8E0F892E37F5}" dt="2025-05-02T18:28:45.106" v="7940" actId="20577"/>
        <pc:sldMkLst>
          <pc:docMk/>
          <pc:sldMk cId="794213606" sldId="329"/>
        </pc:sldMkLst>
      </pc:sldChg>
      <pc:sldChg chg="addSp delSp modSp add mod">
        <pc:chgData name="Rishav" userId="0b3cf1e2-1e52-4ba5-bcb9-e1a3d41a4d56" providerId="ADAL" clId="{34C18B5A-1444-426A-BD8A-8E0F892E37F5}" dt="2025-04-25T23:34:48.218" v="7719" actId="1035"/>
        <pc:sldMkLst>
          <pc:docMk/>
          <pc:sldMk cId="3371618335" sldId="330"/>
        </pc:sldMkLst>
      </pc:sldChg>
      <pc:sldChg chg="addSp delSp modSp add mod">
        <pc:chgData name="Rishav" userId="0b3cf1e2-1e52-4ba5-bcb9-e1a3d41a4d56" providerId="ADAL" clId="{34C18B5A-1444-426A-BD8A-8E0F892E37F5}" dt="2025-04-25T18:07:30.589" v="5514" actId="1076"/>
        <pc:sldMkLst>
          <pc:docMk/>
          <pc:sldMk cId="3066852959" sldId="331"/>
        </pc:sldMkLst>
      </pc:sldChg>
      <pc:sldChg chg="addSp delSp modSp add mod setBg modNotesTx">
        <pc:chgData name="Rishav" userId="0b3cf1e2-1e52-4ba5-bcb9-e1a3d41a4d56" providerId="ADAL" clId="{34C18B5A-1444-426A-BD8A-8E0F892E37F5}" dt="2025-04-25T22:29:50.086" v="6800" actId="20577"/>
        <pc:sldMkLst>
          <pc:docMk/>
          <pc:sldMk cId="3925842808" sldId="332"/>
        </pc:sldMkLst>
      </pc:sldChg>
      <pc:sldChg chg="add del">
        <pc:chgData name="Rishav" userId="0b3cf1e2-1e52-4ba5-bcb9-e1a3d41a4d56" providerId="ADAL" clId="{34C18B5A-1444-426A-BD8A-8E0F892E37F5}" dt="2025-04-25T21:46:53.645" v="6242" actId="2696"/>
        <pc:sldMkLst>
          <pc:docMk/>
          <pc:sldMk cId="499236902" sldId="333"/>
        </pc:sldMkLst>
      </pc:sldChg>
      <pc:sldChg chg="addSp delSp modSp add mod">
        <pc:chgData name="Rishav" userId="0b3cf1e2-1e52-4ba5-bcb9-e1a3d41a4d56" providerId="ADAL" clId="{34C18B5A-1444-426A-BD8A-8E0F892E37F5}" dt="2025-04-25T22:14:32.626" v="6675" actId="20577"/>
        <pc:sldMkLst>
          <pc:docMk/>
          <pc:sldMk cId="3862589252" sldId="334"/>
        </pc:sldMkLst>
      </pc:sldChg>
      <pc:sldChg chg="addSp delSp modSp add mod modNotesTx">
        <pc:chgData name="Rishav" userId="0b3cf1e2-1e52-4ba5-bcb9-e1a3d41a4d56" providerId="ADAL" clId="{34C18B5A-1444-426A-BD8A-8E0F892E37F5}" dt="2025-04-26T17:05:26.643" v="7743" actId="20577"/>
        <pc:sldMkLst>
          <pc:docMk/>
          <pc:sldMk cId="788498004" sldId="335"/>
        </pc:sldMkLst>
      </pc:sldChg>
      <pc:sldChg chg="add del">
        <pc:chgData name="Rishav" userId="0b3cf1e2-1e52-4ba5-bcb9-e1a3d41a4d56" providerId="ADAL" clId="{34C18B5A-1444-426A-BD8A-8E0F892E37F5}" dt="2025-04-25T18:13:33.269" v="5646" actId="47"/>
        <pc:sldMkLst>
          <pc:docMk/>
          <pc:sldMk cId="1800345914" sldId="336"/>
        </pc:sldMkLst>
      </pc:sldChg>
      <pc:sldChg chg="addSp delSp modSp add mod ord setBg">
        <pc:chgData name="Rishav" userId="0b3cf1e2-1e52-4ba5-bcb9-e1a3d41a4d56" providerId="ADAL" clId="{34C18B5A-1444-426A-BD8A-8E0F892E37F5}" dt="2025-04-25T21:58:28.458" v="6602" actId="404"/>
        <pc:sldMkLst>
          <pc:docMk/>
          <pc:sldMk cId="3982502820" sldId="336"/>
        </pc:sldMkLst>
      </pc:sldChg>
      <pc:sldChg chg="addSp delSp modSp new mod">
        <pc:chgData name="Rishav" userId="0b3cf1e2-1e52-4ba5-bcb9-e1a3d41a4d56" providerId="ADAL" clId="{34C18B5A-1444-426A-BD8A-8E0F892E37F5}" dt="2025-04-25T18:24:22.101" v="5796" actId="21"/>
        <pc:sldMkLst>
          <pc:docMk/>
          <pc:sldMk cId="3120504267" sldId="337"/>
        </pc:sldMkLst>
      </pc:sldChg>
      <pc:sldChg chg="addSp delSp modSp add mod ord">
        <pc:chgData name="Rishav" userId="0b3cf1e2-1e52-4ba5-bcb9-e1a3d41a4d56" providerId="ADAL" clId="{34C18B5A-1444-426A-BD8A-8E0F892E37F5}" dt="2025-04-25T22:33:34.854" v="6986" actId="5793"/>
        <pc:sldMkLst>
          <pc:docMk/>
          <pc:sldMk cId="4142900505" sldId="338"/>
        </pc:sldMkLst>
      </pc:sldChg>
      <pc:sldChg chg="modSp add mod">
        <pc:chgData name="Rishav" userId="0b3cf1e2-1e52-4ba5-bcb9-e1a3d41a4d56" providerId="ADAL" clId="{34C18B5A-1444-426A-BD8A-8E0F892E37F5}" dt="2025-04-25T22:12:25.105" v="6651" actId="20577"/>
        <pc:sldMkLst>
          <pc:docMk/>
          <pc:sldMk cId="4289081581" sldId="339"/>
        </pc:sldMkLst>
      </pc:sldChg>
      <pc:sldChg chg="modSp add mod">
        <pc:chgData name="Rishav" userId="0b3cf1e2-1e52-4ba5-bcb9-e1a3d41a4d56" providerId="ADAL" clId="{34C18B5A-1444-426A-BD8A-8E0F892E37F5}" dt="2025-04-25T18:24:58.409" v="5806" actId="21"/>
        <pc:sldMkLst>
          <pc:docMk/>
          <pc:sldMk cId="1768688834" sldId="340"/>
        </pc:sldMkLst>
      </pc:sldChg>
      <pc:sldChg chg="modSp add mod">
        <pc:chgData name="Rishav" userId="0b3cf1e2-1e52-4ba5-bcb9-e1a3d41a4d56" providerId="ADAL" clId="{34C18B5A-1444-426A-BD8A-8E0F892E37F5}" dt="2025-04-25T22:06:49.544" v="6605" actId="20577"/>
        <pc:sldMkLst>
          <pc:docMk/>
          <pc:sldMk cId="1870399237" sldId="341"/>
        </pc:sldMkLst>
      </pc:sldChg>
      <pc:sldChg chg="delSp modSp new mod">
        <pc:chgData name="Rishav" userId="0b3cf1e2-1e52-4ba5-bcb9-e1a3d41a4d56" providerId="ADAL" clId="{34C18B5A-1444-426A-BD8A-8E0F892E37F5}" dt="2025-04-25T18:25:33.840" v="5823" actId="1076"/>
        <pc:sldMkLst>
          <pc:docMk/>
          <pc:sldMk cId="763739443" sldId="342"/>
        </pc:sldMkLst>
      </pc:sldChg>
      <pc:sldChg chg="addSp delSp modSp add mod">
        <pc:chgData name="Rishav" userId="0b3cf1e2-1e52-4ba5-bcb9-e1a3d41a4d56" providerId="ADAL" clId="{34C18B5A-1444-426A-BD8A-8E0F892E37F5}" dt="2025-04-25T22:43:31.338" v="7217" actId="207"/>
        <pc:sldMkLst>
          <pc:docMk/>
          <pc:sldMk cId="1713252347" sldId="343"/>
        </pc:sldMkLst>
      </pc:sldChg>
      <pc:sldChg chg="new del">
        <pc:chgData name="Rishav" userId="0b3cf1e2-1e52-4ba5-bcb9-e1a3d41a4d56" providerId="ADAL" clId="{34C18B5A-1444-426A-BD8A-8E0F892E37F5}" dt="2025-04-25T22:37:54.750" v="7161" actId="47"/>
        <pc:sldMkLst>
          <pc:docMk/>
          <pc:sldMk cId="1003448183" sldId="344"/>
        </pc:sldMkLst>
      </pc:sldChg>
      <pc:sldChg chg="delSp modSp add mod ord">
        <pc:chgData name="Rishav" userId="0b3cf1e2-1e52-4ba5-bcb9-e1a3d41a4d56" providerId="ADAL" clId="{34C18B5A-1444-426A-BD8A-8E0F892E37F5}" dt="2025-05-02T19:37:01.569" v="7943" actId="20577"/>
        <pc:sldMkLst>
          <pc:docMk/>
          <pc:sldMk cId="3117034542" sldId="344"/>
        </pc:sldMkLst>
      </pc:sldChg>
    </pc:docChg>
  </pc:docChgLst>
  <pc:docChgLst>
    <pc:chgData name="Rishav Roy" userId="0b3cf1e2-1e52-4ba5-bcb9-e1a3d41a4d56" providerId="ADAL" clId="{5194F811-2606-5E9A-9ED7-85AA773BA574}"/>
    <pc:docChg chg="modSld modHandout">
      <pc:chgData name="Rishav Roy" userId="0b3cf1e2-1e52-4ba5-bcb9-e1a3d41a4d56" providerId="ADAL" clId="{5194F811-2606-5E9A-9ED7-85AA773BA574}" dt="2025-10-04T08:14:35.315" v="2"/>
      <pc:docMkLst>
        <pc:docMk/>
      </pc:docMkLst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264854869" sldId="259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264854869" sldId="259"/>
            <ac:spMk id="5" creationId="{8819EC7A-A6E0-FD4F-C0F0-D94EB42D4452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264854869" sldId="259"/>
            <ac:spMk id="6" creationId="{6D9FBC86-E324-E0DF-2EE5-4A784E673D52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634829879" sldId="27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634829879" sldId="271"/>
            <ac:spMk id="4" creationId="{8E2570EC-3D5C-0B83-0F73-42F845BEDDC8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634829879" sldId="271"/>
            <ac:spMk id="5" creationId="{94307176-34C6-24D5-2B29-41BFCAB7E39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145429617" sldId="27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145429617" sldId="272"/>
            <ac:spMk id="2" creationId="{2EFDCDA0-A621-4ADB-2029-7620D0D71EE9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145429617" sldId="272"/>
            <ac:spMk id="5" creationId="{8B705548-AC48-FF17-3F3E-6810E9587CC2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817193809" sldId="273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817193809" sldId="273"/>
            <ac:spMk id="4" creationId="{48B6742C-D8CD-3396-1C60-A9FBCDA247D1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817193809" sldId="273"/>
            <ac:spMk id="5" creationId="{5203C8A6-DB67-23E3-7738-537DBCB5D91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01712885" sldId="27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01712885" sldId="274"/>
            <ac:spMk id="4" creationId="{5C3AF96A-8A63-836D-4AF7-43B4BE3982DB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01712885" sldId="274"/>
            <ac:spMk id="5" creationId="{EEBABD43-6771-1B1A-B9C4-6C541B23CCC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624529866" sldId="28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624529866" sldId="284"/>
            <ac:spMk id="3" creationId="{85674E8B-BB46-E022-59B9-269A7D26BB05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624529866" sldId="284"/>
            <ac:spMk id="4" creationId="{4B774087-786F-62FA-A310-C736199850D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158398254" sldId="290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158398254" sldId="290"/>
            <ac:spMk id="2" creationId="{DA32C105-CDCC-3015-933A-6738DB4A7F78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158398254" sldId="290"/>
            <ac:spMk id="4" creationId="{D1676BD0-AA00-F5C1-70C1-7C0EA7F22818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4504149" sldId="29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4504149" sldId="291"/>
            <ac:spMk id="2" creationId="{C0662010-A0E4-FBFF-6069-45FE2D885F42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4504149" sldId="291"/>
            <ac:spMk id="3" creationId="{D45A2828-88C2-BBF4-5062-9C849D490BB6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380850424" sldId="29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380850424" sldId="292"/>
            <ac:spMk id="2" creationId="{858F3C73-87AB-6213-7519-E759BC9A461A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380850424" sldId="292"/>
            <ac:spMk id="5" creationId="{CB43716C-294E-9F77-5ED2-F740803A865D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528338489" sldId="293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528338489" sldId="293"/>
            <ac:spMk id="2" creationId="{D51CEE5A-4EC8-55C1-B969-2AA1912605C1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528338489" sldId="293"/>
            <ac:spMk id="4" creationId="{C09971C8-EA7D-F412-ABEC-86A4500327D8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782122411" sldId="29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782122411" sldId="294"/>
            <ac:spMk id="2" creationId="{52AA8C80-5CCB-A804-51A0-05BEE974C94C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782122411" sldId="294"/>
            <ac:spMk id="4" creationId="{A63B8CC4-1AB4-D656-2226-D16C6213FE59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007457762" sldId="295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007457762" sldId="295"/>
            <ac:spMk id="2" creationId="{B5026EDB-AD52-4B46-10E6-A2255C165FC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007457762" sldId="295"/>
            <ac:spMk id="3" creationId="{E809F571-F6B6-9BA7-2BE1-D2D6BC55FB3D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505957163" sldId="297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505957163" sldId="297"/>
            <ac:spMk id="4" creationId="{1B8E20AA-8498-DA76-98B9-441918934F3B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505957163" sldId="297"/>
            <ac:spMk id="6" creationId="{CD151E01-0E7A-F6AD-19A4-24746E658489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382650060" sldId="30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382650060" sldId="301"/>
            <ac:spMk id="3" creationId="{9CA7CD49-A1C3-95E0-6F34-8081B0E8DBB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382650060" sldId="301"/>
            <ac:spMk id="4" creationId="{14EB2E8C-C274-E244-291D-6214EC1C2302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896101311" sldId="306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896101311" sldId="306"/>
            <ac:spMk id="4" creationId="{E0647115-F592-1CF7-2097-92EE93F5FE79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896101311" sldId="306"/>
            <ac:spMk id="6" creationId="{1FB3815A-6522-D6CA-8B09-B709F67D6CF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391110031" sldId="307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391110031" sldId="307"/>
            <ac:spMk id="3" creationId="{8C4356E0-8FDC-63CE-2CE2-632F28FA9F54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391110031" sldId="307"/>
            <ac:spMk id="4" creationId="{6581BE08-53C0-B9E3-EE04-4746457E9E63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220613480" sldId="308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220613480" sldId="308"/>
            <ac:spMk id="4" creationId="{51DAF5DD-72DC-6B14-7354-12D4A0FFC47F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220613480" sldId="308"/>
            <ac:spMk id="8" creationId="{EAE034D4-B157-13BB-F2E7-686CE7AC76E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091825640" sldId="309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091825640" sldId="309"/>
            <ac:spMk id="8" creationId="{12017F28-48B5-6859-97D1-20CD2EE21F42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091825640" sldId="309"/>
            <ac:spMk id="10" creationId="{E80465B2-BD3F-A993-B0A6-AB9B148A1C60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73956802" sldId="310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73956802" sldId="310"/>
            <ac:spMk id="4" creationId="{FB674692-7259-58F6-4B7E-7622FF92D49A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73956802" sldId="310"/>
            <ac:spMk id="5" creationId="{C19756C5-1C89-5774-AFAE-050A88CFD25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891371675" sldId="31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891371675" sldId="311"/>
            <ac:spMk id="3" creationId="{B20A27EC-7427-E508-FC76-FBEA6C1E556E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891371675" sldId="311"/>
            <ac:spMk id="4" creationId="{C1A478FB-5B9C-47F7-C51F-D8D91586864E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287385357" sldId="31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287385357" sldId="312"/>
            <ac:spMk id="4" creationId="{123EA41A-4484-97F2-1148-65391621DFB5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287385357" sldId="312"/>
            <ac:spMk id="8" creationId="{3E0D779F-8F6A-AA67-B512-8D5CCB890CA8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02851461" sldId="313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02851461" sldId="313"/>
            <ac:spMk id="4" creationId="{55E09939-4D39-05AE-CE0E-E7A47319E1ED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02851461" sldId="313"/>
            <ac:spMk id="8" creationId="{6100DEB2-0791-8070-285A-43150F45D65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293855217" sldId="31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293855217" sldId="314"/>
            <ac:spMk id="4" creationId="{8D91DC87-8954-92E3-FBFF-6E9480F2F16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293855217" sldId="314"/>
            <ac:spMk id="5" creationId="{D5904DDF-0B4F-4E8D-3DD1-E134678EC997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620850150" sldId="315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620850150" sldId="315"/>
            <ac:spMk id="4" creationId="{B0AAAC3E-EB60-A94C-1149-6B763099BAA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620850150" sldId="315"/>
            <ac:spMk id="5" creationId="{C79517B6-0501-656A-EF33-1CD01201398D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433064728" sldId="316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433064728" sldId="316"/>
            <ac:spMk id="4" creationId="{844C57AA-F627-2B13-D88E-FEE67B60221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433064728" sldId="316"/>
            <ac:spMk id="8" creationId="{CE16E378-AA02-1B81-748F-794E5339AD06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646885117" sldId="317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646885117" sldId="317"/>
            <ac:spMk id="4" creationId="{4D0073AA-43DB-73DD-82C2-29D0B91781B1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646885117" sldId="317"/>
            <ac:spMk id="5" creationId="{27FFA1DB-EF80-744F-6958-4B99DBF986E6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303376325" sldId="318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303376325" sldId="318"/>
            <ac:spMk id="2" creationId="{5C4C854B-E1A3-968A-24C9-44DF0529997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303376325" sldId="318"/>
            <ac:spMk id="4" creationId="{187CF833-7D1A-029C-EE13-7643FE1F2985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860086859" sldId="319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860086859" sldId="319"/>
            <ac:spMk id="2" creationId="{2DFF7786-80A2-1F05-1B6F-360346428183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860086859" sldId="319"/>
            <ac:spMk id="4" creationId="{802F34E1-A182-6DE8-D42B-EC5B95623E86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921545586" sldId="320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921545586" sldId="320"/>
            <ac:spMk id="2" creationId="{398A7125-D453-FDD5-3824-EEA45FAA80D7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921545586" sldId="320"/>
            <ac:spMk id="4" creationId="{83D150D2-4C43-EF3E-B815-3ECEFB28C11E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144253573" sldId="32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144253573" sldId="321"/>
            <ac:spMk id="4" creationId="{8085D436-5DE2-04C9-3C3E-13FF2149E521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144253573" sldId="321"/>
            <ac:spMk id="5" creationId="{6A0FA828-48C5-2B49-EA5E-F8AAE2B8164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180937845" sldId="32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180937845" sldId="322"/>
            <ac:spMk id="3" creationId="{AD4EF66D-607E-9C00-D730-83F459BDD4D4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180937845" sldId="322"/>
            <ac:spMk id="4" creationId="{C56A7E95-3061-F04C-BFF0-26813A9D36D1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489961329" sldId="323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489961329" sldId="323"/>
            <ac:spMk id="3" creationId="{42A9FCA5-9D1B-3F9E-74A1-1449101930EF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489961329" sldId="323"/>
            <ac:spMk id="5" creationId="{8ADD2AD6-EC38-A2C3-E5FA-E30E5D208B98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903674677" sldId="32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903674677" sldId="324"/>
            <ac:spMk id="3" creationId="{30E948A1-2541-5690-964A-11D787245FDD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903674677" sldId="324"/>
            <ac:spMk id="4" creationId="{BCAF8737-257E-03EE-058F-C748B12F8ED8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587157167" sldId="325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587157167" sldId="325"/>
            <ac:spMk id="2" creationId="{5746CE42-B9FA-054C-7B26-A0BFB4F73AC7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587157167" sldId="325"/>
            <ac:spMk id="3" creationId="{71FD55B7-DAAD-DC19-F27B-9E4BBE61FD0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655147875" sldId="326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655147875" sldId="326"/>
            <ac:spMk id="2" creationId="{69C4022C-F806-0020-8A96-731ED1FD7455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655147875" sldId="326"/>
            <ac:spMk id="3" creationId="{7515FBE9-807E-A478-E14D-80BAD72BD6C5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2677942110" sldId="327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2677942110" sldId="327"/>
            <ac:spMk id="2" creationId="{658A96D7-E402-6C4B-6273-54ECE335256F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2677942110" sldId="327"/>
            <ac:spMk id="5" creationId="{F03B0DE4-9BEE-4347-83E7-EFC9CC78DD2E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733217318" sldId="328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733217318" sldId="328"/>
            <ac:spMk id="2" creationId="{86146A12-877F-8103-8BD5-DF0DC7BFB87F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733217318" sldId="328"/>
            <ac:spMk id="3" creationId="{2AD7D5E4-BD8F-746D-FF8B-DAA6CDD74DF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794213606" sldId="329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794213606" sldId="329"/>
            <ac:spMk id="6" creationId="{C39F59BA-392B-501E-6069-2F6B42829621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794213606" sldId="329"/>
            <ac:spMk id="7" creationId="{2BDDB5A4-9735-DAEF-67D9-43A56FFB37B7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371618335" sldId="330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371618335" sldId="330"/>
            <ac:spMk id="2" creationId="{E34DF49E-5FCF-016B-3CAE-708065288FE6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371618335" sldId="330"/>
            <ac:spMk id="6" creationId="{9B4414D4-9ACB-7DC3-FAA1-3C759D83E33D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066852959" sldId="33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066852959" sldId="331"/>
            <ac:spMk id="3" creationId="{EC5BC58F-F40B-6F72-DA99-173687234DFD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066852959" sldId="331"/>
            <ac:spMk id="5" creationId="{242AB19C-2FE2-3317-5FBE-D8F1872C1D2B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925842808" sldId="33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925842808" sldId="332"/>
            <ac:spMk id="3" creationId="{0D4EFAF3-9C81-794D-145F-A45579FF09CE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925842808" sldId="332"/>
            <ac:spMk id="4" creationId="{04F1EA64-9DEC-2A9C-FB60-1315D70CD000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862589252" sldId="33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862589252" sldId="334"/>
            <ac:spMk id="3" creationId="{B6F9A48C-D1A8-D632-6BD1-0169427E4C4C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862589252" sldId="334"/>
            <ac:spMk id="5" creationId="{4FA0715B-A0CC-B1DE-C8E4-F8347053441D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788498004" sldId="335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788498004" sldId="335"/>
            <ac:spMk id="2" creationId="{C902579F-CE33-E331-F211-24CF9B67F0E2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788498004" sldId="335"/>
            <ac:spMk id="3" creationId="{1BDF4CF7-4128-6236-CAC2-FCE7D02BF07B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982502820" sldId="336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982502820" sldId="336"/>
            <ac:spMk id="3" creationId="{8A63B929-9689-87B0-3BAC-CC5519492457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982502820" sldId="336"/>
            <ac:spMk id="4" creationId="{FCC02915-788B-1504-92A8-E3531C1465CA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120504267" sldId="337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120504267" sldId="337"/>
            <ac:spMk id="2" creationId="{8804C33A-AB55-6863-216E-D0A44BFB0385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120504267" sldId="337"/>
            <ac:spMk id="5" creationId="{0B581560-E60E-078D-B757-D929A47F9782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142900505" sldId="338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142900505" sldId="338"/>
            <ac:spMk id="3" creationId="{D6B5658C-DDBE-6479-D79F-7103C5628DD2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142900505" sldId="338"/>
            <ac:spMk id="6" creationId="{D064C842-7400-BACB-1EA7-ECCB979294A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4289081581" sldId="339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4289081581" sldId="339"/>
            <ac:spMk id="2" creationId="{43FBF7CF-8EAB-5B38-A38B-804E862B8020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4289081581" sldId="339"/>
            <ac:spMk id="5" creationId="{23190048-E742-1B44-F75A-BBBF1387273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768688834" sldId="340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768688834" sldId="340"/>
            <ac:spMk id="2" creationId="{A776290D-9038-EA27-3F5F-CD99B488234E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768688834" sldId="340"/>
            <ac:spMk id="5" creationId="{5D2977F5-80A2-E5DD-0A6D-41786E9E0A1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870399237" sldId="341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870399237" sldId="341"/>
            <ac:spMk id="2" creationId="{94F62B56-59B6-D481-5835-E09E98DCFFD9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870399237" sldId="341"/>
            <ac:spMk id="5" creationId="{98F3581B-C730-FFD1-7FFE-FD1A913CF84C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763739443" sldId="342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763739443" sldId="342"/>
            <ac:spMk id="3" creationId="{570FCC89-3541-FE28-9DF7-5B18E606CAB7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763739443" sldId="342"/>
            <ac:spMk id="4" creationId="{F47E6799-1BF5-EAC7-73BF-71D7FB2F6741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1713252347" sldId="343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1713252347" sldId="343"/>
            <ac:spMk id="4" creationId="{4CBC5045-B408-3B15-AFF9-3539EA9A6F3E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1713252347" sldId="343"/>
            <ac:spMk id="5" creationId="{18B8ED86-95A2-41F9-DC25-410A1BFBCE1B}"/>
          </ac:spMkLst>
        </pc:spChg>
      </pc:sldChg>
      <pc:sldChg chg="addSp delSp modSp">
        <pc:chgData name="Rishav Roy" userId="0b3cf1e2-1e52-4ba5-bcb9-e1a3d41a4d56" providerId="ADAL" clId="{5194F811-2606-5E9A-9ED7-85AA773BA574}" dt="2025-10-04T08:13:57.588" v="1"/>
        <pc:sldMkLst>
          <pc:docMk/>
          <pc:sldMk cId="3117034542" sldId="344"/>
        </pc:sldMkLst>
        <pc:spChg chg="add del mod">
          <ac:chgData name="Rishav Roy" userId="0b3cf1e2-1e52-4ba5-bcb9-e1a3d41a4d56" providerId="ADAL" clId="{5194F811-2606-5E9A-9ED7-85AA773BA574}" dt="2025-10-04T08:13:57.588" v="1"/>
          <ac:spMkLst>
            <pc:docMk/>
            <pc:sldMk cId="3117034542" sldId="344"/>
            <ac:spMk id="4" creationId="{A1D47D39-88A4-9E03-DD9B-D0C73693B19B}"/>
          </ac:spMkLst>
        </pc:spChg>
        <pc:spChg chg="add mod">
          <ac:chgData name="Rishav Roy" userId="0b3cf1e2-1e52-4ba5-bcb9-e1a3d41a4d56" providerId="ADAL" clId="{5194F811-2606-5E9A-9ED7-85AA773BA574}" dt="2025-10-04T08:13:57.588" v="1"/>
          <ac:spMkLst>
            <pc:docMk/>
            <pc:sldMk cId="3117034542" sldId="344"/>
            <ac:spMk id="5" creationId="{AEB6A659-9FF0-3DFF-95CD-49BB4288C52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7D1261-BD4F-1F68-61D9-077DBC06F4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5D951-907B-94F5-5965-48E3B15F60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F2CF7-36C9-3A60-82DE-E19B98C7D6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121C5-8E8F-D443-A08F-586FC18CD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678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8841F-C86F-4A36-8B8C-CF85C9D1222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5EA20-4A3C-4901-A39D-2CF5CFDE0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050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14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92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3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54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57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67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82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74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96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90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33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***Change variable names to be more readable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72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90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Fix Literate primary, Enrollment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90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***Fix “Share:” labeling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5EA20-4A3C-4901-A39D-2CF5CFDE0E2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68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***Fix to EMIE (fitted)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5EA20-4A3C-4901-A39D-2CF5CFDE0E2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50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***Fix to EMIE (fitted)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5EA20-4A3C-4901-A39D-2CF5CFDE0E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19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***Fix Gini change to \Delta Gini^{Cons.}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5EA20-4A3C-4901-A39D-2CF5CFDE0E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39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2A037-A858-4242-9F64-98D8BAD396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035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2A037-A858-4242-9F64-98D8BAD396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012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2A037-A858-4242-9F64-98D8BAD396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32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58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2A037-A858-4242-9F64-98D8BAD396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7022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2A037-A858-4242-9F64-98D8BAD3965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0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10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04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3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8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9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2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4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6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650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071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27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446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692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13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19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009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980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22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258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20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440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9390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07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48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590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406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519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1618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88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1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66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777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10/3/25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3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hyperlink" Target="https://doi.org/10.1007/978-981-13-1525-1_14" TargetMode="External"/><Relationship Id="rId18" Type="http://schemas.openxmlformats.org/officeDocument/2006/relationships/hyperlink" Target="https://doi.org/10.1016/S1053-8119(09)71202-9" TargetMode="External"/><Relationship Id="rId26" Type="http://schemas.openxmlformats.org/officeDocument/2006/relationships/hyperlink" Target="https://doi.org/10.1016/S1573-4463(99)03011-4" TargetMode="External"/><Relationship Id="rId39" Type="http://schemas.openxmlformats.org/officeDocument/2006/relationships/hyperlink" Target="https://doi.org/10.1080/14790710508668395" TargetMode="External"/><Relationship Id="rId21" Type="http://schemas.openxmlformats.org/officeDocument/2006/relationships/hyperlink" Target="https://github.com/abhatia08/india_shp_2020" TargetMode="External"/><Relationship Id="rId34" Type="http://schemas.openxmlformats.org/officeDocument/2006/relationships/hyperlink" Target="https://doi.org/10.1257/089533006776526058" TargetMode="External"/><Relationship Id="rId7" Type="http://schemas.openxmlformats.org/officeDocument/2006/relationships/hyperlink" Target="https://web.pdx.edu/~crkl/WISE/SEAUG/papers/anselin01_CTE14.pdf" TargetMode="External"/><Relationship Id="rId12" Type="http://schemas.openxmlformats.org/officeDocument/2006/relationships/hyperlink" Target="https://www.reuters.com/article/us-health-coronavirus-britain-council-idUSKBN23X1NK/" TargetMode="External"/><Relationship Id="rId17" Type="http://schemas.openxmlformats.org/officeDocument/2006/relationships/hyperlink" Target="https://doi.org/10.1017/psrm.2014.7" TargetMode="External"/><Relationship Id="rId25" Type="http://schemas.openxmlformats.org/officeDocument/2006/relationships/hyperlink" Target="https://unesdoc.unesco.org/ark:/48223/pf0000161121" TargetMode="External"/><Relationship Id="rId33" Type="http://schemas.openxmlformats.org/officeDocument/2006/relationships/hyperlink" Target="https://doi.org/10.1016/j.jdeveco.2010.10.001" TargetMode="External"/><Relationship Id="rId38" Type="http://schemas.openxmlformats.org/officeDocument/2006/relationships/hyperlink" Target="https://doi.org/10.1086/298374" TargetMode="External"/><Relationship Id="rId2" Type="http://schemas.openxmlformats.org/officeDocument/2006/relationships/hyperlink" Target="https://doi.org/10.1093/qje/qjac038" TargetMode="External"/><Relationship Id="rId16" Type="http://schemas.openxmlformats.org/officeDocument/2006/relationships/hyperlink" Target="https://doi.org/10.1111/j.1435-5957.2011.00394.x" TargetMode="External"/><Relationship Id="rId20" Type="http://schemas.openxmlformats.org/officeDocument/2006/relationships/hyperlink" Target="https://wid.world/www-site/uploads/2024/03/WorldInequalityLab_WP2024_09_Income-and-Wealth-Inequality-in-India-1922-2023_Final.pdf" TargetMode="External"/><Relationship Id="rId29" Type="http://schemas.openxmlformats.org/officeDocument/2006/relationships/hyperlink" Target="https://microdata.gov.in/NADA/index.php/catalog/20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oi.org/10.1111/j.1538-4632.1995.tb00338.x" TargetMode="External"/><Relationship Id="rId11" Type="http://schemas.openxmlformats.org/officeDocument/2006/relationships/hyperlink" Target="https://doi.org/10.1016/j.jdeveco.2015.07.001" TargetMode="External"/><Relationship Id="rId24" Type="http://schemas.openxmlformats.org/officeDocument/2006/relationships/hyperlink" Target="https://doi.org/10.1596/1813-9450-7238" TargetMode="External"/><Relationship Id="rId32" Type="http://schemas.openxmlformats.org/officeDocument/2006/relationships/hyperlink" Target="https://doi.org/10.1016/j.econedurev.2015.10.004" TargetMode="External"/><Relationship Id="rId37" Type="http://schemas.openxmlformats.org/officeDocument/2006/relationships/hyperlink" Target="https://doi.org/10.1257/aer.104.9.2633" TargetMode="External"/><Relationship Id="rId40" Type="http://schemas.openxmlformats.org/officeDocument/2006/relationships/hyperlink" Target="https://doi.org/10.1007/s10109-008-0068-2" TargetMode="External"/><Relationship Id="rId5" Type="http://schemas.openxmlformats.org/officeDocument/2006/relationships/hyperlink" Target="https://doi.org/10.1080/13636820.2017.1303785" TargetMode="External"/><Relationship Id="rId15" Type="http://schemas.openxmlformats.org/officeDocument/2006/relationships/hyperlink" Target="https://doi.org/10.4324/9780429328329" TargetMode="External"/><Relationship Id="rId23" Type="http://schemas.openxmlformats.org/officeDocument/2006/relationships/hyperlink" Target="https://doi.org/10.1016/S0272-7757(01)00003-6" TargetMode="External"/><Relationship Id="rId28" Type="http://schemas.openxmlformats.org/officeDocument/2006/relationships/hyperlink" Target="https://microdata.gov.in/NADA/index.php/catalog/46" TargetMode="External"/><Relationship Id="rId36" Type="http://schemas.openxmlformats.org/officeDocument/2006/relationships/hyperlink" Target="https://doi.org/10.1080/13504851.2020.1737313" TargetMode="External"/><Relationship Id="rId10" Type="http://schemas.openxmlformats.org/officeDocument/2006/relationships/hyperlink" Target="https://doi.org/10.1086/668277" TargetMode="External"/><Relationship Id="rId19" Type="http://schemas.openxmlformats.org/officeDocument/2006/relationships/hyperlink" Target="https://doi.org/10.2139/ssrn.900362" TargetMode="External"/><Relationship Id="rId31" Type="http://schemas.openxmlformats.org/officeDocument/2006/relationships/hyperlink" Target="https://microdata.gov.in/NADA/index.php/catalog/149" TargetMode="External"/><Relationship Id="rId4" Type="http://schemas.openxmlformats.org/officeDocument/2006/relationships/hyperlink" Target="https://doi.org/10.1007/978-981-13-7111-0_18" TargetMode="External"/><Relationship Id="rId9" Type="http://schemas.openxmlformats.org/officeDocument/2006/relationships/hyperlink" Target="https://doi.org/10.1016/j.jpubeco.2020.104171" TargetMode="External"/><Relationship Id="rId14" Type="http://schemas.openxmlformats.org/officeDocument/2006/relationships/hyperlink" Target="https://doi.org/10.2139/ssrn.956057" TargetMode="External"/><Relationship Id="rId22" Type="http://schemas.openxmlformats.org/officeDocument/2006/relationships/hyperlink" Target="https://doi.org/10.1093/acrefore/9780190264093.013.1777" TargetMode="External"/><Relationship Id="rId27" Type="http://schemas.openxmlformats.org/officeDocument/2006/relationships/hyperlink" Target="https://doi.org/10.2307/145627" TargetMode="External"/><Relationship Id="rId30" Type="http://schemas.openxmlformats.org/officeDocument/2006/relationships/hyperlink" Target="https://microdata.gov.in/NADA/index.php/catalog/47" TargetMode="External"/><Relationship Id="rId35" Type="http://schemas.openxmlformats.org/officeDocument/2006/relationships/hyperlink" Target="https://doi.org/10.1177/09737030231178362" TargetMode="External"/><Relationship Id="rId8" Type="http://schemas.openxmlformats.org/officeDocument/2006/relationships/hyperlink" Target="https://doi.org/10.1111/1759-3441.12410" TargetMode="External"/><Relationship Id="rId3" Type="http://schemas.openxmlformats.org/officeDocument/2006/relationships/hyperlink" Target="https://doi.org/10.1007/s11159-008-9102-3" TargetMode="Externa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hyperlink" Target="https://doi.org/10.1257/jel.20191316" TargetMode="External"/><Relationship Id="rId18" Type="http://schemas.openxmlformats.org/officeDocument/2006/relationships/hyperlink" Target="https://doi.org/10.3102/01623737019002141" TargetMode="External"/><Relationship Id="rId26" Type="http://schemas.openxmlformats.org/officeDocument/2006/relationships/hyperlink" Target="https://doi.org/10.1017/s0022050717000481" TargetMode="External"/><Relationship Id="rId39" Type="http://schemas.openxmlformats.org/officeDocument/2006/relationships/hyperlink" Target="https://publications.azimpremjiuniversity.edu.in/2150/1/School%20Choice%20in%20Rural%20India_Perceptions%20and%20Realities%20in%20Four%20States.pdf" TargetMode="External"/><Relationship Id="rId21" Type="http://schemas.openxmlformats.org/officeDocument/2006/relationships/hyperlink" Target="https://www.indiastatestory.in/datadownloads" TargetMode="External"/><Relationship Id="rId34" Type="http://schemas.openxmlformats.org/officeDocument/2006/relationships/hyperlink" Target="https://doi.org/10.7551/mitpress/7767.003.0009" TargetMode="External"/><Relationship Id="rId42" Type="http://schemas.openxmlformats.org/officeDocument/2006/relationships/hyperlink" Target="https://doi.org/10.1086/260251" TargetMode="External"/><Relationship Id="rId7" Type="http://schemas.openxmlformats.org/officeDocument/2006/relationships/hyperlink" Target="https://doi.org/10.2307/270747" TargetMode="External"/><Relationship Id="rId2" Type="http://schemas.openxmlformats.org/officeDocument/2006/relationships/hyperlink" Target="https://doi.org/10.3368/jhr.49.1.73" TargetMode="External"/><Relationship Id="rId16" Type="http://schemas.openxmlformats.org/officeDocument/2006/relationships/hyperlink" Target="https://doi.org/10.1016/j.chieco.2014.07.014" TargetMode="External"/><Relationship Id="rId20" Type="http://schemas.openxmlformats.org/officeDocument/2006/relationships/hyperlink" Target="https://doi.org/10.1016/j.econedurev.2011.05.002" TargetMode="External"/><Relationship Id="rId29" Type="http://schemas.openxmlformats.org/officeDocument/2006/relationships/hyperlink" Target="https://doi.org/10.1177/2633190x211034697" TargetMode="External"/><Relationship Id="rId41" Type="http://schemas.openxmlformats.org/officeDocument/2006/relationships/hyperlink" Target="https://doi.org/10.1007/s00168-006-0112-4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oi.org/10.1016/j.econedurev.2011.08.003" TargetMode="External"/><Relationship Id="rId11" Type="http://schemas.openxmlformats.org/officeDocument/2006/relationships/hyperlink" Target="https://doi.org/10.1007/978-3-662-47818-9_2" TargetMode="External"/><Relationship Id="rId24" Type="http://schemas.openxmlformats.org/officeDocument/2006/relationships/hyperlink" Target="https://doi.org/10.17323/2411-7390-2019-5-1-103-109" TargetMode="External"/><Relationship Id="rId32" Type="http://schemas.openxmlformats.org/officeDocument/2006/relationships/hyperlink" Target="https://doi.org/10.1016/B978-0-12-813387-3.00026-3" TargetMode="External"/><Relationship Id="rId37" Type="http://schemas.openxmlformats.org/officeDocument/2006/relationships/hyperlink" Target="https://web.archive.org/web/20190429034949/http:/www.cdedse.org/pdf/work248.pdf#expand" TargetMode="External"/><Relationship Id="rId40" Type="http://schemas.openxmlformats.org/officeDocument/2006/relationships/hyperlink" Target="https://doi.org/10.1016/j.jdeveco.2021.102811" TargetMode="External"/><Relationship Id="rId5" Type="http://schemas.openxmlformats.org/officeDocument/2006/relationships/hyperlink" Target="https://doi.org/10.3886/ICPSR36151.v6" TargetMode="External"/><Relationship Id="rId15" Type="http://schemas.openxmlformats.org/officeDocument/2006/relationships/hyperlink" Target="https://www.britishcouncil.in/sites/default/files/english_next_india_-_david_graddol.pdf" TargetMode="External"/><Relationship Id="rId23" Type="http://schemas.openxmlformats.org/officeDocument/2006/relationships/hyperlink" Target="https://www.ilo.org/publications/india-employment-report-2024-youth-employment-education-and-skills" TargetMode="External"/><Relationship Id="rId28" Type="http://schemas.openxmlformats.org/officeDocument/2006/relationships/hyperlink" Target="https://doi.org/10.1111/nyas.13695" TargetMode="External"/><Relationship Id="rId36" Type="http://schemas.openxmlformats.org/officeDocument/2006/relationships/hyperlink" Target="https://doi.org/10.1162/jeea.2005.3.2-3.658" TargetMode="External"/><Relationship Id="rId10" Type="http://schemas.openxmlformats.org/officeDocument/2006/relationships/hyperlink" Target="https://doi.org/10.1007/978-94-017-9553-1_115-1" TargetMode="External"/><Relationship Id="rId19" Type="http://schemas.openxmlformats.org/officeDocument/2006/relationships/hyperlink" Target="https://doi.org/10.1016/s1574-0692(06)01007-5" TargetMode="External"/><Relationship Id="rId31" Type="http://schemas.openxmlformats.org/officeDocument/2006/relationships/hyperlink" Target="https://doi.org/10.1016/j.jeconom.2006.09.005" TargetMode="External"/><Relationship Id="rId4" Type="http://schemas.openxmlformats.org/officeDocument/2006/relationships/hyperlink" Target="https://doi.org/10.1080/19475683.2013.806353" TargetMode="External"/><Relationship Id="rId9" Type="http://schemas.openxmlformats.org/officeDocument/2006/relationships/hyperlink" Target="https://doi.org/10.1177/0973703019838704" TargetMode="External"/><Relationship Id="rId14" Type="http://schemas.openxmlformats.org/officeDocument/2006/relationships/hyperlink" Target="https://doi.org/10.1016/j.ijedudev.2023.102885" TargetMode="External"/><Relationship Id="rId22" Type="http://schemas.openxmlformats.org/officeDocument/2006/relationships/hyperlink" Target="https://microdata.worldbank.org/index.php/catalog/1406" TargetMode="External"/><Relationship Id="rId27" Type="http://schemas.openxmlformats.org/officeDocument/2006/relationships/hyperlink" Target="https://doi.org/10.1016/j.worlddev.2018.10.011" TargetMode="External"/><Relationship Id="rId30" Type="http://schemas.openxmlformats.org/officeDocument/2006/relationships/hyperlink" Target="https://doi.org/10.1080/09645290802416486" TargetMode="External"/><Relationship Id="rId35" Type="http://schemas.openxmlformats.org/officeDocument/2006/relationships/hyperlink" Target="https://doi.org/10.1080/17421772.2023.2256810" TargetMode="External"/><Relationship Id="rId8" Type="http://schemas.openxmlformats.org/officeDocument/2006/relationships/hyperlink" Target="https://www.indiabudget.gov.in/budget2017-2018/es2016-17/echap12.pdf" TargetMode="External"/><Relationship Id="rId3" Type="http://schemas.openxmlformats.org/officeDocument/2006/relationships/hyperlink" Target="https://doi.org/10.1016/j.econlet.2016.08.036" TargetMode="External"/><Relationship Id="rId12" Type="http://schemas.openxmlformats.org/officeDocument/2006/relationships/hyperlink" Target="https://doi.org/10.1016/j.physa.2017.05.011" TargetMode="External"/><Relationship Id="rId17" Type="http://schemas.openxmlformats.org/officeDocument/2006/relationships/hyperlink" Target="https://doi.org/10.1186/s40536-017-0045-7" TargetMode="External"/><Relationship Id="rId25" Type="http://schemas.openxmlformats.org/officeDocument/2006/relationships/hyperlink" Target="https://github.com/Jaacks-Research-Group/india-district-changes-tracker.git" TargetMode="External"/><Relationship Id="rId33" Type="http://schemas.openxmlformats.org/officeDocument/2006/relationships/hyperlink" Target="https://doi.org/10.1016/B978-0-12-813387-3.00002-0" TargetMode="External"/><Relationship Id="rId38" Type="http://schemas.openxmlformats.org/officeDocument/2006/relationships/hyperlink" Target="https://www.jstor.org/stable/26695694" TargetMode="Externa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hyperlink" Target="https://doi.org/10.1007/978-1-137-32505-1_21" TargetMode="External"/><Relationship Id="rId18" Type="http://schemas.openxmlformats.org/officeDocument/2006/relationships/hyperlink" Target="https://doi.org/10.2139/ssrn.2282311" TargetMode="External"/><Relationship Id="rId26" Type="http://schemas.openxmlformats.org/officeDocument/2006/relationships/hyperlink" Target="https://doi.org/10.1111/rode.12850" TargetMode="External"/><Relationship Id="rId3" Type="http://schemas.openxmlformats.org/officeDocument/2006/relationships/hyperlink" Target="https://spatialanalysis.github.io/workshop-notes/spatial-autocorrelation.html" TargetMode="External"/><Relationship Id="rId21" Type="http://schemas.openxmlformats.org/officeDocument/2006/relationships/hyperlink" Target="https://doi.org/10.7551/mitpress/7767.003.0008" TargetMode="External"/><Relationship Id="rId34" Type="http://schemas.openxmlformats.org/officeDocument/2006/relationships/hyperlink" Target="https://doi.org/10.2307/2285387" TargetMode="External"/><Relationship Id="rId7" Type="http://schemas.openxmlformats.org/officeDocument/2006/relationships/hyperlink" Target="https://doi.org/10.1007/s41027-017-0053-8" TargetMode="External"/><Relationship Id="rId12" Type="http://schemas.openxmlformats.org/officeDocument/2006/relationships/hyperlink" Target="https://doi.org/10.1016/b978-0-444-53429-3.00001-6" TargetMode="External"/><Relationship Id="rId17" Type="http://schemas.openxmlformats.org/officeDocument/2006/relationships/hyperlink" Target="https://doi.org/10.1007/978-981-13-5820-3_10" TargetMode="External"/><Relationship Id="rId25" Type="http://schemas.openxmlformats.org/officeDocument/2006/relationships/hyperlink" Target="https://factly.in/review-what-has-been-the-implementation-progress-of-national-education-policy-2020/" TargetMode="External"/><Relationship Id="rId33" Type="http://schemas.openxmlformats.org/officeDocument/2006/relationships/hyperlink" Target="https://censusindia.gov.in/census.website/data/census-tables" TargetMode="External"/><Relationship Id="rId2" Type="http://schemas.openxmlformats.org/officeDocument/2006/relationships/hyperlink" Target="https://doi.org/10.1080/17421770802353758" TargetMode="External"/><Relationship Id="rId16" Type="http://schemas.openxmlformats.org/officeDocument/2006/relationships/hyperlink" Target="https://doi.org/10.1007/978-981-16-9565-0_9" TargetMode="External"/><Relationship Id="rId20" Type="http://schemas.openxmlformats.org/officeDocument/2006/relationships/hyperlink" Target="https://doi.org/10.1016/j.jpubeco.2016.11.005" TargetMode="External"/><Relationship Id="rId29" Type="http://schemas.openxmlformats.org/officeDocument/2006/relationships/hyperlink" Target="https://microdata.gov.in/NADA/index.php/catalog/151/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oi.org/10.1016/j.energy.2022.124756" TargetMode="External"/><Relationship Id="rId11" Type="http://schemas.openxmlformats.org/officeDocument/2006/relationships/hyperlink" Target="https://doi.org/10.1093/elt/ccr034" TargetMode="External"/><Relationship Id="rId24" Type="http://schemas.openxmlformats.org/officeDocument/2006/relationships/hyperlink" Target="https://doi.org/10.1007/978-3-642-31075-1_50" TargetMode="External"/><Relationship Id="rId32" Type="http://schemas.openxmlformats.org/officeDocument/2006/relationships/hyperlink" Target="https://mospi.gov.in/sites/default/files/announcements/Summary%20Analysis_Report_585_Education.pdf" TargetMode="External"/><Relationship Id="rId5" Type="http://schemas.openxmlformats.org/officeDocument/2006/relationships/hyperlink" Target="https://doi.org/10.1017/s0007123416000260" TargetMode="External"/><Relationship Id="rId15" Type="http://schemas.openxmlformats.org/officeDocument/2006/relationships/hyperlink" Target="https://doi.org/10.4324/9781315666235-23" TargetMode="External"/><Relationship Id="rId23" Type="http://schemas.openxmlformats.org/officeDocument/2006/relationships/hyperlink" Target="https://doi.org/10.1093/qje/qjv013" TargetMode="External"/><Relationship Id="rId28" Type="http://schemas.openxmlformats.org/officeDocument/2006/relationships/hyperlink" Target="https://microdata.gov.in/NADA/index.php/catalog/118/" TargetMode="External"/><Relationship Id="rId10" Type="http://schemas.openxmlformats.org/officeDocument/2006/relationships/hyperlink" Target="https://doi.org/10.1257/aer.20141335" TargetMode="External"/><Relationship Id="rId19" Type="http://schemas.openxmlformats.org/officeDocument/2006/relationships/hyperlink" Target="https://doi.org/10.1257/aer.96.4.1225" TargetMode="External"/><Relationship Id="rId31" Type="http://schemas.openxmlformats.org/officeDocument/2006/relationships/hyperlink" Target="https://mospi.gov.in/sites/default/files/publication_reports/Report_585_75th_round_Education_final_1507_0.pdf" TargetMode="External"/><Relationship Id="rId4" Type="http://schemas.openxmlformats.org/officeDocument/2006/relationships/hyperlink" Target="https://doi.org/10.1016/j.ijedudev.2022.102623" TargetMode="External"/><Relationship Id="rId9" Type="http://schemas.openxmlformats.org/officeDocument/2006/relationships/hyperlink" Target="https://doi.org/10.1016/j.ijedudev.2018.12.001" TargetMode="External"/><Relationship Id="rId14" Type="http://schemas.openxmlformats.org/officeDocument/2006/relationships/hyperlink" Target="https://github.com/justinelliotmeyers/India_Official_Boundaries_2019" TargetMode="External"/><Relationship Id="rId22" Type="http://schemas.openxmlformats.org/officeDocument/2006/relationships/hyperlink" Target="https://doi.org/10.3386/w19440" TargetMode="External"/><Relationship Id="rId27" Type="http://schemas.openxmlformats.org/officeDocument/2006/relationships/hyperlink" Target="https://microdata.gov.in/NADA/index.php/catalog/117/" TargetMode="External"/><Relationship Id="rId30" Type="http://schemas.openxmlformats.org/officeDocument/2006/relationships/hyperlink" Target="https://microdata.gov.in/NADA/index.php/catalog/204" TargetMode="External"/><Relationship Id="rId8" Type="http://schemas.openxmlformats.org/officeDocument/2006/relationships/hyperlink" Target="https://doi.org/10.1016/j.jmoneco.2006.05.009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978-3-319-22464-0_5" TargetMode="External"/><Relationship Id="rId13" Type="http://schemas.openxmlformats.org/officeDocument/2006/relationships/hyperlink" Target="https://doi.org/10.1007/s11125-018-9429-x" TargetMode="External"/><Relationship Id="rId18" Type="http://schemas.openxmlformats.org/officeDocument/2006/relationships/hyperlink" Target="https://doi.org/10.1007/978-3-031-39382-2_3" TargetMode="External"/><Relationship Id="rId26" Type="http://schemas.openxmlformats.org/officeDocument/2006/relationships/hyperlink" Target="https://doi.org/10.48550/arxiv.2211.14354" TargetMode="External"/><Relationship Id="rId3" Type="http://schemas.openxmlformats.org/officeDocument/2006/relationships/hyperlink" Target="https://doi.org/10.1016/j.econedurev.2011.07.006" TargetMode="External"/><Relationship Id="rId21" Type="http://schemas.openxmlformats.org/officeDocument/2006/relationships/hyperlink" Target="https://doi.org/10.1016/j.worlddev.2007.02.017" TargetMode="External"/><Relationship Id="rId7" Type="http://schemas.openxmlformats.org/officeDocument/2006/relationships/hyperlink" Target="https://doi.org/10.1016/j.worlddev.2017.04.029" TargetMode="External"/><Relationship Id="rId12" Type="http://schemas.openxmlformats.org/officeDocument/2006/relationships/hyperlink" Target="https://doi.org/10.3368/jhr.47.2.287" TargetMode="External"/><Relationship Id="rId17" Type="http://schemas.openxmlformats.org/officeDocument/2006/relationships/hyperlink" Target="https://doi.org/10.1177/0019466220968064" TargetMode="External"/><Relationship Id="rId25" Type="http://schemas.openxmlformats.org/officeDocument/2006/relationships/hyperlink" Target="https://bookdown.org/yihui/rmarkdown-cookbook/" TargetMode="External"/><Relationship Id="rId2" Type="http://schemas.openxmlformats.org/officeDocument/2006/relationships/hyperlink" Target="https://doi.org/10.1007/s10644-023-09538-0" TargetMode="External"/><Relationship Id="rId16" Type="http://schemas.openxmlformats.org/officeDocument/2006/relationships/hyperlink" Target="https://doi.org/10.1016/j.sbspro.2014.10.177" TargetMode="External"/><Relationship Id="rId20" Type="http://schemas.openxmlformats.org/officeDocument/2006/relationships/hyperlink" Target="https://doi.org/10.1146/annurev-soc-030420-015435" TargetMode="External"/><Relationship Id="rId29" Type="http://schemas.openxmlformats.org/officeDocument/2006/relationships/hyperlink" Target="https://doi.org/10.1007/s11356-024-31840-1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oi.org/10.1007/978-3-030-81210-2_12" TargetMode="External"/><Relationship Id="rId11" Type="http://schemas.openxmlformats.org/officeDocument/2006/relationships/hyperlink" Target="https://doi.org/10.1177/2321022221995674" TargetMode="External"/><Relationship Id="rId24" Type="http://schemas.openxmlformats.org/officeDocument/2006/relationships/hyperlink" Target="https://doi.org/10.1016/S1573-4463(86)01013-1" TargetMode="External"/><Relationship Id="rId5" Type="http://schemas.openxmlformats.org/officeDocument/2006/relationships/hyperlink" Target="https://doi.org/10.1007/978-94-017-9553-1_109-1" TargetMode="External"/><Relationship Id="rId15" Type="http://schemas.openxmlformats.org/officeDocument/2006/relationships/hyperlink" Target="https://iasp.ac.in/uploads/journal/10.%20Migration%20in%20India%20trends%20and%20characteristics-1669206793.pdf" TargetMode="External"/><Relationship Id="rId23" Type="http://schemas.openxmlformats.org/officeDocument/2006/relationships/hyperlink" Target="https://doi.org/10.1093/applin/amac003" TargetMode="External"/><Relationship Id="rId28" Type="http://schemas.openxmlformats.org/officeDocument/2006/relationships/hyperlink" Target="https://doi.org/10.1177/21582440211054482" TargetMode="External"/><Relationship Id="rId10" Type="http://schemas.openxmlformats.org/officeDocument/2006/relationships/hyperlink" Target="https://doi.org/10.1111/j.1468-0262.2005.00584.x" TargetMode="External"/><Relationship Id="rId19" Type="http://schemas.openxmlformats.org/officeDocument/2006/relationships/hyperlink" Target="https://www.staringatr.com/" TargetMode="External"/><Relationship Id="rId4" Type="http://schemas.openxmlformats.org/officeDocument/2006/relationships/hyperlink" Target="https://r-spatial.org/book/" TargetMode="External"/><Relationship Id="rId9" Type="http://schemas.openxmlformats.org/officeDocument/2006/relationships/hyperlink" Target="https://doi.org/10.1007/s41775-022-00132-1" TargetMode="External"/><Relationship Id="rId14" Type="http://schemas.openxmlformats.org/officeDocument/2006/relationships/hyperlink" Target="https://ora.ox.ac.uk/objects/uuid:4edff2cf-5534-473f-b01d-f21e10f1a34d" TargetMode="External"/><Relationship Id="rId22" Type="http://schemas.openxmlformats.org/officeDocument/2006/relationships/hyperlink" Target="https://www.jstor.org/stable/26741264" TargetMode="External"/><Relationship Id="rId27" Type="http://schemas.openxmlformats.org/officeDocument/2006/relationships/hyperlink" Target="https://doi.org/10.1007/s11356-022-24778-9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EA53-968B-4114-B7E7-718583F73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845967"/>
            <a:ext cx="7772400" cy="1691379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Sitka Display Semibold" pitchFamily="2" charset="0"/>
              </a:rPr>
              <a:t>English and Education in India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32382-5E65-4F88-B857-5F917E3E5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Sitka Display Semibold" pitchFamily="2" charset="0"/>
              </a:rPr>
              <a:t>Rishav Roy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07176-34C6-24D5-2B29-41BFCAB7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829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44092-C2E4-41BF-987B-689601C88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78" y="149056"/>
            <a:ext cx="11551244" cy="6559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68588-AB62-4732-94C3-2DF732FACCBF}"/>
              </a:ext>
            </a:extLst>
          </p:cNvPr>
          <p:cNvSpPr txBox="1"/>
          <p:nvPr/>
        </p:nvSpPr>
        <p:spPr>
          <a:xfrm flipH="1">
            <a:off x="-47134" y="6643525"/>
            <a:ext cx="47819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Bookman Old Style" panose="02050604050505020204" pitchFamily="18" charset="0"/>
              </a:rPr>
              <a:t>International </a:t>
            </a:r>
            <a:r>
              <a:rPr lang="en-US" sz="1050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Labour</a:t>
            </a:r>
            <a:r>
              <a:rPr lang="en-US" sz="1050" dirty="0">
                <a:solidFill>
                  <a:schemeClr val="bg1"/>
                </a:solidFill>
                <a:latin typeface="Bookman Old Style" panose="02050604050505020204" pitchFamily="18" charset="0"/>
              </a:rPr>
              <a:t> Organization (2024)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05548-AC48-FF17-3F3E-6810E958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42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96DB0D-B1A2-4ACD-9021-836EBF6E1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74" y="34750"/>
            <a:ext cx="10732052" cy="6788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CF756F-33D1-4911-BEF9-F32E5D5BEE4C}"/>
              </a:ext>
            </a:extLst>
          </p:cNvPr>
          <p:cNvSpPr txBox="1"/>
          <p:nvPr/>
        </p:nvSpPr>
        <p:spPr>
          <a:xfrm flipH="1">
            <a:off x="0" y="6550223"/>
            <a:ext cx="4781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International </a:t>
            </a:r>
            <a:r>
              <a:rPr lang="en-US" sz="1400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Labour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 Organization (2024)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ABD43-6771-1B1A-B9C4-6C541B23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E1BB0A-B244-41B0-9288-E35278C27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98" y="149056"/>
            <a:ext cx="11735403" cy="6559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277030-70B8-46EE-991F-9F8A51DEC42A}"/>
              </a:ext>
            </a:extLst>
          </p:cNvPr>
          <p:cNvSpPr txBox="1"/>
          <p:nvPr/>
        </p:nvSpPr>
        <p:spPr>
          <a:xfrm flipH="1">
            <a:off x="9389099" y="6628102"/>
            <a:ext cx="2888718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Bookman Old Style" panose="02050604050505020204" pitchFamily="18" charset="0"/>
              </a:rPr>
              <a:t>International </a:t>
            </a:r>
            <a:r>
              <a:rPr lang="en-US" sz="1050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Labour</a:t>
            </a:r>
            <a:r>
              <a:rPr lang="en-US" sz="1050" dirty="0">
                <a:solidFill>
                  <a:schemeClr val="bg1"/>
                </a:solidFill>
                <a:latin typeface="Bookman Old Style" panose="02050604050505020204" pitchFamily="18" charset="0"/>
              </a:rPr>
              <a:t> Organization (2024)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3C8A6-DB67-23E3-7738-537DBCB5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9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930" y="1521203"/>
            <a:ext cx="10178139" cy="4977250"/>
          </a:xfrm>
        </p:spPr>
        <p:txBody>
          <a:bodyPr numCol="1">
            <a:normAutofit lnSpcReduction="10000"/>
          </a:bodyPr>
          <a:lstStyle/>
          <a:p>
            <a:pPr marL="45720" indent="0">
              <a:buNone/>
            </a:pPr>
            <a:r>
              <a:rPr lang="en-US" sz="3600" dirty="0"/>
              <a:t>In the broader economy:</a:t>
            </a:r>
          </a:p>
          <a:p>
            <a:pPr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/>
              <a:t>Inequality</a:t>
            </a:r>
          </a:p>
          <a:p>
            <a:pPr algn="r"/>
            <a:r>
              <a:rPr lang="en-US" sz="4000" dirty="0"/>
              <a:t>Strong but jobless growth</a:t>
            </a:r>
          </a:p>
          <a:p>
            <a:pPr algn="r"/>
            <a:r>
              <a:rPr lang="en-US" sz="4000" dirty="0"/>
              <a:t>Under- and unemployment</a:t>
            </a:r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en-US" sz="3600" dirty="0"/>
              <a:t>In households’ labor market choices:</a:t>
            </a:r>
            <a:endParaRPr lang="en-US" sz="3200" dirty="0"/>
          </a:p>
          <a:p>
            <a:pPr marL="228600" marR="0" lvl="0" indent="-18288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Bad jobs</a:t>
            </a:r>
          </a:p>
          <a:p>
            <a:pPr marL="228600" marR="0" lvl="0" indent="-182880" algn="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Few jobs</a:t>
            </a:r>
            <a:endParaRPr lang="en-US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E0D30E-E437-4576-BF59-09391560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47" y="742765"/>
            <a:ext cx="9875520" cy="5178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Our Context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E40288-29F3-4B84-B128-98AEC6293125}"/>
              </a:ext>
            </a:extLst>
          </p:cNvPr>
          <p:cNvSpPr txBox="1">
            <a:spLocks/>
          </p:cNvSpPr>
          <p:nvPr/>
        </p:nvSpPr>
        <p:spPr>
          <a:xfrm>
            <a:off x="995927" y="1154097"/>
            <a:ext cx="10251200" cy="550415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endParaRPr kumimoji="0" lang="en-US" sz="4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76BD0-AA00-F5C1-70C1-7C0EA7F2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98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3E2DE6-94AE-4B67-8827-15D73C138C65}"/>
              </a:ext>
            </a:extLst>
          </p:cNvPr>
          <p:cNvSpPr txBox="1">
            <a:spLocks/>
          </p:cNvSpPr>
          <p:nvPr/>
        </p:nvSpPr>
        <p:spPr>
          <a:xfrm>
            <a:off x="995927" y="1154097"/>
            <a:ext cx="10251200" cy="550415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From the household’s perspective: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" marR="0" lvl="0" indent="0" algn="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How can I best ensure my </a:t>
            </a:r>
            <a:b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children’s future economic success?</a:t>
            </a:r>
          </a:p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Corbel" panose="020B0503020204020204"/>
              </a:rPr>
              <a:t>From the local policy-maker’s perspective:</a:t>
            </a:r>
          </a:p>
          <a:p>
            <a:pPr marL="45720" marR="0" lvl="0" indent="0" algn="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How can I best ensure the </a:t>
            </a:r>
            <a:b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future welfare of my constituents?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F6B414-2CDC-4E4B-84AC-E0FD1012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47" y="742765"/>
            <a:ext cx="9875520" cy="5178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Our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A2828-88C2-BBF4-5062-9C849D49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85901"/>
            <a:ext cx="9872871" cy="4762500"/>
          </a:xfrm>
        </p:spPr>
        <p:txBody>
          <a:bodyPr numCol="1">
            <a:normAutofit fontScale="92500"/>
          </a:bodyPr>
          <a:lstStyle/>
          <a:p>
            <a:pPr marL="45720" indent="0">
              <a:buNone/>
            </a:pP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Economics:</a:t>
            </a:r>
            <a:endParaRPr lang="en-US" sz="1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3500" dirty="0"/>
              <a:t>Education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sz="3500" dirty="0">
                <a:sym typeface="Wingdings" panose="05000000000000000000" pitchFamily="2" charset="2"/>
              </a:rPr>
              <a:t> human capital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sz="3500" dirty="0">
                <a:sym typeface="Wingdings" panose="05000000000000000000" pitchFamily="2" charset="2"/>
              </a:rPr>
              <a:t> higher demand, wages</a:t>
            </a:r>
          </a:p>
          <a:p>
            <a:pPr marL="45720" indent="0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India:</a:t>
            </a:r>
            <a:endParaRPr lang="en-US" sz="1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3500" dirty="0"/>
              <a:t>English skills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sz="3500" dirty="0">
                <a:sym typeface="Wingdings" panose="05000000000000000000" pitchFamily="2" charset="2"/>
              </a:rPr>
              <a:t> service jobs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sz="3500" dirty="0">
                <a:sym typeface="Wingdings" panose="05000000000000000000" pitchFamily="2" charset="2"/>
              </a:rPr>
              <a:t> higher demand, wages</a:t>
            </a:r>
          </a:p>
          <a:p>
            <a:pPr marL="45720" indent="0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Synthetized solution:</a:t>
            </a:r>
            <a:endParaRPr lang="en-US" sz="1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" indent="0" algn="ctr">
              <a:buNone/>
            </a:pPr>
            <a:r>
              <a:rPr lang="en-US" sz="6000" i="1" dirty="0"/>
              <a:t>English-medium instruction (EMI)</a:t>
            </a:r>
            <a:endParaRPr lang="en-US" sz="6000" i="1" dirty="0">
              <a:sym typeface="Wingdings" panose="05000000000000000000" pitchFamily="2" charset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CE02B2-3CF3-4405-AB9F-13A3B7680B21}"/>
              </a:ext>
            </a:extLst>
          </p:cNvPr>
          <p:cNvSpPr txBox="1">
            <a:spLocks/>
          </p:cNvSpPr>
          <p:nvPr/>
        </p:nvSpPr>
        <p:spPr>
          <a:xfrm>
            <a:off x="965447" y="742765"/>
            <a:ext cx="9875520" cy="5178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 Possible Answer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3716C-294E-9F77-5ED2-F740803A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5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3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85901"/>
            <a:ext cx="9872871" cy="5225142"/>
          </a:xfrm>
        </p:spPr>
        <p:txBody>
          <a:bodyPr numCol="1">
            <a:normAutofit/>
          </a:bodyPr>
          <a:lstStyle/>
          <a:p>
            <a:pPr marL="45720" indent="0">
              <a:buNone/>
            </a:pP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Existence of </a:t>
            </a:r>
            <a:r>
              <a:rPr lang="en-US" sz="3600" u="sng" dirty="0">
                <a:ea typeface="Cascadia Mono" panose="020B0609020000020004" pitchFamily="49" charset="0"/>
                <a:cs typeface="Cascadia Mono" panose="020B0609020000020004" pitchFamily="49" charset="0"/>
              </a:rPr>
              <a:t>wage premia for </a:t>
            </a:r>
            <a:r>
              <a:rPr lang="en-US" sz="3600" i="1" u="sng" dirty="0">
                <a:ea typeface="Cascadia Mono" panose="020B0609020000020004" pitchFamily="49" charset="0"/>
                <a:cs typeface="Cascadia Mono" panose="020B0609020000020004" pitchFamily="49" charset="0"/>
              </a:rPr>
              <a:t>English skills</a:t>
            </a: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 well-documented:</a:t>
            </a:r>
            <a:endParaRPr lang="en-US" sz="1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/>
              <a:t>Azam et al., 2013; Munshi &amp; Rosenzweig, 2006; </a:t>
            </a:r>
            <a:r>
              <a:rPr lang="en-US" sz="2400" dirty="0" err="1"/>
              <a:t>Refeque</a:t>
            </a:r>
            <a:r>
              <a:rPr lang="en-US" sz="2400" dirty="0"/>
              <a:t> &amp; Azad, 2022</a:t>
            </a:r>
            <a:endParaRPr lang="en-US" sz="32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sz="6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But there exist limitations:</a:t>
            </a:r>
            <a:endParaRPr lang="en-US" sz="1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3600" dirty="0"/>
              <a:t>Wages are limited measure of welfare</a:t>
            </a:r>
            <a:endParaRPr lang="en-US" sz="3600" dirty="0">
              <a:sym typeface="Wingdings" panose="05000000000000000000" pitchFamily="2" charset="2"/>
            </a:endParaRPr>
          </a:p>
          <a:p>
            <a:r>
              <a:rPr lang="en-US" sz="4000" dirty="0">
                <a:sym typeface="Wingdings" panose="05000000000000000000" pitchFamily="2" charset="2"/>
              </a:rPr>
              <a:t>None study</a:t>
            </a:r>
            <a:r>
              <a:rPr lang="en-US" sz="5400" dirty="0">
                <a:sym typeface="Wingdings" panose="05000000000000000000" pitchFamily="2" charset="2"/>
              </a:rPr>
              <a:t> </a:t>
            </a:r>
            <a:r>
              <a:rPr lang="en-US" sz="5400" i="1" u="sng" dirty="0">
                <a:sym typeface="Wingdings" panose="05000000000000000000" pitchFamily="2" charset="2"/>
              </a:rPr>
              <a:t>how to gain</a:t>
            </a:r>
            <a:r>
              <a:rPr lang="en-US" sz="4800" u="sng" dirty="0">
                <a:sym typeface="Wingdings" panose="05000000000000000000" pitchFamily="2" charset="2"/>
              </a:rPr>
              <a:t> </a:t>
            </a:r>
            <a:r>
              <a:rPr lang="en-US" sz="4400" u="sng" dirty="0">
                <a:sym typeface="Wingdings" panose="05000000000000000000" pitchFamily="2" charset="2"/>
              </a:rPr>
              <a:t>English skills</a:t>
            </a:r>
            <a:r>
              <a:rPr lang="en-US" sz="4800" u="sng" dirty="0">
                <a:sym typeface="Wingdings" panose="05000000000000000000" pitchFamily="2" charset="2"/>
              </a:rPr>
              <a:t>!</a:t>
            </a:r>
            <a:r>
              <a:rPr lang="en-US" sz="5400" dirty="0">
                <a:sym typeface="Wingdings" panose="05000000000000000000" pitchFamily="2" charset="2"/>
              </a:rPr>
              <a:t> </a:t>
            </a:r>
            <a:r>
              <a:rPr lang="en-US" sz="2800" dirty="0">
                <a:sym typeface="Wingdings" panose="05000000000000000000" pitchFamily="2" charset="2"/>
              </a:rPr>
              <a:t>How can households/policy-makers actually actualize upon the lessons of the literature?</a:t>
            </a:r>
            <a:endParaRPr lang="en-US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00731F-7214-4A1B-9E65-D4CD29EB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47" y="742765"/>
            <a:ext cx="9875520" cy="5178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Limits to the 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971C8-EA7D-F412-ABEC-86A45003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3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3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096" y="1614239"/>
            <a:ext cx="9872871" cy="4762500"/>
          </a:xfrm>
        </p:spPr>
        <p:txBody>
          <a:bodyPr numCol="1">
            <a:normAutofit/>
          </a:bodyPr>
          <a:lstStyle/>
          <a:p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Failure to learn English under EMI </a:t>
            </a:r>
            <a:r>
              <a:rPr lang="en-US" sz="2800" dirty="0"/>
              <a:t>(Lahoti &amp; Mukhopadhyay, 2019)</a:t>
            </a:r>
          </a:p>
          <a:p>
            <a:pPr marL="45720" indent="0">
              <a:buNone/>
            </a:pPr>
            <a:endParaRPr lang="en-US" sz="3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Higher learning outcomes under mother tongue instruction</a:t>
            </a:r>
            <a:r>
              <a:rPr lang="en-US" sz="2800" dirty="0"/>
              <a:t> (A. K. Mohanty, 2022) </a:t>
            </a:r>
          </a:p>
          <a:p>
            <a:endParaRPr lang="en-US" sz="3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3600" dirty="0">
                <a:ea typeface="Cascadia Mono" panose="020B0609020000020004" pitchFamily="49" charset="0"/>
                <a:cs typeface="Cascadia Mono" panose="020B0609020000020004" pitchFamily="49" charset="0"/>
              </a:rPr>
              <a:t>Schools lie about EMI </a:t>
            </a:r>
            <a:r>
              <a:rPr lang="en-US" sz="2800" dirty="0"/>
              <a:t>(Lahoti &amp; Mukhopadhyay, 2019; </a:t>
            </a:r>
            <a:r>
              <a:rPr lang="en-US" sz="2800" dirty="0" err="1"/>
              <a:t>Gooptu</a:t>
            </a:r>
            <a:r>
              <a:rPr lang="en-US" sz="2800" dirty="0"/>
              <a:t> &amp; Mukherjee, 2023)</a:t>
            </a:r>
            <a:endParaRPr lang="en-US" sz="3600" dirty="0"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00731F-7214-4A1B-9E65-D4CD29EB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47" y="742765"/>
            <a:ext cx="9875520" cy="5178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Limits to EMI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B8CC4-1AB4-D656-2226-D16C6213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2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3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00731F-7214-4A1B-9E65-D4CD29EB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47" y="742765"/>
            <a:ext cx="9875520" cy="5178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Our Research Question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D16AB4-E44B-45A7-95EB-8CF7D91B9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57" y="1764632"/>
            <a:ext cx="11462657" cy="4320146"/>
          </a:xfrm>
        </p:spPr>
        <p:txBody>
          <a:bodyPr>
            <a:normAutofit lnSpcReduction="10000"/>
          </a:bodyPr>
          <a:lstStyle/>
          <a:p>
            <a:pPr marL="45720" marR="0" lvl="0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What is the effect of </a:t>
            </a:r>
          </a:p>
          <a:p>
            <a:pPr marL="45720" marR="0" lvl="0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EMI (English-medium instruction) exposure </a:t>
            </a:r>
            <a:b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</a:b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in 2007-08 </a:t>
            </a:r>
          </a:p>
          <a:p>
            <a:pPr marL="45720" marR="0" lvl="0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on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 </a:t>
            </a:r>
            <a:b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</a:b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local consumption </a:t>
            </a:r>
          </a:p>
          <a:p>
            <a:pPr marL="45720" marR="0" lvl="0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Wingdings" panose="05000000000000000000" pitchFamily="2" charset="2"/>
              </a:rPr>
              <a:t>in 2017-18?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9F571-F6B6-9BA7-2BE1-D2D6BC55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57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4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2AC4B-EBEA-49D0-A8BE-642C4FC036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74"/>
          <a:stretch/>
        </p:blipFill>
        <p:spPr>
          <a:xfrm>
            <a:off x="6159346" y="1508095"/>
            <a:ext cx="5778850" cy="4793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7774B-AA68-4222-A4E2-BD1A2A9AFD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14"/>
          <a:stretch/>
        </p:blipFill>
        <p:spPr>
          <a:xfrm>
            <a:off x="8813534" y="5056164"/>
            <a:ext cx="2096844" cy="863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280545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Explanatory Variable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Construct for EMI what Chakraborty and </a:t>
            </a:r>
            <a:r>
              <a:rPr lang="en-US" sz="1800" dirty="0" err="1">
                <a:sym typeface="Wingdings" panose="05000000000000000000" pitchFamily="2" charset="2"/>
              </a:rPr>
              <a:t>Bakshi</a:t>
            </a:r>
            <a:r>
              <a:rPr lang="en-US" sz="1800" dirty="0">
                <a:sym typeface="Wingdings" panose="05000000000000000000" pitchFamily="2" charset="2"/>
              </a:rPr>
              <a:t> (2016) construct for public schools: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30" y="1242873"/>
            <a:ext cx="5954486" cy="5199198"/>
          </a:xfrm>
        </p:spPr>
        <p:txBody>
          <a:bodyPr numCol="1" anchor="t">
            <a:normAutofit/>
          </a:bodyPr>
          <a:lstStyle/>
          <a:p>
            <a:pPr marL="45720" indent="0">
              <a:lnSpc>
                <a:spcPct val="110000"/>
              </a:lnSpc>
              <a:buNone/>
            </a:pPr>
            <a:r>
              <a:rPr lang="en-US" sz="4400" dirty="0">
                <a:sym typeface="Wingdings" panose="05000000000000000000" pitchFamily="2" charset="2"/>
              </a:rPr>
              <a:t>EMI Enrollment (</a:t>
            </a:r>
            <a:r>
              <a:rPr lang="en-US" sz="4400" dirty="0" err="1">
                <a:sym typeface="Wingdings" panose="05000000000000000000" pitchFamily="2" charset="2"/>
              </a:rPr>
              <a:t>EMIE</a:t>
            </a:r>
            <a:r>
              <a:rPr lang="en-US" sz="4400" i="1" baseline="-25000" dirty="0" err="1">
                <a:effectLst/>
                <a:ea typeface="Aptos"/>
              </a:rPr>
              <a:t>d</a:t>
            </a:r>
            <a:r>
              <a:rPr lang="en-US" sz="4400" dirty="0">
                <a:sym typeface="Wingdings" panose="05000000000000000000" pitchFamily="2" charset="2"/>
              </a:rPr>
              <a:t>)</a:t>
            </a:r>
            <a:endParaRPr lang="en-US" sz="400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effectLst/>
                <a:ea typeface="Aptos"/>
              </a:rPr>
              <a:t>Data: National Sample Survey (NSS) Participation and Expenditure in Education, </a:t>
            </a:r>
            <a:r>
              <a:rPr lang="en-US" sz="3200" b="1" u="sng" dirty="0">
                <a:effectLst/>
                <a:ea typeface="Aptos"/>
              </a:rPr>
              <a:t>2007-08</a:t>
            </a:r>
            <a:endParaRPr lang="en-US" b="1" u="sng" dirty="0">
              <a:effectLst/>
              <a:ea typeface="Aptos"/>
            </a:endParaRPr>
          </a:p>
          <a:p>
            <a:pPr marL="514350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effectLst/>
                <a:ea typeface="Aptos"/>
              </a:rPr>
              <a:t>Aggregate at district level: </a:t>
            </a:r>
            <a:br>
              <a:rPr lang="en-US" dirty="0">
                <a:effectLst/>
                <a:ea typeface="Aptos"/>
              </a:rPr>
            </a:br>
            <a:r>
              <a:rPr lang="en-US" i="1" kern="0" dirty="0" err="1">
                <a:effectLst/>
                <a:ea typeface="Aptos"/>
              </a:rPr>
              <a:t>n</a:t>
            </a:r>
            <a:r>
              <a:rPr lang="en-US" i="1" kern="0" baseline="-25000" dirty="0" err="1">
                <a:effectLst/>
                <a:ea typeface="Aptos"/>
              </a:rPr>
              <a:t>d</a:t>
            </a:r>
            <a:r>
              <a:rPr lang="en-US" kern="0" dirty="0">
                <a:effectLst/>
                <a:ea typeface="Aptos"/>
              </a:rPr>
              <a:t> </a:t>
            </a:r>
            <a:r>
              <a:rPr lang="en-US" kern="0" dirty="0">
                <a:effectLst/>
                <a:ea typeface="Aptos"/>
                <a:cs typeface="Cambria Math" panose="02040503050406030204" pitchFamily="18" charset="0"/>
              </a:rPr>
              <a:t>∈</a:t>
            </a:r>
            <a:r>
              <a:rPr lang="en-US" kern="0" dirty="0">
                <a:effectLst/>
                <a:ea typeface="Aptos"/>
              </a:rPr>
              <a:t> [25, 850], most </a:t>
            </a:r>
            <a:r>
              <a:rPr lang="en-US" kern="0" dirty="0">
                <a:effectLst/>
                <a:ea typeface="Aptos"/>
                <a:cs typeface="Cambria Math" panose="02040503050406030204" pitchFamily="18" charset="0"/>
              </a:rPr>
              <a:t>∈</a:t>
            </a:r>
            <a:r>
              <a:rPr lang="en-US" kern="0" dirty="0">
                <a:effectLst/>
                <a:ea typeface="Aptos"/>
              </a:rPr>
              <a:t> [96, 300]</a:t>
            </a:r>
            <a:endParaRPr lang="en-US" dirty="0">
              <a:effectLst/>
              <a:ea typeface="Aptos"/>
            </a:endParaRPr>
          </a:p>
          <a:p>
            <a:pPr marL="514350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u="sng" dirty="0">
                <a:effectLst/>
                <a:ea typeface="Aptos"/>
              </a:rPr>
              <a:t>Reflects genuine parental </a:t>
            </a:r>
            <a:br>
              <a:rPr lang="en-US" sz="2400" u="sng" dirty="0">
                <a:effectLst/>
                <a:ea typeface="Aptos"/>
              </a:rPr>
            </a:br>
            <a:r>
              <a:rPr lang="en-US" sz="2400" u="sng" dirty="0">
                <a:effectLst/>
                <a:ea typeface="Aptos"/>
              </a:rPr>
              <a:t>decision-making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934CE-6ABD-4E07-A15B-A5F8CD785E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80"/>
          <a:stretch/>
        </p:blipFill>
        <p:spPr>
          <a:xfrm>
            <a:off x="511630" y="5082798"/>
            <a:ext cx="7274087" cy="86364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1E01-0E7A-F6AD-19A4-24746E65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57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4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30D120-0925-4259-AA7A-FFC00AB8A5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6"/>
          <a:stretch/>
        </p:blipFill>
        <p:spPr>
          <a:xfrm>
            <a:off x="271560" y="1148093"/>
            <a:ext cx="6694458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223496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Response Variable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Identify robust measures of welfare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922" y="1278384"/>
            <a:ext cx="5446306" cy="5225831"/>
          </a:xfrm>
        </p:spPr>
        <p:txBody>
          <a:bodyPr numCol="1" anchor="t">
            <a:normAutofit/>
          </a:bodyPr>
          <a:lstStyle/>
          <a:p>
            <a:pPr marL="45720" indent="0">
              <a:lnSpc>
                <a:spcPct val="110000"/>
              </a:lnSpc>
              <a:buNone/>
            </a:pPr>
            <a:r>
              <a:rPr lang="en-US" sz="4400" dirty="0">
                <a:sym typeface="Wingdings" panose="05000000000000000000" pitchFamily="2" charset="2"/>
              </a:rPr>
              <a:t>%</a:t>
            </a:r>
            <a:r>
              <a:rPr lang="el-GR" sz="4400" dirty="0">
                <a:sym typeface="Wingdings" panose="05000000000000000000" pitchFamily="2" charset="2"/>
              </a:rPr>
              <a:t>Δ</a:t>
            </a:r>
            <a:r>
              <a:rPr lang="en-US" sz="4400" dirty="0" err="1">
                <a:sym typeface="Wingdings" panose="05000000000000000000" pitchFamily="2" charset="2"/>
              </a:rPr>
              <a:t>Consumption</a:t>
            </a:r>
            <a:r>
              <a:rPr lang="en-US" sz="4000" i="1" baseline="-25000" dirty="0" err="1">
                <a:effectLst/>
                <a:ea typeface="Aptos"/>
              </a:rPr>
              <a:t>d</a:t>
            </a:r>
            <a:endParaRPr lang="en-US" sz="400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ea typeface="Aptos"/>
              </a:rPr>
              <a:t>Data: NSS </a:t>
            </a:r>
            <a:r>
              <a:rPr lang="en-US" sz="2800" b="1" u="sng" dirty="0">
                <a:effectLst/>
                <a:ea typeface="Aptos"/>
              </a:rPr>
              <a:t>07-08</a:t>
            </a:r>
            <a:r>
              <a:rPr lang="en-US" sz="2400" dirty="0">
                <a:effectLst/>
                <a:ea typeface="Aptos"/>
              </a:rPr>
              <a:t>, and NSS on Household Social Consumption, </a:t>
            </a:r>
            <a:r>
              <a:rPr lang="en-US" sz="3200" b="1" u="sng" dirty="0">
                <a:effectLst/>
                <a:ea typeface="Aptos"/>
              </a:rPr>
              <a:t>2017-18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ea typeface="Aptos"/>
              </a:rPr>
              <a:t>%</a:t>
            </a:r>
            <a:r>
              <a:rPr lang="el-GR" sz="2400" dirty="0">
                <a:sym typeface="Wingdings" panose="05000000000000000000" pitchFamily="2" charset="2"/>
              </a:rPr>
              <a:t> Δ </a:t>
            </a:r>
            <a:r>
              <a:rPr lang="en-US" sz="2400" dirty="0">
                <a:sym typeface="Wingdings" panose="05000000000000000000" pitchFamily="2" charset="2"/>
              </a:rPr>
              <a:t> in a</a:t>
            </a:r>
            <a:r>
              <a:rPr lang="en-US" sz="2400" dirty="0">
                <a:effectLst/>
                <a:ea typeface="Aptos"/>
              </a:rPr>
              <a:t>vg. monthly household consumption expenditure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effectLst/>
              <a:ea typeface="Aptos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ea typeface="Aptos"/>
              </a:rPr>
              <a:t>Not robust to </a:t>
            </a:r>
            <a:r>
              <a:rPr lang="en-US" sz="2400" u="sng" dirty="0">
                <a:effectLst/>
                <a:ea typeface="Aptos"/>
              </a:rPr>
              <a:t>shocks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ea typeface="Aptos"/>
              </a:rPr>
              <a:t>Not robust to </a:t>
            </a:r>
            <a:r>
              <a:rPr lang="en-US" sz="2400" u="sng" dirty="0">
                <a:effectLst/>
                <a:ea typeface="Aptos"/>
              </a:rPr>
              <a:t>regional price variation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3815A-6522-D6CA-8B09-B709F67D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0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Empirical Methodology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How can we best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1BE08-53C0-B9E3-EE04-4746457E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1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4199139" y="1811921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3554704" y="2275372"/>
            <a:ext cx="723951" cy="9843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742106" y="2083405"/>
            <a:ext cx="4010762" cy="11762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6468097" y="4900852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3554704" y="4162983"/>
            <a:ext cx="2913393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7011064" y="4162983"/>
            <a:ext cx="1741804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6388581" y="293665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>
            <a:off x="6931548" y="3208134"/>
            <a:ext cx="1821320" cy="5156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3741780" y="3208134"/>
            <a:ext cx="2646801" cy="50320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8481384" y="146267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8944835" y="1926128"/>
            <a:ext cx="259674" cy="114649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3554704" y="1734161"/>
            <a:ext cx="4926680" cy="152554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7427166" y="401154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3554704" y="4162983"/>
            <a:ext cx="3872462" cy="12004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7970133" y="3711343"/>
            <a:ext cx="595659" cy="5716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9826722" y="217866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3554704" y="2450144"/>
            <a:ext cx="6272018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 flipH="1">
            <a:off x="9656149" y="2450144"/>
            <a:ext cx="713540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9300258" y="5144419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3741780" y="3711343"/>
            <a:ext cx="5558478" cy="17045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9571742" y="4162983"/>
            <a:ext cx="84407" cy="9814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7811101" y="5331366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2"/>
            <a:endCxn id="6" idx="6"/>
          </p:cNvCxnSpPr>
          <p:nvPr/>
        </p:nvCxnSpPr>
        <p:spPr>
          <a:xfrm flipH="1" flipV="1">
            <a:off x="3741780" y="3711343"/>
            <a:ext cx="4069321" cy="189150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8354068" y="4162983"/>
            <a:ext cx="398800" cy="14398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E034D4-B157-13BB-F2E7-686CE7AC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1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solidFill>
            <a:srgbClr val="20455A">
              <a:alpha val="10196"/>
            </a:srgbClr>
          </a:solidFill>
          <a:ln>
            <a:solidFill>
              <a:srgbClr val="20455A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rgbClr val="20455A">
              <a:alpha val="10196"/>
            </a:srgbClr>
          </a:solidFill>
          <a:ln>
            <a:solidFill>
              <a:srgbClr val="20455A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rgbClr val="20455A">
                <a:alpha val="2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4199139" y="1811921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3554704" y="2275372"/>
            <a:ext cx="723951" cy="98433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742106" y="2083405"/>
            <a:ext cx="4010762" cy="117629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6468097" y="4900852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3554704" y="4162983"/>
            <a:ext cx="2913393" cy="1009353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7011064" y="4162983"/>
            <a:ext cx="1741804" cy="1009353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6388581" y="2936650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>
            <a:off x="6931548" y="3208134"/>
            <a:ext cx="1821320" cy="5156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3741780" y="3208134"/>
            <a:ext cx="2646801" cy="503209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8481384" y="1462677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8944835" y="1926128"/>
            <a:ext cx="259674" cy="114649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3554704" y="1734161"/>
            <a:ext cx="4926680" cy="1525541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7427166" y="4011547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3554704" y="4162983"/>
            <a:ext cx="3872462" cy="12004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7970133" y="3711343"/>
            <a:ext cx="595659" cy="57168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9826722" y="2178660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3554704" y="2450144"/>
            <a:ext cx="6272018" cy="80955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 flipH="1">
            <a:off x="9656149" y="2450144"/>
            <a:ext cx="713540" cy="80955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9300258" y="5144419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3741780" y="3711343"/>
            <a:ext cx="5558478" cy="170456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9571742" y="4162983"/>
            <a:ext cx="84407" cy="981436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7811101" y="5331366"/>
            <a:ext cx="542967" cy="54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2"/>
            <a:endCxn id="6" idx="6"/>
          </p:cNvCxnSpPr>
          <p:nvPr/>
        </p:nvCxnSpPr>
        <p:spPr>
          <a:xfrm flipH="1" flipV="1">
            <a:off x="3741780" y="3711343"/>
            <a:ext cx="4069321" cy="189150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8354068" y="4162983"/>
            <a:ext cx="398800" cy="143986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E7BBFF-436F-4039-8AE4-DA4ED384BD3F}"/>
              </a:ext>
            </a:extLst>
          </p:cNvPr>
          <p:cNvSpPr txBox="1"/>
          <p:nvPr/>
        </p:nvSpPr>
        <p:spPr>
          <a:xfrm>
            <a:off x="3470296" y="4688874"/>
            <a:ext cx="260527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CONFOUNDERS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0465B2-BD3F-A993-B0A6-AB9B148A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825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Empirical Methodology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How can we best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4CAD821-9BB2-4DAF-9FB6-A815411A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553916"/>
              </p:ext>
            </p:extLst>
          </p:nvPr>
        </p:nvGraphicFramePr>
        <p:xfrm>
          <a:off x="1189608" y="1518082"/>
          <a:ext cx="9685538" cy="496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769">
                  <a:extLst>
                    <a:ext uri="{9D8B030D-6E8A-4147-A177-3AD203B41FA5}">
                      <a16:colId xmlns:a16="http://schemas.microsoft.com/office/drawing/2014/main" val="2183835009"/>
                    </a:ext>
                  </a:extLst>
                </a:gridCol>
                <a:gridCol w="4842769">
                  <a:extLst>
                    <a:ext uri="{9D8B030D-6E8A-4147-A177-3AD203B41FA5}">
                      <a16:colId xmlns:a16="http://schemas.microsoft.com/office/drawing/2014/main" val="3797223160"/>
                    </a:ext>
                  </a:extLst>
                </a:gridCol>
              </a:tblGrid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Incorporate confounders as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CONTROLS</a:t>
                      </a:r>
                      <a:b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 a linear regression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69102"/>
                  </a:ext>
                </a:extLst>
              </a:tr>
              <a:tr h="24823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535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756C5-1C89-5774-AFAE-050A88CF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6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rgbClr val="FFB13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253017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Control Variables</a:t>
            </a:r>
            <a:br>
              <a:rPr lang="en-US" sz="36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600" dirty="0">
                <a:sym typeface="Wingdings" panose="05000000000000000000" pitchFamily="2" charset="2"/>
              </a:rPr>
              <a:t>Identify variables which could cause changes in both EMIE and %</a:t>
            </a:r>
            <a:r>
              <a:rPr lang="el-GR" sz="1600" dirty="0">
                <a:sym typeface="Wingdings" panose="05000000000000000000" pitchFamily="2" charset="2"/>
              </a:rPr>
              <a:t>Δ</a:t>
            </a:r>
            <a:r>
              <a:rPr lang="en-US" sz="1600" dirty="0">
                <a:sym typeface="Wingdings" panose="05000000000000000000" pitchFamily="2" charset="2"/>
              </a:rPr>
              <a:t>Consumption</a:t>
            </a:r>
            <a:endParaRPr lang="en-US" sz="16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BBF2E8-863C-4CAD-B804-E4DBA0BAB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1118572"/>
            <a:ext cx="7315215" cy="5486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478FB-5B9C-47F7-C51F-D8D91586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7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rgbClr val="FFB13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253017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Control Variables</a:t>
            </a:r>
            <a:br>
              <a:rPr lang="en-US" sz="36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600" dirty="0">
                <a:sym typeface="Wingdings" panose="05000000000000000000" pitchFamily="2" charset="2"/>
              </a:rPr>
              <a:t>Identify variables which could cause changes in both EMIE and %</a:t>
            </a:r>
            <a:r>
              <a:rPr lang="el-GR" sz="1600" dirty="0">
                <a:sym typeface="Wingdings" panose="05000000000000000000" pitchFamily="2" charset="2"/>
              </a:rPr>
              <a:t>Δ</a:t>
            </a:r>
            <a:r>
              <a:rPr lang="en-US" sz="1600" dirty="0">
                <a:sym typeface="Wingdings" panose="05000000000000000000" pitchFamily="2" charset="2"/>
              </a:rPr>
              <a:t>Consumption</a:t>
            </a:r>
            <a:endParaRPr lang="en-US" sz="16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BBF2E8-863C-4CAD-B804-E4DBA0BAB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392" y="1118572"/>
            <a:ext cx="7315215" cy="5486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A7E95-3061-F04C-BFF0-26813A9D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3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Tools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can we use to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4199139" y="1811921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3554704" y="2275372"/>
            <a:ext cx="723951" cy="9843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742106" y="2083405"/>
            <a:ext cx="4010762" cy="11762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6468097" y="4900852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3554704" y="4162983"/>
            <a:ext cx="2913393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7011064" y="4162983"/>
            <a:ext cx="1741804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6388581" y="293665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>
            <a:off x="6931548" y="3208134"/>
            <a:ext cx="1821320" cy="5156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3741780" y="3208134"/>
            <a:ext cx="2646801" cy="50320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8481384" y="146267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8944835" y="1926128"/>
            <a:ext cx="259674" cy="114649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3554704" y="1734161"/>
            <a:ext cx="4926680" cy="152554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7427166" y="401154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3554704" y="4162983"/>
            <a:ext cx="3872462" cy="12004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7970133" y="3711343"/>
            <a:ext cx="595659" cy="5716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9826722" y="217866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3554704" y="2450144"/>
            <a:ext cx="6272018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 flipH="1">
            <a:off x="9656149" y="2450144"/>
            <a:ext cx="713540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9300258" y="5144419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3741780" y="3711343"/>
            <a:ext cx="5558478" cy="17045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9571742" y="4162983"/>
            <a:ext cx="84407" cy="9814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7811101" y="5331366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2"/>
            <a:endCxn id="6" idx="6"/>
          </p:cNvCxnSpPr>
          <p:nvPr/>
        </p:nvCxnSpPr>
        <p:spPr>
          <a:xfrm flipH="1" flipV="1">
            <a:off x="3741780" y="3711343"/>
            <a:ext cx="4069321" cy="189150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8354068" y="4162983"/>
            <a:ext cx="398800" cy="14398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99FDB2-1385-4198-B454-ACEBA4E385FD}"/>
              </a:ext>
            </a:extLst>
          </p:cNvPr>
          <p:cNvSpPr/>
          <p:nvPr/>
        </p:nvSpPr>
        <p:spPr>
          <a:xfrm>
            <a:off x="677137" y="5115713"/>
            <a:ext cx="1006345" cy="9742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E7953-0DF4-4CE8-9869-2AEAFA733A50}"/>
              </a:ext>
            </a:extLst>
          </p:cNvPr>
          <p:cNvCxnSpPr>
            <a:cxnSpLocks/>
            <a:stCxn id="30" idx="7"/>
            <a:endCxn id="6" idx="3"/>
          </p:cNvCxnSpPr>
          <p:nvPr/>
        </p:nvCxnSpPr>
        <p:spPr>
          <a:xfrm flipV="1">
            <a:off x="1536106" y="4162983"/>
            <a:ext cx="1115317" cy="1095409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0D779F-8F6A-AA67-B512-8D5CCB89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85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Tools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can we use to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solidFill>
            <a:srgbClr val="20455A">
              <a:alpha val="20000"/>
            </a:srgbClr>
          </a:solidFill>
          <a:ln>
            <a:solidFill>
              <a:srgbClr val="20455A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rgbClr val="20455A">
              <a:alpha val="20000"/>
            </a:srgbClr>
          </a:solidFill>
          <a:ln>
            <a:solidFill>
              <a:srgbClr val="20455A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4199139" y="1811921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cxnSpLocks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rgbClr val="20455A">
                <a:alpha val="2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3554704" y="2275372"/>
            <a:ext cx="723951" cy="9843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742106" y="2083405"/>
            <a:ext cx="4010762" cy="11762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6468097" y="4900852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3554704" y="4162983"/>
            <a:ext cx="2913393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7011064" y="4162983"/>
            <a:ext cx="1741804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6388581" y="293665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>
            <a:off x="6931548" y="3208134"/>
            <a:ext cx="1821320" cy="5156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3741780" y="3208134"/>
            <a:ext cx="2646801" cy="50320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8481384" y="146267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8944835" y="1926128"/>
            <a:ext cx="259674" cy="114649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3554704" y="1734161"/>
            <a:ext cx="4926680" cy="152554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7427166" y="401154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3554704" y="4162983"/>
            <a:ext cx="3872462" cy="12004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7970133" y="3711343"/>
            <a:ext cx="595659" cy="5716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9826722" y="217866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3554704" y="2450144"/>
            <a:ext cx="6272018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 flipH="1">
            <a:off x="9656149" y="2450144"/>
            <a:ext cx="713540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9300258" y="5144419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3741780" y="3711343"/>
            <a:ext cx="5558478" cy="17045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9571742" y="4162983"/>
            <a:ext cx="84407" cy="9814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7811101" y="5331366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2"/>
            <a:endCxn id="6" idx="6"/>
          </p:cNvCxnSpPr>
          <p:nvPr/>
        </p:nvCxnSpPr>
        <p:spPr>
          <a:xfrm flipH="1" flipV="1">
            <a:off x="3741780" y="3711343"/>
            <a:ext cx="4069321" cy="189150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8354068" y="4162983"/>
            <a:ext cx="398800" cy="14398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99FDB2-1385-4198-B454-ACEBA4E385FD}"/>
              </a:ext>
            </a:extLst>
          </p:cNvPr>
          <p:cNvSpPr/>
          <p:nvPr/>
        </p:nvSpPr>
        <p:spPr>
          <a:xfrm>
            <a:off x="677137" y="5115713"/>
            <a:ext cx="1006345" cy="974272"/>
          </a:xfrm>
          <a:prstGeom prst="ellipse">
            <a:avLst/>
          </a:prstGeom>
          <a:solidFill>
            <a:srgbClr val="3AA066"/>
          </a:solidFill>
          <a:ln>
            <a:solidFill>
              <a:srgbClr val="3AA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IV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E7953-0DF4-4CE8-9869-2AEAFA733A50}"/>
              </a:ext>
            </a:extLst>
          </p:cNvPr>
          <p:cNvCxnSpPr>
            <a:cxnSpLocks/>
            <a:stCxn id="30" idx="7"/>
            <a:endCxn id="6" idx="3"/>
          </p:cNvCxnSpPr>
          <p:nvPr/>
        </p:nvCxnSpPr>
        <p:spPr>
          <a:xfrm flipV="1">
            <a:off x="1536106" y="4162983"/>
            <a:ext cx="1115317" cy="1095409"/>
          </a:xfrm>
          <a:prstGeom prst="straightConnector1">
            <a:avLst/>
          </a:prstGeom>
          <a:ln w="57150">
            <a:solidFill>
              <a:srgbClr val="3AA066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63CA6B-602B-4B94-8299-FF8A7C94046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rgbClr val="3AA066"/>
            </a:solidFill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00DEB2-0791-8070-285A-43150F45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51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3" y="1449438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Instrumental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A90FF-0A0B-4CD1-9E7B-AFA63CE4C7F6}"/>
              </a:ext>
            </a:extLst>
          </p:cNvPr>
          <p:cNvSpPr txBox="1"/>
          <p:nvPr/>
        </p:nvSpPr>
        <p:spPr>
          <a:xfrm>
            <a:off x="217711" y="3247199"/>
            <a:ext cx="11756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u="sng" dirty="0">
                <a:effectLst/>
                <a:ea typeface="Aptos"/>
              </a:rPr>
              <a:t>Weighted average of mother tongues’ </a:t>
            </a:r>
          </a:p>
          <a:p>
            <a:pPr algn="ctr"/>
            <a:r>
              <a:rPr lang="en-US" sz="3600" u="sng" dirty="0">
                <a:effectLst/>
                <a:ea typeface="Aptos"/>
              </a:rPr>
              <a:t>linguistic distances from Hindi</a:t>
            </a:r>
            <a:endParaRPr lang="en-US" sz="3600" i="1" dirty="0">
              <a:effectLst/>
              <a:ea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7359D-B778-4A06-A0F0-1F1D89EA7D18}"/>
              </a:ext>
            </a:extLst>
          </p:cNvPr>
          <p:cNvSpPr txBox="1"/>
          <p:nvPr/>
        </p:nvSpPr>
        <p:spPr>
          <a:xfrm>
            <a:off x="0" y="2253057"/>
            <a:ext cx="11756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effectLst/>
                <a:ea typeface="Aptos"/>
              </a:rPr>
              <a:t>“</a:t>
            </a:r>
            <a:r>
              <a:rPr lang="en-US" i="1" dirty="0">
                <a:effectLst/>
                <a:ea typeface="Aptos"/>
              </a:rPr>
              <a:t>Using several definitions of </a:t>
            </a:r>
            <a:r>
              <a:rPr lang="en-US" sz="2400" i="1" dirty="0">
                <a:effectLst/>
                <a:ea typeface="Aptos"/>
              </a:rPr>
              <a:t>linguistic distance</a:t>
            </a:r>
            <a:r>
              <a:rPr lang="en-US" i="1" dirty="0">
                <a:effectLst/>
                <a:ea typeface="Aptos"/>
              </a:rPr>
              <a:t>, I demonstrate that </a:t>
            </a:r>
            <a:br>
              <a:rPr lang="en-US" i="1" dirty="0">
                <a:effectLst/>
                <a:ea typeface="Aptos"/>
              </a:rPr>
            </a:br>
            <a:r>
              <a:rPr lang="en-US" sz="3200" i="1" dirty="0">
                <a:effectLst/>
                <a:ea typeface="Aptos"/>
              </a:rPr>
              <a:t>distance from Hindi induces people to learn English</a:t>
            </a:r>
            <a:r>
              <a:rPr lang="en-US" i="1" dirty="0">
                <a:effectLst/>
                <a:ea typeface="Aptos"/>
              </a:rPr>
              <a:t>” – </a:t>
            </a:r>
            <a:r>
              <a:rPr lang="en-US" i="1" dirty="0" err="1">
                <a:effectLst/>
                <a:ea typeface="Aptos"/>
              </a:rPr>
              <a:t>Shastry</a:t>
            </a:r>
            <a:r>
              <a:rPr lang="en-US" i="1" dirty="0">
                <a:effectLst/>
                <a:ea typeface="Aptos"/>
              </a:rPr>
              <a:t> (2012, p. 288)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B2E8C-C274-E244-291D-6214EC1C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50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698013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Two-Stage Least Squares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37884-A230-41CC-BF67-52086F463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605" y="2455137"/>
            <a:ext cx="9512789" cy="24448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AB19C-2FE2-3317-5FBE-D8F1872C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52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Empirical Methodology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How can we best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4CAD821-9BB2-4DAF-9FB6-A815411A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04293"/>
              </p:ext>
            </p:extLst>
          </p:nvPr>
        </p:nvGraphicFramePr>
        <p:xfrm>
          <a:off x="1189608" y="1518082"/>
          <a:ext cx="9685538" cy="496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769">
                  <a:extLst>
                    <a:ext uri="{9D8B030D-6E8A-4147-A177-3AD203B41FA5}">
                      <a16:colId xmlns:a16="http://schemas.microsoft.com/office/drawing/2014/main" val="2183835009"/>
                    </a:ext>
                  </a:extLst>
                </a:gridCol>
                <a:gridCol w="4842769">
                  <a:extLst>
                    <a:ext uri="{9D8B030D-6E8A-4147-A177-3AD203B41FA5}">
                      <a16:colId xmlns:a16="http://schemas.microsoft.com/office/drawing/2014/main" val="3797223160"/>
                    </a:ext>
                  </a:extLst>
                </a:gridCol>
              </a:tblGrid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Incorporate confounders as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CONTROLS</a:t>
                      </a:r>
                      <a:b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 a linear regression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Regress EMIE onto an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INSTRUMENTAL VARIABLE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69102"/>
                  </a:ext>
                </a:extLst>
              </a:tr>
              <a:tr h="24823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535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04DDF-0B4F-4E8D-3DD1-E134678E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55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62A9D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167417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Explanatory Variable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Construct for EMI what Chakraborty and </a:t>
            </a:r>
            <a:r>
              <a:rPr lang="en-US" sz="1800" dirty="0" err="1">
                <a:sym typeface="Wingdings" panose="05000000000000000000" pitchFamily="2" charset="2"/>
              </a:rPr>
              <a:t>Bakshi</a:t>
            </a:r>
            <a:r>
              <a:rPr lang="en-US" sz="1800" dirty="0">
                <a:sym typeface="Wingdings" panose="05000000000000000000" pitchFamily="2" charset="2"/>
              </a:rPr>
              <a:t> (2016) construct for public schools: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A2E8-93F9-4921-B825-805F1DD6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024" y="4574267"/>
            <a:ext cx="9315951" cy="760363"/>
          </a:xfrm>
        </p:spPr>
        <p:txBody>
          <a:bodyPr numCol="1" anchor="ctr">
            <a:normAutofit fontScale="92500"/>
          </a:bodyPr>
          <a:lstStyle/>
          <a:p>
            <a:pPr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4400" b="1" u="sng" dirty="0">
                <a:ea typeface="Aptos"/>
              </a:rPr>
              <a:t>What about kids not enrolled in school?</a:t>
            </a:r>
            <a:endParaRPr lang="en-US" sz="4400" b="1" u="sng" dirty="0">
              <a:effectLst/>
              <a:ea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E976B9-FE79-4AFF-BD14-117C306EC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31" y="2926156"/>
            <a:ext cx="9493738" cy="8636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517B6-0501-656A-EF33-1CD01201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50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2464347" y="3072626"/>
            <a:ext cx="1277433" cy="1277433"/>
          </a:xfrm>
          <a:prstGeom prst="ellipse">
            <a:avLst/>
          </a:prstGeom>
          <a:gradFill flip="none" rotWithShape="1">
            <a:gsLst>
              <a:gs pos="45000">
                <a:schemeClr val="accent4">
                  <a:lumMod val="5000"/>
                  <a:lumOff val="95000"/>
                </a:schemeClr>
              </a:gs>
              <a:gs pos="54000">
                <a:schemeClr val="accent4">
                  <a:lumMod val="45000"/>
                  <a:lumOff val="55000"/>
                </a:schemeClr>
              </a:gs>
              <a:gs pos="23000">
                <a:srgbClr val="ECF4F8"/>
              </a:gs>
              <a:gs pos="95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EMIE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8565792" y="3072626"/>
            <a:ext cx="1277433" cy="12774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%Δ</a:t>
            </a:r>
            <a:r>
              <a:rPr lang="en-US" sz="2800" dirty="0"/>
              <a:t>C</a:t>
            </a:r>
            <a:endParaRPr lang="en-US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741780" y="3711343"/>
            <a:ext cx="4824012" cy="0"/>
          </a:xfrm>
          <a:prstGeom prst="straightConnector1">
            <a:avLst/>
          </a:prstGeom>
          <a:ln w="76200">
            <a:solidFill>
              <a:srgbClr val="7AB1D0">
                <a:alpha val="4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4199139" y="1811921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3554704" y="2275372"/>
            <a:ext cx="723951" cy="9843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742106" y="2083405"/>
            <a:ext cx="4010762" cy="11762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6468097" y="4900852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3554704" y="4162983"/>
            <a:ext cx="2913393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7011064" y="4162983"/>
            <a:ext cx="1741804" cy="100935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6388581" y="293665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>
            <a:off x="6931548" y="3208134"/>
            <a:ext cx="1821320" cy="5156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3741780" y="3208134"/>
            <a:ext cx="2646801" cy="50320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8481384" y="146267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8944835" y="1926128"/>
            <a:ext cx="259674" cy="114649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3554704" y="1734161"/>
            <a:ext cx="4926680" cy="152554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7427166" y="4011547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3554704" y="4162983"/>
            <a:ext cx="3872462" cy="12004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7970133" y="3711343"/>
            <a:ext cx="595659" cy="5716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9826722" y="2178660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3554704" y="2450144"/>
            <a:ext cx="6272018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 flipH="1">
            <a:off x="9656149" y="2450144"/>
            <a:ext cx="713540" cy="80955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9300258" y="5144419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3741780" y="3711343"/>
            <a:ext cx="5558478" cy="17045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9571742" y="4162983"/>
            <a:ext cx="84407" cy="9814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7811101" y="5331366"/>
            <a:ext cx="542967" cy="5429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2"/>
            <a:endCxn id="22" idx="5"/>
          </p:cNvCxnSpPr>
          <p:nvPr/>
        </p:nvCxnSpPr>
        <p:spPr>
          <a:xfrm flipH="1" flipV="1">
            <a:off x="6852032" y="3400101"/>
            <a:ext cx="959069" cy="220274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8354068" y="4162983"/>
            <a:ext cx="398800" cy="14398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0714618-3D2D-457A-B1AA-93479E6AB9DE}"/>
              </a:ext>
            </a:extLst>
          </p:cNvPr>
          <p:cNvSpPr/>
          <p:nvPr/>
        </p:nvSpPr>
        <p:spPr>
          <a:xfrm>
            <a:off x="677137" y="5115713"/>
            <a:ext cx="1006345" cy="9742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5CCBBA-F67D-40E3-91FA-94C1B8B75690}"/>
              </a:ext>
            </a:extLst>
          </p:cNvPr>
          <p:cNvCxnSpPr>
            <a:cxnSpLocks/>
            <a:stCxn id="30" idx="7"/>
          </p:cNvCxnSpPr>
          <p:nvPr/>
        </p:nvCxnSpPr>
        <p:spPr>
          <a:xfrm flipV="1">
            <a:off x="1536106" y="4162983"/>
            <a:ext cx="1115317" cy="1095409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078FBFE-E3DB-4B05-9FA5-69AD72E7C466}"/>
              </a:ext>
            </a:extLst>
          </p:cNvPr>
          <p:cNvSpPr txBox="1"/>
          <p:nvPr/>
        </p:nvSpPr>
        <p:spPr>
          <a:xfrm>
            <a:off x="263868" y="2389936"/>
            <a:ext cx="3533288" cy="523220"/>
          </a:xfrm>
          <a:prstGeom prst="rect">
            <a:avLst/>
          </a:prstGeom>
          <a:solidFill>
            <a:srgbClr val="6EB0D4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SELECTION BIAS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16E378-AA02-1B81-748F-794E5339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064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Empirical Methodology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How can we best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4CAD821-9BB2-4DAF-9FB6-A815411A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70481"/>
              </p:ext>
            </p:extLst>
          </p:nvPr>
        </p:nvGraphicFramePr>
        <p:xfrm>
          <a:off x="1189608" y="1518082"/>
          <a:ext cx="9685538" cy="496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769">
                  <a:extLst>
                    <a:ext uri="{9D8B030D-6E8A-4147-A177-3AD203B41FA5}">
                      <a16:colId xmlns:a16="http://schemas.microsoft.com/office/drawing/2014/main" val="2183835009"/>
                    </a:ext>
                  </a:extLst>
                </a:gridCol>
                <a:gridCol w="4842769">
                  <a:extLst>
                    <a:ext uri="{9D8B030D-6E8A-4147-A177-3AD203B41FA5}">
                      <a16:colId xmlns:a16="http://schemas.microsoft.com/office/drawing/2014/main" val="3797223160"/>
                    </a:ext>
                  </a:extLst>
                </a:gridCol>
              </a:tblGrid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Incorporate confounders as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CONTROLS</a:t>
                      </a:r>
                      <a:b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 a linear regression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Regress EMIE onto an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INSTRUMENTAL VARIABLE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69102"/>
                  </a:ext>
                </a:extLst>
              </a:tr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Use the inverse Mills ratio (IMR) from the</a:t>
                      </a:r>
                    </a:p>
                    <a:p>
                      <a:pPr algn="ctr"/>
                      <a:r>
                        <a:rPr kumimoji="0" lang="en-US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HECKMAN CORRECTION</a:t>
                      </a:r>
                      <a:br>
                        <a:rPr kumimoji="0" lang="en-US" sz="5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as another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B133"/>
                          </a:highlight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</a:t>
                      </a:r>
                      <a:endParaRPr lang="en-US" sz="3600" dirty="0">
                        <a:solidFill>
                          <a:schemeClr val="tx1"/>
                        </a:solidFill>
                        <a:highlight>
                          <a:srgbClr val="FFB133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B0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535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FA1DB-EF80-744F-6958-4B99DBF9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885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62A9D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39448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Participation Equation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3F189-F9AF-4C4A-8988-2331611C4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" y="1413720"/>
            <a:ext cx="9893808" cy="47309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1EA64-9DEC-2A9C-FB60-1315D70C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842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62A9D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39448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Inverse Mills Ratio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CEE54-1AB2-4F89-9B65-0B019D181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416" y="1389094"/>
            <a:ext cx="7163168" cy="502945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0715B-A0CC-B1DE-C8E4-F8347053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89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62A9D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2D57BC-23DF-4353-9A74-F61BD393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96" y="0"/>
            <a:ext cx="5027934" cy="33269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30F4AE-7963-426F-B616-54C94A199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96" y="3326692"/>
            <a:ext cx="4164328" cy="345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D205BB-AD91-4E20-9878-B8FDE4DD0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105" y="783771"/>
            <a:ext cx="4163384" cy="34505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321E62-080A-44BD-9BAE-D79E37A7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161" y="4234327"/>
            <a:ext cx="4164328" cy="183696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96C25C3-58D3-417B-BC42-1F0A41C6F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602" y="106531"/>
            <a:ext cx="5773445" cy="77452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Participation Regression</a:t>
            </a:r>
            <a:endParaRPr lang="en-US" sz="12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F4CF7-4128-6236-CAC2-FCE7D02B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98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295170"/>
            <a:ext cx="10477028" cy="55063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First-Stage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7F9C9-8B8C-4356-BDDB-FF2C204AB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06" y="845809"/>
            <a:ext cx="5929791" cy="57127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D2635-11FD-4E3B-9ADA-10B27A90B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30" y="1396448"/>
            <a:ext cx="5638050" cy="51621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D2AD6-EC38-A2C3-E5FA-E30E5D20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61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A7F9C9-8B8C-4356-BDDB-FF2C204AB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294" y="-8140"/>
            <a:ext cx="7135411" cy="687427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FD55B7-DAAD-DC19-F27B-9E4BBE61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57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3D2635-11FD-4E3B-9ADA-10B27A90B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122" y="-8701"/>
            <a:ext cx="7499756" cy="68667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5FBE9-807E-A478-E14D-80BAD72B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47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338232"/>
            <a:ext cx="10477028" cy="55063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Second-Stage Regression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2D2F5D-0813-4FC2-A961-84F2B1118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77" y="1052603"/>
            <a:ext cx="5543643" cy="5027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919041-F1AF-4941-9B74-7585B10C7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420" y="1380066"/>
            <a:ext cx="6061361" cy="47001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8737-257E-03EE-058F-C748B12F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74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2D2F5D-0813-4FC2-A961-84F2B1118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291" y="0"/>
            <a:ext cx="7566471" cy="68621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8A2E04-E794-4026-9231-5BB399D819E3}"/>
              </a:ext>
            </a:extLst>
          </p:cNvPr>
          <p:cNvSpPr/>
          <p:nvPr/>
        </p:nvSpPr>
        <p:spPr>
          <a:xfrm>
            <a:off x="7705818" y="0"/>
            <a:ext cx="1844944" cy="1021288"/>
          </a:xfrm>
          <a:prstGeom prst="rect">
            <a:avLst/>
          </a:prstGeom>
          <a:solidFill>
            <a:srgbClr val="FFC56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2D747-9978-4265-9963-2D8540321535}"/>
              </a:ext>
            </a:extLst>
          </p:cNvPr>
          <p:cNvSpPr txBox="1"/>
          <p:nvPr/>
        </p:nvSpPr>
        <p:spPr>
          <a:xfrm>
            <a:off x="9550762" y="242915"/>
            <a:ext cx="2407460" cy="1354217"/>
          </a:xfrm>
          <a:prstGeom prst="rect">
            <a:avLst/>
          </a:prstGeom>
          <a:solidFill>
            <a:srgbClr val="FFC565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Large coefficient, but…</a:t>
            </a:r>
          </a:p>
          <a:p>
            <a:pPr algn="ctr"/>
            <a:r>
              <a:rPr lang="en-US" sz="3200" b="1" dirty="0"/>
              <a:t>No significance!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B0DE4-9BEE-4347-83E7-EFC9CC78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42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919041-F1AF-4941-9B74-7585B10C7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39" y="0"/>
            <a:ext cx="8844122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7D5E4-BD8F-746D-FF8B-DAA6CDD7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217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7D2E6-48D8-450A-BABA-08A611681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81" y="0"/>
            <a:ext cx="8736495" cy="68750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D65291-76D3-4891-A0F0-C6128408CCB8}"/>
              </a:ext>
            </a:extLst>
          </p:cNvPr>
          <p:cNvSpPr/>
          <p:nvPr/>
        </p:nvSpPr>
        <p:spPr>
          <a:xfrm>
            <a:off x="7652551" y="8522"/>
            <a:ext cx="1329125" cy="1021288"/>
          </a:xfrm>
          <a:prstGeom prst="rect">
            <a:avLst/>
          </a:prstGeom>
          <a:solidFill>
            <a:srgbClr val="FFC56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D1D7D-32EA-4F59-A3F6-18994491A57B}"/>
              </a:ext>
            </a:extLst>
          </p:cNvPr>
          <p:cNvSpPr txBox="1"/>
          <p:nvPr/>
        </p:nvSpPr>
        <p:spPr>
          <a:xfrm>
            <a:off x="8981676" y="242915"/>
            <a:ext cx="2965143" cy="1631216"/>
          </a:xfrm>
          <a:prstGeom prst="rect">
            <a:avLst/>
          </a:prstGeom>
          <a:solidFill>
            <a:srgbClr val="FFC565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Adding another response variable reveals a…</a:t>
            </a:r>
          </a:p>
          <a:p>
            <a:pPr algn="ctr"/>
            <a:r>
              <a:rPr lang="en-US" sz="3200" b="1" dirty="0"/>
              <a:t>Decrease in inequality!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584F7-48CB-4209-85E0-5B1E3EAFB0C8}"/>
              </a:ext>
            </a:extLst>
          </p:cNvPr>
          <p:cNvSpPr/>
          <p:nvPr/>
        </p:nvSpPr>
        <p:spPr>
          <a:xfrm>
            <a:off x="8981676" y="0"/>
            <a:ext cx="3210324" cy="257452"/>
          </a:xfrm>
          <a:prstGeom prst="rect">
            <a:avLst/>
          </a:prstGeom>
          <a:pattFill prst="pct90">
            <a:fgClr>
              <a:srgbClr val="3AA06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DB5A4-9735-DAEF-67D9-43A56FFB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13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3AA0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FAAD3-0DBF-4DCC-B345-8311999DC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5" y="0"/>
            <a:ext cx="944618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9E050F-89A2-45C1-A014-D7E3723E993C}"/>
              </a:ext>
            </a:extLst>
          </p:cNvPr>
          <p:cNvSpPr/>
          <p:nvPr/>
        </p:nvSpPr>
        <p:spPr>
          <a:xfrm>
            <a:off x="8353626" y="5409135"/>
            <a:ext cx="1062794" cy="716458"/>
          </a:xfrm>
          <a:prstGeom prst="rect">
            <a:avLst/>
          </a:prstGeom>
          <a:solidFill>
            <a:srgbClr val="FFC56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27BED-EA99-4A8E-973D-2E5A4B096798}"/>
              </a:ext>
            </a:extLst>
          </p:cNvPr>
          <p:cNvSpPr txBox="1"/>
          <p:nvPr/>
        </p:nvSpPr>
        <p:spPr>
          <a:xfrm>
            <a:off x="9416420" y="5382501"/>
            <a:ext cx="2539015" cy="1015663"/>
          </a:xfrm>
          <a:prstGeom prst="rect">
            <a:avLst/>
          </a:prstGeom>
          <a:solidFill>
            <a:srgbClr val="FFC565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But this model does ≈ as well as the sample mean </a:t>
            </a:r>
            <a:r>
              <a:rPr lang="en-US" sz="2000" dirty="0">
                <a:sym typeface="Wingdings" panose="05000000000000000000" pitchFamily="2" charset="2"/>
              </a:rPr>
              <a:t></a:t>
            </a:r>
            <a:endParaRPr lang="en-US" sz="36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414D4-9ACB-7DC3-FAA1-3C759D83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18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B60EDEFE-501A-4215-AA03-E4DAA818BA4D}"/>
              </a:ext>
            </a:extLst>
          </p:cNvPr>
          <p:cNvSpPr/>
          <p:nvPr/>
        </p:nvSpPr>
        <p:spPr>
          <a:xfrm>
            <a:off x="216436" y="220303"/>
            <a:ext cx="7928534" cy="4143988"/>
          </a:xfrm>
          <a:custGeom>
            <a:avLst/>
            <a:gdLst>
              <a:gd name="connsiteX0" fmla="*/ 0 w 8087109"/>
              <a:gd name="connsiteY0" fmla="*/ 3337560 h 4547014"/>
              <a:gd name="connsiteX1" fmla="*/ 4032504 w 8087109"/>
              <a:gd name="connsiteY1" fmla="*/ 4517136 h 4547014"/>
              <a:gd name="connsiteX2" fmla="*/ 6967728 w 8087109"/>
              <a:gd name="connsiteY2" fmla="*/ 4005072 h 4547014"/>
              <a:gd name="connsiteX3" fmla="*/ 8065008 w 8087109"/>
              <a:gd name="connsiteY3" fmla="*/ 2011680 h 4547014"/>
              <a:gd name="connsiteX4" fmla="*/ 7699248 w 8087109"/>
              <a:gd name="connsiteY4" fmla="*/ 0 h 4547014"/>
              <a:gd name="connsiteX0" fmla="*/ 0 w 8087109"/>
              <a:gd name="connsiteY0" fmla="*/ 3337560 h 4392958"/>
              <a:gd name="connsiteX1" fmla="*/ 3346704 w 8087109"/>
              <a:gd name="connsiteY1" fmla="*/ 4343400 h 4392958"/>
              <a:gd name="connsiteX2" fmla="*/ 6967728 w 8087109"/>
              <a:gd name="connsiteY2" fmla="*/ 4005072 h 4392958"/>
              <a:gd name="connsiteX3" fmla="*/ 8065008 w 8087109"/>
              <a:gd name="connsiteY3" fmla="*/ 2011680 h 4392958"/>
              <a:gd name="connsiteX4" fmla="*/ 7699248 w 8087109"/>
              <a:gd name="connsiteY4" fmla="*/ 0 h 4392958"/>
              <a:gd name="connsiteX0" fmla="*/ 0 w 7852949"/>
              <a:gd name="connsiteY0" fmla="*/ 3337560 h 4387031"/>
              <a:gd name="connsiteX1" fmla="*/ 3346704 w 7852949"/>
              <a:gd name="connsiteY1" fmla="*/ 4343400 h 4387031"/>
              <a:gd name="connsiteX2" fmla="*/ 6967728 w 7852949"/>
              <a:gd name="connsiteY2" fmla="*/ 4005072 h 4387031"/>
              <a:gd name="connsiteX3" fmla="*/ 7808976 w 7852949"/>
              <a:gd name="connsiteY3" fmla="*/ 2231136 h 4387031"/>
              <a:gd name="connsiteX4" fmla="*/ 7699248 w 7852949"/>
              <a:gd name="connsiteY4" fmla="*/ 0 h 4387031"/>
              <a:gd name="connsiteX0" fmla="*/ 0 w 7958059"/>
              <a:gd name="connsiteY0" fmla="*/ 3337560 h 4390876"/>
              <a:gd name="connsiteX1" fmla="*/ 3346704 w 7958059"/>
              <a:gd name="connsiteY1" fmla="*/ 4343400 h 4390876"/>
              <a:gd name="connsiteX2" fmla="*/ 6967728 w 7958059"/>
              <a:gd name="connsiteY2" fmla="*/ 4005072 h 4390876"/>
              <a:gd name="connsiteX3" fmla="*/ 7927848 w 7958059"/>
              <a:gd name="connsiteY3" fmla="*/ 2084832 h 4390876"/>
              <a:gd name="connsiteX4" fmla="*/ 7699248 w 7958059"/>
              <a:gd name="connsiteY4" fmla="*/ 0 h 4390876"/>
              <a:gd name="connsiteX0" fmla="*/ 0 w 7935154"/>
              <a:gd name="connsiteY0" fmla="*/ 3337560 h 4390876"/>
              <a:gd name="connsiteX1" fmla="*/ 3346704 w 7935154"/>
              <a:gd name="connsiteY1" fmla="*/ 4343400 h 4390876"/>
              <a:gd name="connsiteX2" fmla="*/ 6967728 w 7935154"/>
              <a:gd name="connsiteY2" fmla="*/ 4005072 h 4390876"/>
              <a:gd name="connsiteX3" fmla="*/ 7927848 w 7935154"/>
              <a:gd name="connsiteY3" fmla="*/ 2084832 h 4390876"/>
              <a:gd name="connsiteX4" fmla="*/ 7699248 w 7935154"/>
              <a:gd name="connsiteY4" fmla="*/ 0 h 4390876"/>
              <a:gd name="connsiteX0" fmla="*/ 0 w 7934894"/>
              <a:gd name="connsiteY0" fmla="*/ 3090672 h 4143988"/>
              <a:gd name="connsiteX1" fmla="*/ 3346704 w 7934894"/>
              <a:gd name="connsiteY1" fmla="*/ 4096512 h 4143988"/>
              <a:gd name="connsiteX2" fmla="*/ 6967728 w 7934894"/>
              <a:gd name="connsiteY2" fmla="*/ 3758184 h 4143988"/>
              <a:gd name="connsiteX3" fmla="*/ 7927848 w 7934894"/>
              <a:gd name="connsiteY3" fmla="*/ 1837944 h 4143988"/>
              <a:gd name="connsiteX4" fmla="*/ 7690104 w 7934894"/>
              <a:gd name="connsiteY4" fmla="*/ 0 h 4143988"/>
              <a:gd name="connsiteX0" fmla="*/ 0 w 7934894"/>
              <a:gd name="connsiteY0" fmla="*/ 3090672 h 4143988"/>
              <a:gd name="connsiteX1" fmla="*/ 3346704 w 7934894"/>
              <a:gd name="connsiteY1" fmla="*/ 4096512 h 4143988"/>
              <a:gd name="connsiteX2" fmla="*/ 6967728 w 7934894"/>
              <a:gd name="connsiteY2" fmla="*/ 3758184 h 4143988"/>
              <a:gd name="connsiteX3" fmla="*/ 7927848 w 7934894"/>
              <a:gd name="connsiteY3" fmla="*/ 1837944 h 4143988"/>
              <a:gd name="connsiteX4" fmla="*/ 7690104 w 7934894"/>
              <a:gd name="connsiteY4" fmla="*/ 0 h 4143988"/>
              <a:gd name="connsiteX0" fmla="*/ 0 w 7934894"/>
              <a:gd name="connsiteY0" fmla="*/ 3090672 h 4143988"/>
              <a:gd name="connsiteX1" fmla="*/ 3346704 w 7934894"/>
              <a:gd name="connsiteY1" fmla="*/ 4096512 h 4143988"/>
              <a:gd name="connsiteX2" fmla="*/ 6967728 w 7934894"/>
              <a:gd name="connsiteY2" fmla="*/ 3758184 h 4143988"/>
              <a:gd name="connsiteX3" fmla="*/ 7927848 w 7934894"/>
              <a:gd name="connsiteY3" fmla="*/ 1837944 h 4143988"/>
              <a:gd name="connsiteX4" fmla="*/ 7690104 w 7934894"/>
              <a:gd name="connsiteY4" fmla="*/ 0 h 4143988"/>
              <a:gd name="connsiteX0" fmla="*/ 0 w 7928534"/>
              <a:gd name="connsiteY0" fmla="*/ 3090672 h 4143988"/>
              <a:gd name="connsiteX1" fmla="*/ 3346704 w 7928534"/>
              <a:gd name="connsiteY1" fmla="*/ 4096512 h 4143988"/>
              <a:gd name="connsiteX2" fmla="*/ 6967728 w 7928534"/>
              <a:gd name="connsiteY2" fmla="*/ 3758184 h 4143988"/>
              <a:gd name="connsiteX3" fmla="*/ 7927848 w 7928534"/>
              <a:gd name="connsiteY3" fmla="*/ 1837944 h 4143988"/>
              <a:gd name="connsiteX4" fmla="*/ 7690104 w 7928534"/>
              <a:gd name="connsiteY4" fmla="*/ 0 h 414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8534" h="4143988">
                <a:moveTo>
                  <a:pt x="0" y="3090672"/>
                </a:moveTo>
                <a:cubicBezTo>
                  <a:pt x="1435608" y="3624834"/>
                  <a:pt x="2185416" y="3985260"/>
                  <a:pt x="3346704" y="4096512"/>
                </a:cubicBezTo>
                <a:cubicBezTo>
                  <a:pt x="4507992" y="4207764"/>
                  <a:pt x="6204204" y="4134612"/>
                  <a:pt x="6967728" y="3758184"/>
                </a:cubicBezTo>
                <a:cubicBezTo>
                  <a:pt x="7731252" y="3381756"/>
                  <a:pt x="7832561" y="2549844"/>
                  <a:pt x="7927848" y="1837944"/>
                </a:cubicBezTo>
                <a:cubicBezTo>
                  <a:pt x="7941105" y="1124179"/>
                  <a:pt x="7758684" y="338328"/>
                  <a:pt x="7690104" y="0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857486" y="1706684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6765481" y="1706684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650567" y="2103225"/>
            <a:ext cx="5114914" cy="0"/>
          </a:xfrm>
          <a:prstGeom prst="straightConnector1">
            <a:avLst/>
          </a:prstGeom>
          <a:ln w="57150">
            <a:solidFill>
              <a:srgbClr val="20455A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2869345" y="123032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1534423" y="1521292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3210237" y="1400768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3408905" y="334989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1534423" y="2383621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3749797" y="2383621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4588271" y="187304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 flipV="1">
            <a:off x="4929163" y="1822828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1650567" y="2043495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5396282" y="116221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5687252" y="1453187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1534423" y="1332663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4367974" y="246059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1534423" y="2383621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4708866" y="2103225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6349052" y="138006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1534423" y="1550512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>
            <a:off x="6689944" y="1550512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6241066" y="359346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1650567" y="2103225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6411512" y="2383621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4751909" y="378041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0"/>
            <a:endCxn id="22" idx="4"/>
          </p:cNvCxnSpPr>
          <p:nvPr/>
        </p:nvCxnSpPr>
        <p:spPr>
          <a:xfrm flipH="1" flipV="1">
            <a:off x="4758717" y="2213941"/>
            <a:ext cx="163638" cy="156647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5092801" y="2383621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99FDB2-1385-4198-B454-ACEBA4E385FD}"/>
              </a:ext>
            </a:extLst>
          </p:cNvPr>
          <p:cNvSpPr/>
          <p:nvPr/>
        </p:nvSpPr>
        <p:spPr>
          <a:xfrm>
            <a:off x="352101" y="2541137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E7953-0DF4-4CE8-9869-2AEAFA733A50}"/>
              </a:ext>
            </a:extLst>
          </p:cNvPr>
          <p:cNvCxnSpPr>
            <a:cxnSpLocks/>
            <a:stCxn id="30" idx="7"/>
            <a:endCxn id="6" idx="3"/>
          </p:cNvCxnSpPr>
          <p:nvPr/>
        </p:nvCxnSpPr>
        <p:spPr>
          <a:xfrm flipV="1">
            <a:off x="746559" y="2383621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D7D0DC38-DF1B-4117-9DCC-7B9100A9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47413"/>
            <a:ext cx="10477028" cy="99385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80C81F8-ECD2-4B22-AE6D-1DE06225140C}"/>
              </a:ext>
            </a:extLst>
          </p:cNvPr>
          <p:cNvSpPr/>
          <p:nvPr/>
        </p:nvSpPr>
        <p:spPr>
          <a:xfrm>
            <a:off x="0" y="0"/>
            <a:ext cx="228535" cy="6847107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626E19F-7437-49E2-9907-63973E2A4B96}"/>
              </a:ext>
            </a:extLst>
          </p:cNvPr>
          <p:cNvSpPr/>
          <p:nvPr/>
        </p:nvSpPr>
        <p:spPr>
          <a:xfrm>
            <a:off x="0" y="23973"/>
            <a:ext cx="12183771" cy="236489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7EC11C76-3B67-4170-AA33-A45C01683B98}"/>
              </a:ext>
            </a:extLst>
          </p:cNvPr>
          <p:cNvSpPr/>
          <p:nvPr/>
        </p:nvSpPr>
        <p:spPr>
          <a:xfrm>
            <a:off x="11948297" y="-25987"/>
            <a:ext cx="228535" cy="6847107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CF833-7D1A-029C-EE13-7643FE1F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76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B60EDEFE-501A-4215-AA03-E4DAA818BA4D}"/>
              </a:ext>
            </a:extLst>
          </p:cNvPr>
          <p:cNvSpPr/>
          <p:nvPr/>
        </p:nvSpPr>
        <p:spPr>
          <a:xfrm>
            <a:off x="216436" y="220303"/>
            <a:ext cx="7934894" cy="4143988"/>
          </a:xfrm>
          <a:custGeom>
            <a:avLst/>
            <a:gdLst>
              <a:gd name="connsiteX0" fmla="*/ 0 w 8087109"/>
              <a:gd name="connsiteY0" fmla="*/ 3337560 h 4547014"/>
              <a:gd name="connsiteX1" fmla="*/ 4032504 w 8087109"/>
              <a:gd name="connsiteY1" fmla="*/ 4517136 h 4547014"/>
              <a:gd name="connsiteX2" fmla="*/ 6967728 w 8087109"/>
              <a:gd name="connsiteY2" fmla="*/ 4005072 h 4547014"/>
              <a:gd name="connsiteX3" fmla="*/ 8065008 w 8087109"/>
              <a:gd name="connsiteY3" fmla="*/ 2011680 h 4547014"/>
              <a:gd name="connsiteX4" fmla="*/ 7699248 w 8087109"/>
              <a:gd name="connsiteY4" fmla="*/ 0 h 4547014"/>
              <a:gd name="connsiteX0" fmla="*/ 0 w 8087109"/>
              <a:gd name="connsiteY0" fmla="*/ 3337560 h 4392958"/>
              <a:gd name="connsiteX1" fmla="*/ 3346704 w 8087109"/>
              <a:gd name="connsiteY1" fmla="*/ 4343400 h 4392958"/>
              <a:gd name="connsiteX2" fmla="*/ 6967728 w 8087109"/>
              <a:gd name="connsiteY2" fmla="*/ 4005072 h 4392958"/>
              <a:gd name="connsiteX3" fmla="*/ 8065008 w 8087109"/>
              <a:gd name="connsiteY3" fmla="*/ 2011680 h 4392958"/>
              <a:gd name="connsiteX4" fmla="*/ 7699248 w 8087109"/>
              <a:gd name="connsiteY4" fmla="*/ 0 h 4392958"/>
              <a:gd name="connsiteX0" fmla="*/ 0 w 7852949"/>
              <a:gd name="connsiteY0" fmla="*/ 3337560 h 4387031"/>
              <a:gd name="connsiteX1" fmla="*/ 3346704 w 7852949"/>
              <a:gd name="connsiteY1" fmla="*/ 4343400 h 4387031"/>
              <a:gd name="connsiteX2" fmla="*/ 6967728 w 7852949"/>
              <a:gd name="connsiteY2" fmla="*/ 4005072 h 4387031"/>
              <a:gd name="connsiteX3" fmla="*/ 7808976 w 7852949"/>
              <a:gd name="connsiteY3" fmla="*/ 2231136 h 4387031"/>
              <a:gd name="connsiteX4" fmla="*/ 7699248 w 7852949"/>
              <a:gd name="connsiteY4" fmla="*/ 0 h 4387031"/>
              <a:gd name="connsiteX0" fmla="*/ 0 w 7958059"/>
              <a:gd name="connsiteY0" fmla="*/ 3337560 h 4390876"/>
              <a:gd name="connsiteX1" fmla="*/ 3346704 w 7958059"/>
              <a:gd name="connsiteY1" fmla="*/ 4343400 h 4390876"/>
              <a:gd name="connsiteX2" fmla="*/ 6967728 w 7958059"/>
              <a:gd name="connsiteY2" fmla="*/ 4005072 h 4390876"/>
              <a:gd name="connsiteX3" fmla="*/ 7927848 w 7958059"/>
              <a:gd name="connsiteY3" fmla="*/ 2084832 h 4390876"/>
              <a:gd name="connsiteX4" fmla="*/ 7699248 w 7958059"/>
              <a:gd name="connsiteY4" fmla="*/ 0 h 4390876"/>
              <a:gd name="connsiteX0" fmla="*/ 0 w 7935154"/>
              <a:gd name="connsiteY0" fmla="*/ 3337560 h 4390876"/>
              <a:gd name="connsiteX1" fmla="*/ 3346704 w 7935154"/>
              <a:gd name="connsiteY1" fmla="*/ 4343400 h 4390876"/>
              <a:gd name="connsiteX2" fmla="*/ 6967728 w 7935154"/>
              <a:gd name="connsiteY2" fmla="*/ 4005072 h 4390876"/>
              <a:gd name="connsiteX3" fmla="*/ 7927848 w 7935154"/>
              <a:gd name="connsiteY3" fmla="*/ 2084832 h 4390876"/>
              <a:gd name="connsiteX4" fmla="*/ 7699248 w 7935154"/>
              <a:gd name="connsiteY4" fmla="*/ 0 h 4390876"/>
              <a:gd name="connsiteX0" fmla="*/ 0 w 7934894"/>
              <a:gd name="connsiteY0" fmla="*/ 3090672 h 4143988"/>
              <a:gd name="connsiteX1" fmla="*/ 3346704 w 7934894"/>
              <a:gd name="connsiteY1" fmla="*/ 4096512 h 4143988"/>
              <a:gd name="connsiteX2" fmla="*/ 6967728 w 7934894"/>
              <a:gd name="connsiteY2" fmla="*/ 3758184 h 4143988"/>
              <a:gd name="connsiteX3" fmla="*/ 7927848 w 7934894"/>
              <a:gd name="connsiteY3" fmla="*/ 1837944 h 4143988"/>
              <a:gd name="connsiteX4" fmla="*/ 7690104 w 7934894"/>
              <a:gd name="connsiteY4" fmla="*/ 0 h 414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4894" h="4143988">
                <a:moveTo>
                  <a:pt x="0" y="3090672"/>
                </a:moveTo>
                <a:cubicBezTo>
                  <a:pt x="1435608" y="3624834"/>
                  <a:pt x="2185416" y="3985260"/>
                  <a:pt x="3346704" y="4096512"/>
                </a:cubicBezTo>
                <a:cubicBezTo>
                  <a:pt x="4507992" y="4207764"/>
                  <a:pt x="6204204" y="4134612"/>
                  <a:pt x="6967728" y="3758184"/>
                </a:cubicBezTo>
                <a:cubicBezTo>
                  <a:pt x="7731252" y="3381756"/>
                  <a:pt x="7805928" y="2505456"/>
                  <a:pt x="7927848" y="1837944"/>
                </a:cubicBezTo>
                <a:cubicBezTo>
                  <a:pt x="7976616" y="1106424"/>
                  <a:pt x="7758684" y="338328"/>
                  <a:pt x="7690104" y="0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45CF0286-4981-4A50-89AF-75373C1A4992}"/>
              </a:ext>
            </a:extLst>
          </p:cNvPr>
          <p:cNvSpPr/>
          <p:nvPr/>
        </p:nvSpPr>
        <p:spPr>
          <a:xfrm>
            <a:off x="228599" y="4484236"/>
            <a:ext cx="4593249" cy="2145164"/>
          </a:xfrm>
          <a:custGeom>
            <a:avLst/>
            <a:gdLst>
              <a:gd name="connsiteX0" fmla="*/ 0 w 4371812"/>
              <a:gd name="connsiteY0" fmla="*/ 23756 h 2145164"/>
              <a:gd name="connsiteX1" fmla="*/ 1499616 w 4371812"/>
              <a:gd name="connsiteY1" fmla="*/ 23756 h 2145164"/>
              <a:gd name="connsiteX2" fmla="*/ 3264408 w 4371812"/>
              <a:gd name="connsiteY2" fmla="*/ 270644 h 2145164"/>
              <a:gd name="connsiteX3" fmla="*/ 4096512 w 4371812"/>
              <a:gd name="connsiteY3" fmla="*/ 654692 h 2145164"/>
              <a:gd name="connsiteX4" fmla="*/ 4370832 w 4371812"/>
              <a:gd name="connsiteY4" fmla="*/ 1495940 h 2145164"/>
              <a:gd name="connsiteX5" fmla="*/ 4023360 w 4371812"/>
              <a:gd name="connsiteY5" fmla="*/ 2145164 h 2145164"/>
              <a:gd name="connsiteX0" fmla="*/ 0 w 4376238"/>
              <a:gd name="connsiteY0" fmla="*/ 23756 h 2145164"/>
              <a:gd name="connsiteX1" fmla="*/ 1499616 w 4376238"/>
              <a:gd name="connsiteY1" fmla="*/ 23756 h 2145164"/>
              <a:gd name="connsiteX2" fmla="*/ 3264408 w 4376238"/>
              <a:gd name="connsiteY2" fmla="*/ 270644 h 2145164"/>
              <a:gd name="connsiteX3" fmla="*/ 4206240 w 4376238"/>
              <a:gd name="connsiteY3" fmla="*/ 746132 h 2145164"/>
              <a:gd name="connsiteX4" fmla="*/ 4370832 w 4376238"/>
              <a:gd name="connsiteY4" fmla="*/ 1495940 h 2145164"/>
              <a:gd name="connsiteX5" fmla="*/ 4023360 w 4376238"/>
              <a:gd name="connsiteY5" fmla="*/ 2145164 h 2145164"/>
              <a:gd name="connsiteX0" fmla="*/ 0 w 4975289"/>
              <a:gd name="connsiteY0" fmla="*/ 23756 h 2145164"/>
              <a:gd name="connsiteX1" fmla="*/ 1499616 w 4975289"/>
              <a:gd name="connsiteY1" fmla="*/ 23756 h 2145164"/>
              <a:gd name="connsiteX2" fmla="*/ 3264408 w 4975289"/>
              <a:gd name="connsiteY2" fmla="*/ 270644 h 2145164"/>
              <a:gd name="connsiteX3" fmla="*/ 4206240 w 4975289"/>
              <a:gd name="connsiteY3" fmla="*/ 746132 h 2145164"/>
              <a:gd name="connsiteX4" fmla="*/ 4974336 w 4975289"/>
              <a:gd name="connsiteY4" fmla="*/ 938156 h 2145164"/>
              <a:gd name="connsiteX5" fmla="*/ 4370832 w 4975289"/>
              <a:gd name="connsiteY5" fmla="*/ 1495940 h 2145164"/>
              <a:gd name="connsiteX6" fmla="*/ 4023360 w 4975289"/>
              <a:gd name="connsiteY6" fmla="*/ 2145164 h 2145164"/>
              <a:gd name="connsiteX0" fmla="*/ 0 w 5007303"/>
              <a:gd name="connsiteY0" fmla="*/ 23756 h 2145164"/>
              <a:gd name="connsiteX1" fmla="*/ 1499616 w 5007303"/>
              <a:gd name="connsiteY1" fmla="*/ 23756 h 2145164"/>
              <a:gd name="connsiteX2" fmla="*/ 3264408 w 5007303"/>
              <a:gd name="connsiteY2" fmla="*/ 270644 h 2145164"/>
              <a:gd name="connsiteX3" fmla="*/ 4206240 w 5007303"/>
              <a:gd name="connsiteY3" fmla="*/ 746132 h 2145164"/>
              <a:gd name="connsiteX4" fmla="*/ 4974336 w 5007303"/>
              <a:gd name="connsiteY4" fmla="*/ 938156 h 2145164"/>
              <a:gd name="connsiteX5" fmla="*/ 4974336 w 5007303"/>
              <a:gd name="connsiteY5" fmla="*/ 1669676 h 2145164"/>
              <a:gd name="connsiteX6" fmla="*/ 4023360 w 5007303"/>
              <a:gd name="connsiteY6" fmla="*/ 2145164 h 2145164"/>
              <a:gd name="connsiteX0" fmla="*/ 0 w 5007303"/>
              <a:gd name="connsiteY0" fmla="*/ 23756 h 2145164"/>
              <a:gd name="connsiteX1" fmla="*/ 1499616 w 5007303"/>
              <a:gd name="connsiteY1" fmla="*/ 23756 h 2145164"/>
              <a:gd name="connsiteX2" fmla="*/ 3264408 w 5007303"/>
              <a:gd name="connsiteY2" fmla="*/ 270644 h 2145164"/>
              <a:gd name="connsiteX3" fmla="*/ 4187952 w 5007303"/>
              <a:gd name="connsiteY3" fmla="*/ 471812 h 2145164"/>
              <a:gd name="connsiteX4" fmla="*/ 4974336 w 5007303"/>
              <a:gd name="connsiteY4" fmla="*/ 938156 h 2145164"/>
              <a:gd name="connsiteX5" fmla="*/ 4974336 w 5007303"/>
              <a:gd name="connsiteY5" fmla="*/ 1669676 h 2145164"/>
              <a:gd name="connsiteX6" fmla="*/ 4023360 w 5007303"/>
              <a:gd name="connsiteY6" fmla="*/ 2145164 h 2145164"/>
              <a:gd name="connsiteX0" fmla="*/ 0 w 4982499"/>
              <a:gd name="connsiteY0" fmla="*/ 23756 h 2145164"/>
              <a:gd name="connsiteX1" fmla="*/ 1499616 w 4982499"/>
              <a:gd name="connsiteY1" fmla="*/ 23756 h 2145164"/>
              <a:gd name="connsiteX2" fmla="*/ 3264408 w 4982499"/>
              <a:gd name="connsiteY2" fmla="*/ 270644 h 2145164"/>
              <a:gd name="connsiteX3" fmla="*/ 4187952 w 4982499"/>
              <a:gd name="connsiteY3" fmla="*/ 471812 h 2145164"/>
              <a:gd name="connsiteX4" fmla="*/ 4736592 w 4982499"/>
              <a:gd name="connsiteY4" fmla="*/ 993020 h 2145164"/>
              <a:gd name="connsiteX5" fmla="*/ 4974336 w 4982499"/>
              <a:gd name="connsiteY5" fmla="*/ 1669676 h 2145164"/>
              <a:gd name="connsiteX6" fmla="*/ 4023360 w 4982499"/>
              <a:gd name="connsiteY6" fmla="*/ 2145164 h 2145164"/>
              <a:gd name="connsiteX0" fmla="*/ 0 w 4741739"/>
              <a:gd name="connsiteY0" fmla="*/ 23756 h 2145164"/>
              <a:gd name="connsiteX1" fmla="*/ 1499616 w 4741739"/>
              <a:gd name="connsiteY1" fmla="*/ 23756 h 2145164"/>
              <a:gd name="connsiteX2" fmla="*/ 3264408 w 4741739"/>
              <a:gd name="connsiteY2" fmla="*/ 270644 h 2145164"/>
              <a:gd name="connsiteX3" fmla="*/ 4187952 w 4741739"/>
              <a:gd name="connsiteY3" fmla="*/ 471812 h 2145164"/>
              <a:gd name="connsiteX4" fmla="*/ 4736592 w 4741739"/>
              <a:gd name="connsiteY4" fmla="*/ 993020 h 2145164"/>
              <a:gd name="connsiteX5" fmla="*/ 4617720 w 4741739"/>
              <a:gd name="connsiteY5" fmla="*/ 1505084 h 2145164"/>
              <a:gd name="connsiteX6" fmla="*/ 4023360 w 4741739"/>
              <a:gd name="connsiteY6" fmla="*/ 2145164 h 2145164"/>
              <a:gd name="connsiteX0" fmla="*/ 0 w 4738270"/>
              <a:gd name="connsiteY0" fmla="*/ 23756 h 2145164"/>
              <a:gd name="connsiteX1" fmla="*/ 1499616 w 4738270"/>
              <a:gd name="connsiteY1" fmla="*/ 23756 h 2145164"/>
              <a:gd name="connsiteX2" fmla="*/ 3264408 w 4738270"/>
              <a:gd name="connsiteY2" fmla="*/ 270644 h 2145164"/>
              <a:gd name="connsiteX3" fmla="*/ 4187952 w 4738270"/>
              <a:gd name="connsiteY3" fmla="*/ 471812 h 2145164"/>
              <a:gd name="connsiteX4" fmla="*/ 4736592 w 4738270"/>
              <a:gd name="connsiteY4" fmla="*/ 993020 h 2145164"/>
              <a:gd name="connsiteX5" fmla="*/ 4389120 w 4738270"/>
              <a:gd name="connsiteY5" fmla="*/ 1550804 h 2145164"/>
              <a:gd name="connsiteX6" fmla="*/ 4023360 w 4738270"/>
              <a:gd name="connsiteY6" fmla="*/ 2145164 h 2145164"/>
              <a:gd name="connsiteX0" fmla="*/ 0 w 4738270"/>
              <a:gd name="connsiteY0" fmla="*/ 23756 h 2145164"/>
              <a:gd name="connsiteX1" fmla="*/ 1499616 w 4738270"/>
              <a:gd name="connsiteY1" fmla="*/ 23756 h 2145164"/>
              <a:gd name="connsiteX2" fmla="*/ 3264408 w 4738270"/>
              <a:gd name="connsiteY2" fmla="*/ 270644 h 2145164"/>
              <a:gd name="connsiteX3" fmla="*/ 4187952 w 4738270"/>
              <a:gd name="connsiteY3" fmla="*/ 471812 h 2145164"/>
              <a:gd name="connsiteX4" fmla="*/ 4736592 w 4738270"/>
              <a:gd name="connsiteY4" fmla="*/ 993020 h 2145164"/>
              <a:gd name="connsiteX5" fmla="*/ 4389120 w 4738270"/>
              <a:gd name="connsiteY5" fmla="*/ 1550804 h 2145164"/>
              <a:gd name="connsiteX6" fmla="*/ 4023360 w 4738270"/>
              <a:gd name="connsiteY6" fmla="*/ 2145164 h 2145164"/>
              <a:gd name="connsiteX0" fmla="*/ 0 w 4593249"/>
              <a:gd name="connsiteY0" fmla="*/ 23756 h 2145164"/>
              <a:gd name="connsiteX1" fmla="*/ 1499616 w 4593249"/>
              <a:gd name="connsiteY1" fmla="*/ 23756 h 2145164"/>
              <a:gd name="connsiteX2" fmla="*/ 3264408 w 4593249"/>
              <a:gd name="connsiteY2" fmla="*/ 270644 h 2145164"/>
              <a:gd name="connsiteX3" fmla="*/ 4187952 w 4593249"/>
              <a:gd name="connsiteY3" fmla="*/ 471812 h 2145164"/>
              <a:gd name="connsiteX4" fmla="*/ 4590288 w 4593249"/>
              <a:gd name="connsiteY4" fmla="*/ 1002164 h 2145164"/>
              <a:gd name="connsiteX5" fmla="*/ 4389120 w 4593249"/>
              <a:gd name="connsiteY5" fmla="*/ 1550804 h 2145164"/>
              <a:gd name="connsiteX6" fmla="*/ 4023360 w 4593249"/>
              <a:gd name="connsiteY6" fmla="*/ 2145164 h 214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3249" h="2145164">
                <a:moveTo>
                  <a:pt x="0" y="23756"/>
                </a:moveTo>
                <a:cubicBezTo>
                  <a:pt x="477774" y="3182"/>
                  <a:pt x="955548" y="-17392"/>
                  <a:pt x="1499616" y="23756"/>
                </a:cubicBezTo>
                <a:cubicBezTo>
                  <a:pt x="2043684" y="64904"/>
                  <a:pt x="2816352" y="195968"/>
                  <a:pt x="3264408" y="270644"/>
                </a:cubicBezTo>
                <a:cubicBezTo>
                  <a:pt x="3712464" y="345320"/>
                  <a:pt x="3966972" y="349892"/>
                  <a:pt x="4187952" y="471812"/>
                </a:cubicBezTo>
                <a:cubicBezTo>
                  <a:pt x="4408932" y="593732"/>
                  <a:pt x="4562856" y="877196"/>
                  <a:pt x="4590288" y="1002164"/>
                </a:cubicBezTo>
                <a:cubicBezTo>
                  <a:pt x="4617720" y="1127132"/>
                  <a:pt x="4447032" y="1427360"/>
                  <a:pt x="4389120" y="1550804"/>
                </a:cubicBezTo>
                <a:cubicBezTo>
                  <a:pt x="4276344" y="1835792"/>
                  <a:pt x="4055364" y="2038484"/>
                  <a:pt x="4023360" y="2145164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EC5AE579-3435-42A3-AF39-AA1186264202}"/>
              </a:ext>
            </a:extLst>
          </p:cNvPr>
          <p:cNvSpPr/>
          <p:nvPr/>
        </p:nvSpPr>
        <p:spPr>
          <a:xfrm>
            <a:off x="5040951" y="4063187"/>
            <a:ext cx="6916150" cy="2557069"/>
          </a:xfrm>
          <a:custGeom>
            <a:avLst/>
            <a:gdLst>
              <a:gd name="connsiteX0" fmla="*/ 6537 w 6916150"/>
              <a:gd name="connsiteY0" fmla="*/ 2557069 h 2557069"/>
              <a:gd name="connsiteX1" fmla="*/ 171129 w 6916150"/>
              <a:gd name="connsiteY1" fmla="*/ 1642669 h 2557069"/>
              <a:gd name="connsiteX2" fmla="*/ 1149537 w 6916150"/>
              <a:gd name="connsiteY2" fmla="*/ 801421 h 2557069"/>
              <a:gd name="connsiteX3" fmla="*/ 3216081 w 6916150"/>
              <a:gd name="connsiteY3" fmla="*/ 289357 h 2557069"/>
              <a:gd name="connsiteX4" fmla="*/ 5209473 w 6916150"/>
              <a:gd name="connsiteY4" fmla="*/ 15037 h 2557069"/>
              <a:gd name="connsiteX5" fmla="*/ 6654225 w 6916150"/>
              <a:gd name="connsiteY5" fmla="*/ 42469 h 2557069"/>
              <a:gd name="connsiteX6" fmla="*/ 6910257 w 6916150"/>
              <a:gd name="connsiteY6" fmla="*/ 97333 h 255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16150" h="2557069">
                <a:moveTo>
                  <a:pt x="6537" y="2557069"/>
                </a:moveTo>
                <a:cubicBezTo>
                  <a:pt x="-6417" y="2246173"/>
                  <a:pt x="-19371" y="1935277"/>
                  <a:pt x="171129" y="1642669"/>
                </a:cubicBezTo>
                <a:cubicBezTo>
                  <a:pt x="361629" y="1350061"/>
                  <a:pt x="642045" y="1026973"/>
                  <a:pt x="1149537" y="801421"/>
                </a:cubicBezTo>
                <a:cubicBezTo>
                  <a:pt x="1657029" y="575869"/>
                  <a:pt x="2539425" y="420421"/>
                  <a:pt x="3216081" y="289357"/>
                </a:cubicBezTo>
                <a:cubicBezTo>
                  <a:pt x="3892737" y="158293"/>
                  <a:pt x="4636449" y="56185"/>
                  <a:pt x="5209473" y="15037"/>
                </a:cubicBezTo>
                <a:cubicBezTo>
                  <a:pt x="5782497" y="-26111"/>
                  <a:pt x="6370761" y="28753"/>
                  <a:pt x="6654225" y="42469"/>
                </a:cubicBezTo>
                <a:cubicBezTo>
                  <a:pt x="6937689" y="56185"/>
                  <a:pt x="6923973" y="76759"/>
                  <a:pt x="6910257" y="97333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85C1628-A4C6-47FF-8631-6FD0A19057C1}"/>
              </a:ext>
            </a:extLst>
          </p:cNvPr>
          <p:cNvSpPr/>
          <p:nvPr/>
        </p:nvSpPr>
        <p:spPr>
          <a:xfrm>
            <a:off x="8394009" y="265176"/>
            <a:ext cx="3575487" cy="3822192"/>
          </a:xfrm>
          <a:custGeom>
            <a:avLst/>
            <a:gdLst>
              <a:gd name="connsiteX0" fmla="*/ 2286183 w 3575487"/>
              <a:gd name="connsiteY0" fmla="*/ 0 h 3822192"/>
              <a:gd name="connsiteX1" fmla="*/ 1755831 w 3575487"/>
              <a:gd name="connsiteY1" fmla="*/ 493776 h 3822192"/>
              <a:gd name="connsiteX2" fmla="*/ 722559 w 3575487"/>
              <a:gd name="connsiteY2" fmla="*/ 1645920 h 3822192"/>
              <a:gd name="connsiteX3" fmla="*/ 36759 w 3575487"/>
              <a:gd name="connsiteY3" fmla="*/ 2660904 h 3822192"/>
              <a:gd name="connsiteX4" fmla="*/ 247071 w 3575487"/>
              <a:gd name="connsiteY4" fmla="*/ 3218688 h 3822192"/>
              <a:gd name="connsiteX5" fmla="*/ 1536375 w 3575487"/>
              <a:gd name="connsiteY5" fmla="*/ 3538728 h 3822192"/>
              <a:gd name="connsiteX6" fmla="*/ 3575487 w 3575487"/>
              <a:gd name="connsiteY6" fmla="*/ 3822192 h 382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75487" h="3822192">
                <a:moveTo>
                  <a:pt x="2286183" y="0"/>
                </a:moveTo>
                <a:cubicBezTo>
                  <a:pt x="2151309" y="109728"/>
                  <a:pt x="2016435" y="219456"/>
                  <a:pt x="1755831" y="493776"/>
                </a:cubicBezTo>
                <a:cubicBezTo>
                  <a:pt x="1495227" y="768096"/>
                  <a:pt x="1009071" y="1284732"/>
                  <a:pt x="722559" y="1645920"/>
                </a:cubicBezTo>
                <a:cubicBezTo>
                  <a:pt x="436047" y="2007108"/>
                  <a:pt x="116007" y="2398776"/>
                  <a:pt x="36759" y="2660904"/>
                </a:cubicBezTo>
                <a:cubicBezTo>
                  <a:pt x="-42489" y="2923032"/>
                  <a:pt x="-2865" y="3072384"/>
                  <a:pt x="247071" y="3218688"/>
                </a:cubicBezTo>
                <a:cubicBezTo>
                  <a:pt x="497007" y="3364992"/>
                  <a:pt x="981639" y="3438144"/>
                  <a:pt x="1536375" y="3538728"/>
                </a:cubicBezTo>
                <a:cubicBezTo>
                  <a:pt x="2091111" y="3639312"/>
                  <a:pt x="3214299" y="3774948"/>
                  <a:pt x="3575487" y="3822192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857486" y="1706684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6765481" y="1706684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650567" y="2103225"/>
            <a:ext cx="5114914" cy="0"/>
          </a:xfrm>
          <a:prstGeom prst="straightConnector1">
            <a:avLst/>
          </a:prstGeom>
          <a:ln w="57150">
            <a:solidFill>
              <a:srgbClr val="20455A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2869345" y="123032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1534423" y="1521292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3210237" y="1400768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3408905" y="334989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1534423" y="2383621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3749797" y="2383621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4588271" y="187304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 flipV="1">
            <a:off x="4929163" y="1822828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1650567" y="2043495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5396282" y="116221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5687252" y="1453187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1534423" y="1332663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4367974" y="246059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1534423" y="2383621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4708866" y="2103225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6349052" y="138006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1534423" y="1550512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>
            <a:off x="6689944" y="1550512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6241066" y="359346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1650567" y="2103225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6411512" y="2383621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4751909" y="378041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0"/>
            <a:endCxn id="22" idx="4"/>
          </p:cNvCxnSpPr>
          <p:nvPr/>
        </p:nvCxnSpPr>
        <p:spPr>
          <a:xfrm flipH="1" flipV="1">
            <a:off x="4758717" y="2213941"/>
            <a:ext cx="163638" cy="156647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5092801" y="2383621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99FDB2-1385-4198-B454-ACEBA4E385FD}"/>
              </a:ext>
            </a:extLst>
          </p:cNvPr>
          <p:cNvSpPr/>
          <p:nvPr/>
        </p:nvSpPr>
        <p:spPr>
          <a:xfrm>
            <a:off x="352101" y="2541137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E7953-0DF4-4CE8-9869-2AEAFA733A50}"/>
              </a:ext>
            </a:extLst>
          </p:cNvPr>
          <p:cNvCxnSpPr>
            <a:cxnSpLocks/>
            <a:stCxn id="30" idx="7"/>
            <a:endCxn id="6" idx="3"/>
          </p:cNvCxnSpPr>
          <p:nvPr/>
        </p:nvCxnSpPr>
        <p:spPr>
          <a:xfrm flipV="1">
            <a:off x="746559" y="2383621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F3D596-D258-441B-9E96-DB2835CC3558}"/>
              </a:ext>
            </a:extLst>
          </p:cNvPr>
          <p:cNvSpPr/>
          <p:nvPr/>
        </p:nvSpPr>
        <p:spPr>
          <a:xfrm>
            <a:off x="5887464" y="5081393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471266D-D862-456C-8B46-B6B861785A57}"/>
              </a:ext>
            </a:extLst>
          </p:cNvPr>
          <p:cNvSpPr/>
          <p:nvPr/>
        </p:nvSpPr>
        <p:spPr>
          <a:xfrm>
            <a:off x="11795459" y="5081393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08FC08F-89BD-480A-9A71-334473D32CB3}"/>
              </a:ext>
            </a:extLst>
          </p:cNvPr>
          <p:cNvCxnSpPr>
            <a:cxnSpLocks/>
            <a:stCxn id="103" idx="6"/>
            <a:endCxn id="104" idx="2"/>
          </p:cNvCxnSpPr>
          <p:nvPr/>
        </p:nvCxnSpPr>
        <p:spPr>
          <a:xfrm>
            <a:off x="6680545" y="5477934"/>
            <a:ext cx="5114914" cy="0"/>
          </a:xfrm>
          <a:prstGeom prst="straightConnector1">
            <a:avLst/>
          </a:prstGeom>
          <a:ln w="57150">
            <a:solidFill>
              <a:srgbClr val="20455A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D3739CE4-686A-4102-B34D-936E0696CABE}"/>
              </a:ext>
            </a:extLst>
          </p:cNvPr>
          <p:cNvSpPr/>
          <p:nvPr/>
        </p:nvSpPr>
        <p:spPr>
          <a:xfrm>
            <a:off x="8223563" y="4634251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B05E9EA-5B0F-4402-A498-69A4E89E69C2}"/>
              </a:ext>
            </a:extLst>
          </p:cNvPr>
          <p:cNvCxnSpPr>
            <a:cxnSpLocks/>
            <a:stCxn id="106" idx="3"/>
            <a:endCxn id="103" idx="7"/>
          </p:cNvCxnSpPr>
          <p:nvPr/>
        </p:nvCxnSpPr>
        <p:spPr>
          <a:xfrm flipH="1">
            <a:off x="6564401" y="4925221"/>
            <a:ext cx="170908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B0F16CE-A5F7-45D4-A655-BCAC7C89FB08}"/>
              </a:ext>
            </a:extLst>
          </p:cNvPr>
          <p:cNvCxnSpPr>
            <a:cxnSpLocks/>
            <a:stCxn id="106" idx="6"/>
            <a:endCxn id="104" idx="1"/>
          </p:cNvCxnSpPr>
          <p:nvPr/>
        </p:nvCxnSpPr>
        <p:spPr>
          <a:xfrm>
            <a:off x="8564455" y="4804697"/>
            <a:ext cx="3347148" cy="39284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BEFC90D1-FEE7-4606-89DD-3657C78300AC}"/>
              </a:ext>
            </a:extLst>
          </p:cNvPr>
          <p:cNvSpPr/>
          <p:nvPr/>
        </p:nvSpPr>
        <p:spPr>
          <a:xfrm>
            <a:off x="8438883" y="672460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9E9EECA-A2EE-4F90-BCFC-2E9F0FBA72A8}"/>
              </a:ext>
            </a:extLst>
          </p:cNvPr>
          <p:cNvCxnSpPr>
            <a:cxnSpLocks/>
            <a:stCxn id="109" idx="2"/>
            <a:endCxn id="103" idx="5"/>
          </p:cNvCxnSpPr>
          <p:nvPr/>
        </p:nvCxnSpPr>
        <p:spPr>
          <a:xfrm flipH="1" flipV="1">
            <a:off x="6564401" y="5758330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290FF6B-ECC3-4AB0-89B0-FD4F666E7D68}"/>
              </a:ext>
            </a:extLst>
          </p:cNvPr>
          <p:cNvCxnSpPr>
            <a:cxnSpLocks/>
            <a:stCxn id="109" idx="6"/>
            <a:endCxn id="104" idx="3"/>
          </p:cNvCxnSpPr>
          <p:nvPr/>
        </p:nvCxnSpPr>
        <p:spPr>
          <a:xfrm flipV="1">
            <a:off x="8779775" y="5758330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6619320F-28B7-4427-B999-06A5B1E17720}"/>
              </a:ext>
            </a:extLst>
          </p:cNvPr>
          <p:cNvSpPr/>
          <p:nvPr/>
        </p:nvSpPr>
        <p:spPr>
          <a:xfrm>
            <a:off x="9618249" y="524775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12DB368-1744-4D4D-B547-187567029C31}"/>
              </a:ext>
            </a:extLst>
          </p:cNvPr>
          <p:cNvCxnSpPr>
            <a:cxnSpLocks/>
            <a:stCxn id="112" idx="6"/>
            <a:endCxn id="104" idx="1"/>
          </p:cNvCxnSpPr>
          <p:nvPr/>
        </p:nvCxnSpPr>
        <p:spPr>
          <a:xfrm flipV="1">
            <a:off x="9959141" y="5197537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2EB5CCB-4556-48A5-99A7-8EA7FE971741}"/>
              </a:ext>
            </a:extLst>
          </p:cNvPr>
          <p:cNvCxnSpPr>
            <a:cxnSpLocks/>
            <a:stCxn id="112" idx="2"/>
            <a:endCxn id="103" idx="6"/>
          </p:cNvCxnSpPr>
          <p:nvPr/>
        </p:nvCxnSpPr>
        <p:spPr>
          <a:xfrm flipH="1">
            <a:off x="6680545" y="5418204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3AC0333D-852E-419E-8889-62EEA53ADE00}"/>
              </a:ext>
            </a:extLst>
          </p:cNvPr>
          <p:cNvSpPr/>
          <p:nvPr/>
        </p:nvSpPr>
        <p:spPr>
          <a:xfrm>
            <a:off x="10426260" y="453692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627FC32-5F50-4EC0-AFC8-076F41238E0B}"/>
              </a:ext>
            </a:extLst>
          </p:cNvPr>
          <p:cNvCxnSpPr>
            <a:cxnSpLocks/>
            <a:stCxn id="115" idx="5"/>
            <a:endCxn id="104" idx="0"/>
          </p:cNvCxnSpPr>
          <p:nvPr/>
        </p:nvCxnSpPr>
        <p:spPr>
          <a:xfrm>
            <a:off x="10717230" y="4827896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24E1582-A255-43DA-8BCE-859542FAEEE2}"/>
              </a:ext>
            </a:extLst>
          </p:cNvPr>
          <p:cNvCxnSpPr>
            <a:cxnSpLocks/>
            <a:stCxn id="115" idx="2"/>
            <a:endCxn id="103" idx="7"/>
          </p:cNvCxnSpPr>
          <p:nvPr/>
        </p:nvCxnSpPr>
        <p:spPr>
          <a:xfrm flipH="1">
            <a:off x="6564401" y="4707372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E0DE3C9F-5B81-4F84-B856-7CCC033C45E8}"/>
              </a:ext>
            </a:extLst>
          </p:cNvPr>
          <p:cNvSpPr/>
          <p:nvPr/>
        </p:nvSpPr>
        <p:spPr>
          <a:xfrm>
            <a:off x="9397952" y="583530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AEBE931-4015-4C88-AE1A-78635D500FDC}"/>
              </a:ext>
            </a:extLst>
          </p:cNvPr>
          <p:cNvCxnSpPr>
            <a:cxnSpLocks/>
            <a:stCxn id="118" idx="2"/>
            <a:endCxn id="103" idx="5"/>
          </p:cNvCxnSpPr>
          <p:nvPr/>
        </p:nvCxnSpPr>
        <p:spPr>
          <a:xfrm flipH="1" flipV="1">
            <a:off x="6564401" y="5758330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A4A5DC8-0FA8-4E01-9185-5B96B4AF4824}"/>
              </a:ext>
            </a:extLst>
          </p:cNvPr>
          <p:cNvCxnSpPr>
            <a:cxnSpLocks/>
            <a:stCxn id="118" idx="6"/>
            <a:endCxn id="104" idx="2"/>
          </p:cNvCxnSpPr>
          <p:nvPr/>
        </p:nvCxnSpPr>
        <p:spPr>
          <a:xfrm flipV="1">
            <a:off x="9738844" y="5477934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563F1F86-8653-43B6-90CC-5F082BB11010}"/>
              </a:ext>
            </a:extLst>
          </p:cNvPr>
          <p:cNvSpPr/>
          <p:nvPr/>
        </p:nvSpPr>
        <p:spPr>
          <a:xfrm>
            <a:off x="11379030" y="475477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5E2ABF2-CE34-4490-9B75-431333A7D1CA}"/>
              </a:ext>
            </a:extLst>
          </p:cNvPr>
          <p:cNvCxnSpPr>
            <a:cxnSpLocks/>
            <a:stCxn id="121" idx="2"/>
            <a:endCxn id="103" idx="7"/>
          </p:cNvCxnSpPr>
          <p:nvPr/>
        </p:nvCxnSpPr>
        <p:spPr>
          <a:xfrm flipH="1">
            <a:off x="6564401" y="4925221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1C95D4B-8E3F-42B3-887E-BD69FDE24D12}"/>
              </a:ext>
            </a:extLst>
          </p:cNvPr>
          <p:cNvCxnSpPr>
            <a:cxnSpLocks/>
            <a:stCxn id="121" idx="6"/>
            <a:endCxn id="104" idx="7"/>
          </p:cNvCxnSpPr>
          <p:nvPr/>
        </p:nvCxnSpPr>
        <p:spPr>
          <a:xfrm>
            <a:off x="11719922" y="4925221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6ADE074E-D722-4908-8E42-65AC0EA05CD7}"/>
              </a:ext>
            </a:extLst>
          </p:cNvPr>
          <p:cNvSpPr/>
          <p:nvPr/>
        </p:nvSpPr>
        <p:spPr>
          <a:xfrm>
            <a:off x="11271044" y="6968174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A8ACF4A-8DE2-4341-9572-F835F52BF060}"/>
              </a:ext>
            </a:extLst>
          </p:cNvPr>
          <p:cNvCxnSpPr>
            <a:cxnSpLocks/>
            <a:stCxn id="124" idx="2"/>
            <a:endCxn id="103" idx="6"/>
          </p:cNvCxnSpPr>
          <p:nvPr/>
        </p:nvCxnSpPr>
        <p:spPr>
          <a:xfrm flipH="1" flipV="1">
            <a:off x="6680545" y="5477934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ABEE223-D77F-400D-9B86-AA6AA1315804}"/>
              </a:ext>
            </a:extLst>
          </p:cNvPr>
          <p:cNvCxnSpPr>
            <a:cxnSpLocks/>
            <a:stCxn id="124" idx="0"/>
            <a:endCxn id="104" idx="5"/>
          </p:cNvCxnSpPr>
          <p:nvPr/>
        </p:nvCxnSpPr>
        <p:spPr>
          <a:xfrm flipV="1">
            <a:off x="11441490" y="5758330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0B853CE3-6D8A-4F53-B141-E75B3E18BE65}"/>
              </a:ext>
            </a:extLst>
          </p:cNvPr>
          <p:cNvSpPr/>
          <p:nvPr/>
        </p:nvSpPr>
        <p:spPr>
          <a:xfrm>
            <a:off x="9781887" y="7155121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962F9DC-0C64-4BA6-8942-EADE5B43B7B7}"/>
              </a:ext>
            </a:extLst>
          </p:cNvPr>
          <p:cNvCxnSpPr>
            <a:cxnSpLocks/>
            <a:stCxn id="127" idx="2"/>
            <a:endCxn id="112" idx="5"/>
          </p:cNvCxnSpPr>
          <p:nvPr/>
        </p:nvCxnSpPr>
        <p:spPr>
          <a:xfrm flipV="1">
            <a:off x="9781887" y="5538728"/>
            <a:ext cx="127332" cy="178683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E6C945B-4C52-4814-9D9E-9CB9D1D54677}"/>
              </a:ext>
            </a:extLst>
          </p:cNvPr>
          <p:cNvCxnSpPr>
            <a:cxnSpLocks/>
            <a:stCxn id="127" idx="6"/>
            <a:endCxn id="104" idx="3"/>
          </p:cNvCxnSpPr>
          <p:nvPr/>
        </p:nvCxnSpPr>
        <p:spPr>
          <a:xfrm flipV="1">
            <a:off x="10122779" y="5758330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C0C267A2-3020-488F-AE98-96B190BE5A59}"/>
              </a:ext>
            </a:extLst>
          </p:cNvPr>
          <p:cNvSpPr/>
          <p:nvPr/>
        </p:nvSpPr>
        <p:spPr>
          <a:xfrm>
            <a:off x="5382079" y="5915846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3BAC3CB-A6F5-4896-A518-5C94B2AA9C98}"/>
              </a:ext>
            </a:extLst>
          </p:cNvPr>
          <p:cNvCxnSpPr>
            <a:cxnSpLocks/>
            <a:stCxn id="130" idx="7"/>
            <a:endCxn id="103" idx="3"/>
          </p:cNvCxnSpPr>
          <p:nvPr/>
        </p:nvCxnSpPr>
        <p:spPr>
          <a:xfrm flipV="1">
            <a:off x="5776537" y="5758330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4C8938CB-925E-4E92-AC46-86FF001F8292}"/>
              </a:ext>
            </a:extLst>
          </p:cNvPr>
          <p:cNvSpPr/>
          <p:nvPr/>
        </p:nvSpPr>
        <p:spPr>
          <a:xfrm>
            <a:off x="-2870371" y="5277014"/>
            <a:ext cx="793081" cy="793081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9E46F6D6-9578-4CC9-A776-600AA70A880F}"/>
              </a:ext>
            </a:extLst>
          </p:cNvPr>
          <p:cNvSpPr/>
          <p:nvPr/>
        </p:nvSpPr>
        <p:spPr>
          <a:xfrm>
            <a:off x="3037624" y="5277014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36DAAA3-59D9-49A1-BD52-AFF65E4B8393}"/>
              </a:ext>
            </a:extLst>
          </p:cNvPr>
          <p:cNvCxnSpPr>
            <a:cxnSpLocks/>
            <a:stCxn id="132" idx="6"/>
            <a:endCxn id="133" idx="2"/>
          </p:cNvCxnSpPr>
          <p:nvPr/>
        </p:nvCxnSpPr>
        <p:spPr>
          <a:xfrm>
            <a:off x="-2077290" y="5673555"/>
            <a:ext cx="5114914" cy="0"/>
          </a:xfrm>
          <a:prstGeom prst="straightConnector1">
            <a:avLst/>
          </a:prstGeom>
          <a:ln w="57150">
            <a:solidFill>
              <a:srgbClr val="20455A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8114A77C-8EC8-4CD8-8344-372C0E902A3C}"/>
              </a:ext>
            </a:extLst>
          </p:cNvPr>
          <p:cNvSpPr/>
          <p:nvPr/>
        </p:nvSpPr>
        <p:spPr>
          <a:xfrm>
            <a:off x="-858512" y="480065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4E32D81-0F79-456A-A03D-F96839807C88}"/>
              </a:ext>
            </a:extLst>
          </p:cNvPr>
          <p:cNvCxnSpPr>
            <a:cxnSpLocks/>
            <a:stCxn id="135" idx="3"/>
            <a:endCxn id="132" idx="7"/>
          </p:cNvCxnSpPr>
          <p:nvPr/>
        </p:nvCxnSpPr>
        <p:spPr>
          <a:xfrm flipH="1">
            <a:off x="-2193434" y="5091622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CAE33D7-DFD3-4A51-BCCB-369AB490A666}"/>
              </a:ext>
            </a:extLst>
          </p:cNvPr>
          <p:cNvCxnSpPr>
            <a:cxnSpLocks/>
            <a:stCxn id="135" idx="6"/>
            <a:endCxn id="133" idx="1"/>
          </p:cNvCxnSpPr>
          <p:nvPr/>
        </p:nvCxnSpPr>
        <p:spPr>
          <a:xfrm>
            <a:off x="-517620" y="4971098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AABBABB5-EDF9-45C0-ABEE-0DF7E5DC6D9E}"/>
              </a:ext>
            </a:extLst>
          </p:cNvPr>
          <p:cNvSpPr/>
          <p:nvPr/>
        </p:nvSpPr>
        <p:spPr>
          <a:xfrm>
            <a:off x="-318952" y="692022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57CC1A2-F36A-4237-8C7E-D1EAE543CAEA}"/>
              </a:ext>
            </a:extLst>
          </p:cNvPr>
          <p:cNvCxnSpPr>
            <a:cxnSpLocks/>
            <a:stCxn id="138" idx="2"/>
            <a:endCxn id="132" idx="5"/>
          </p:cNvCxnSpPr>
          <p:nvPr/>
        </p:nvCxnSpPr>
        <p:spPr>
          <a:xfrm flipH="1" flipV="1">
            <a:off x="-2193434" y="5953951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55BF543-24A8-4F5F-A161-2E2317111F44}"/>
              </a:ext>
            </a:extLst>
          </p:cNvPr>
          <p:cNvCxnSpPr>
            <a:cxnSpLocks/>
            <a:stCxn id="138" idx="6"/>
            <a:endCxn id="133" idx="3"/>
          </p:cNvCxnSpPr>
          <p:nvPr/>
        </p:nvCxnSpPr>
        <p:spPr>
          <a:xfrm flipV="1">
            <a:off x="21940" y="5953951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A4645357-3228-4906-BEB6-8347A9D714B7}"/>
              </a:ext>
            </a:extLst>
          </p:cNvPr>
          <p:cNvSpPr/>
          <p:nvPr/>
        </p:nvSpPr>
        <p:spPr>
          <a:xfrm>
            <a:off x="860414" y="544337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C723A2F-1530-425A-98E9-255C71BB6883}"/>
              </a:ext>
            </a:extLst>
          </p:cNvPr>
          <p:cNvCxnSpPr>
            <a:cxnSpLocks/>
            <a:stCxn id="141" idx="6"/>
            <a:endCxn id="133" idx="1"/>
          </p:cNvCxnSpPr>
          <p:nvPr/>
        </p:nvCxnSpPr>
        <p:spPr>
          <a:xfrm flipV="1">
            <a:off x="1201306" y="5393158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6C9663A-5AAA-4361-B688-C4D7CA023F81}"/>
              </a:ext>
            </a:extLst>
          </p:cNvPr>
          <p:cNvCxnSpPr>
            <a:cxnSpLocks/>
            <a:stCxn id="141" idx="2"/>
            <a:endCxn id="132" idx="6"/>
          </p:cNvCxnSpPr>
          <p:nvPr/>
        </p:nvCxnSpPr>
        <p:spPr>
          <a:xfrm flipH="1">
            <a:off x="-2077290" y="5613825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07CAAF50-6AF4-43F4-85EA-7F9AE3C92686}"/>
              </a:ext>
            </a:extLst>
          </p:cNvPr>
          <p:cNvSpPr/>
          <p:nvPr/>
        </p:nvSpPr>
        <p:spPr>
          <a:xfrm>
            <a:off x="1668425" y="473254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304B872-A537-4F5E-BC8F-7E87C7E30B39}"/>
              </a:ext>
            </a:extLst>
          </p:cNvPr>
          <p:cNvCxnSpPr>
            <a:cxnSpLocks/>
            <a:stCxn id="144" idx="5"/>
            <a:endCxn id="133" idx="0"/>
          </p:cNvCxnSpPr>
          <p:nvPr/>
        </p:nvCxnSpPr>
        <p:spPr>
          <a:xfrm>
            <a:off x="1959395" y="5023517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A6AFF3F-46A8-409D-9F3F-1A0C6FAC676B}"/>
              </a:ext>
            </a:extLst>
          </p:cNvPr>
          <p:cNvCxnSpPr>
            <a:cxnSpLocks/>
            <a:stCxn id="144" idx="2"/>
            <a:endCxn id="132" idx="7"/>
          </p:cNvCxnSpPr>
          <p:nvPr/>
        </p:nvCxnSpPr>
        <p:spPr>
          <a:xfrm flipH="1">
            <a:off x="-2193434" y="4902993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63DC9B8D-5A79-4135-BEB2-5F43D8D26010}"/>
              </a:ext>
            </a:extLst>
          </p:cNvPr>
          <p:cNvSpPr/>
          <p:nvPr/>
        </p:nvSpPr>
        <p:spPr>
          <a:xfrm>
            <a:off x="640117" y="603092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555462B-0D9F-446D-BEFA-0D2CC9FD9393}"/>
              </a:ext>
            </a:extLst>
          </p:cNvPr>
          <p:cNvCxnSpPr>
            <a:cxnSpLocks/>
            <a:stCxn id="147" idx="2"/>
            <a:endCxn id="132" idx="5"/>
          </p:cNvCxnSpPr>
          <p:nvPr/>
        </p:nvCxnSpPr>
        <p:spPr>
          <a:xfrm flipH="1" flipV="1">
            <a:off x="-2193434" y="5953951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D9F6CE8-0478-4533-A710-06C32BC51AF8}"/>
              </a:ext>
            </a:extLst>
          </p:cNvPr>
          <p:cNvCxnSpPr>
            <a:cxnSpLocks/>
            <a:stCxn id="147" idx="6"/>
            <a:endCxn id="133" idx="2"/>
          </p:cNvCxnSpPr>
          <p:nvPr/>
        </p:nvCxnSpPr>
        <p:spPr>
          <a:xfrm flipV="1">
            <a:off x="981009" y="5673555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10BC81E2-A320-46B0-8095-66A1ADE076C1}"/>
              </a:ext>
            </a:extLst>
          </p:cNvPr>
          <p:cNvSpPr/>
          <p:nvPr/>
        </p:nvSpPr>
        <p:spPr>
          <a:xfrm>
            <a:off x="2621195" y="495039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BBA6842-BDC2-41A2-A917-39B700A66522}"/>
              </a:ext>
            </a:extLst>
          </p:cNvPr>
          <p:cNvCxnSpPr>
            <a:cxnSpLocks/>
            <a:stCxn id="150" idx="2"/>
            <a:endCxn id="132" idx="7"/>
          </p:cNvCxnSpPr>
          <p:nvPr/>
        </p:nvCxnSpPr>
        <p:spPr>
          <a:xfrm flipH="1">
            <a:off x="-2193434" y="5120842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DC00C8D-D82B-43E1-A17A-154FFBFFFDE6}"/>
              </a:ext>
            </a:extLst>
          </p:cNvPr>
          <p:cNvCxnSpPr>
            <a:cxnSpLocks/>
            <a:stCxn id="150" idx="6"/>
            <a:endCxn id="133" idx="7"/>
          </p:cNvCxnSpPr>
          <p:nvPr/>
        </p:nvCxnSpPr>
        <p:spPr>
          <a:xfrm>
            <a:off x="2962087" y="5120842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>
            <a:extLst>
              <a:ext uri="{FF2B5EF4-FFF2-40B4-BE49-F238E27FC236}">
                <a16:creationId xmlns:a16="http://schemas.microsoft.com/office/drawing/2014/main" id="{C9CE4798-F18C-4A65-9124-0C869DE5319E}"/>
              </a:ext>
            </a:extLst>
          </p:cNvPr>
          <p:cNvSpPr/>
          <p:nvPr/>
        </p:nvSpPr>
        <p:spPr>
          <a:xfrm>
            <a:off x="2513209" y="716379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FCE14E8-1E69-4835-A196-7BC6A12D5110}"/>
              </a:ext>
            </a:extLst>
          </p:cNvPr>
          <p:cNvCxnSpPr>
            <a:cxnSpLocks/>
            <a:stCxn id="153" idx="2"/>
            <a:endCxn id="132" idx="6"/>
          </p:cNvCxnSpPr>
          <p:nvPr/>
        </p:nvCxnSpPr>
        <p:spPr>
          <a:xfrm flipH="1" flipV="1">
            <a:off x="-2077290" y="5673555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AD671CF-E5C6-4080-9BCE-7FD3BAAE8742}"/>
              </a:ext>
            </a:extLst>
          </p:cNvPr>
          <p:cNvCxnSpPr>
            <a:cxnSpLocks/>
            <a:stCxn id="153" idx="0"/>
            <a:endCxn id="133" idx="5"/>
          </p:cNvCxnSpPr>
          <p:nvPr/>
        </p:nvCxnSpPr>
        <p:spPr>
          <a:xfrm flipV="1">
            <a:off x="2683655" y="5953951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EC203EA9-E9BD-497D-854E-049FE3E59445}"/>
              </a:ext>
            </a:extLst>
          </p:cNvPr>
          <p:cNvSpPr/>
          <p:nvPr/>
        </p:nvSpPr>
        <p:spPr>
          <a:xfrm>
            <a:off x="1024052" y="735074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9F67ED0-72DB-4670-AE76-B3846770F400}"/>
              </a:ext>
            </a:extLst>
          </p:cNvPr>
          <p:cNvCxnSpPr>
            <a:cxnSpLocks/>
            <a:stCxn id="156" idx="2"/>
            <a:endCxn id="141" idx="4"/>
          </p:cNvCxnSpPr>
          <p:nvPr/>
        </p:nvCxnSpPr>
        <p:spPr>
          <a:xfrm flipV="1">
            <a:off x="1024052" y="5784271"/>
            <a:ext cx="6808" cy="17369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61B99A5-42C2-4C82-939C-7455292298F8}"/>
              </a:ext>
            </a:extLst>
          </p:cNvPr>
          <p:cNvCxnSpPr>
            <a:cxnSpLocks/>
            <a:stCxn id="156" idx="6"/>
            <a:endCxn id="133" idx="3"/>
          </p:cNvCxnSpPr>
          <p:nvPr/>
        </p:nvCxnSpPr>
        <p:spPr>
          <a:xfrm flipV="1">
            <a:off x="1364944" y="5953951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901773C9-1F6B-4192-B1E3-BF96F86BEE4B}"/>
              </a:ext>
            </a:extLst>
          </p:cNvPr>
          <p:cNvSpPr/>
          <p:nvPr/>
        </p:nvSpPr>
        <p:spPr>
          <a:xfrm>
            <a:off x="-3375756" y="6111467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6568480-F76E-4716-9895-8B5C00019CE9}"/>
              </a:ext>
            </a:extLst>
          </p:cNvPr>
          <p:cNvCxnSpPr>
            <a:cxnSpLocks/>
            <a:stCxn id="159" idx="7"/>
            <a:endCxn id="132" idx="3"/>
          </p:cNvCxnSpPr>
          <p:nvPr/>
        </p:nvCxnSpPr>
        <p:spPr>
          <a:xfrm flipV="1">
            <a:off x="-2981298" y="5953951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E10ADAC7-4148-4582-957E-F40F2904F0EC}"/>
              </a:ext>
            </a:extLst>
          </p:cNvPr>
          <p:cNvSpPr/>
          <p:nvPr/>
        </p:nvSpPr>
        <p:spPr>
          <a:xfrm>
            <a:off x="9231107" y="1975355"/>
            <a:ext cx="793081" cy="793081"/>
          </a:xfrm>
          <a:prstGeom prst="ellipse">
            <a:avLst/>
          </a:prstGeom>
          <a:solidFill>
            <a:srgbClr val="20455A"/>
          </a:solidFill>
          <a:ln>
            <a:solidFill>
              <a:srgbClr val="2045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7345F66D-C4B9-4FCA-86D5-7948F3809921}"/>
              </a:ext>
            </a:extLst>
          </p:cNvPr>
          <p:cNvSpPr/>
          <p:nvPr/>
        </p:nvSpPr>
        <p:spPr>
          <a:xfrm>
            <a:off x="15139102" y="1975355"/>
            <a:ext cx="793081" cy="793081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B9FB524-0F25-4CB2-8BBC-A33FEF0541A5}"/>
              </a:ext>
            </a:extLst>
          </p:cNvPr>
          <p:cNvCxnSpPr>
            <a:cxnSpLocks/>
            <a:stCxn id="190" idx="6"/>
            <a:endCxn id="191" idx="2"/>
          </p:cNvCxnSpPr>
          <p:nvPr/>
        </p:nvCxnSpPr>
        <p:spPr>
          <a:xfrm>
            <a:off x="10024188" y="2371896"/>
            <a:ext cx="5114914" cy="0"/>
          </a:xfrm>
          <a:prstGeom prst="straightConnector1">
            <a:avLst/>
          </a:prstGeom>
          <a:ln w="57150">
            <a:solidFill>
              <a:srgbClr val="20455A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9B7211A8-AB80-457C-9808-0BBE9095F1A0}"/>
              </a:ext>
            </a:extLst>
          </p:cNvPr>
          <p:cNvSpPr/>
          <p:nvPr/>
        </p:nvSpPr>
        <p:spPr>
          <a:xfrm>
            <a:off x="11242966" y="149899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B267047-BD75-46E7-9B97-2474D6395FF2}"/>
              </a:ext>
            </a:extLst>
          </p:cNvPr>
          <p:cNvCxnSpPr>
            <a:cxnSpLocks/>
            <a:stCxn id="193" idx="3"/>
            <a:endCxn id="190" idx="7"/>
          </p:cNvCxnSpPr>
          <p:nvPr/>
        </p:nvCxnSpPr>
        <p:spPr>
          <a:xfrm flipH="1">
            <a:off x="9908044" y="1789963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81E6B41C-9CB4-4143-812F-853F191BD483}"/>
              </a:ext>
            </a:extLst>
          </p:cNvPr>
          <p:cNvCxnSpPr>
            <a:cxnSpLocks/>
            <a:stCxn id="193" idx="6"/>
            <a:endCxn id="191" idx="1"/>
          </p:cNvCxnSpPr>
          <p:nvPr/>
        </p:nvCxnSpPr>
        <p:spPr>
          <a:xfrm>
            <a:off x="11583858" y="1669439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D728BE5C-17AD-43B7-A630-0E345225AAFE}"/>
              </a:ext>
            </a:extLst>
          </p:cNvPr>
          <p:cNvSpPr/>
          <p:nvPr/>
        </p:nvSpPr>
        <p:spPr>
          <a:xfrm>
            <a:off x="11782526" y="361856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F48CFA97-B8B4-4130-8CDF-FF48E4AF7211}"/>
              </a:ext>
            </a:extLst>
          </p:cNvPr>
          <p:cNvCxnSpPr>
            <a:cxnSpLocks/>
            <a:stCxn id="196" idx="2"/>
            <a:endCxn id="190" idx="5"/>
          </p:cNvCxnSpPr>
          <p:nvPr/>
        </p:nvCxnSpPr>
        <p:spPr>
          <a:xfrm flipH="1" flipV="1">
            <a:off x="9908044" y="2652292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36D8D13-8ABD-4EC5-BAEB-A55E9B38F8BC}"/>
              </a:ext>
            </a:extLst>
          </p:cNvPr>
          <p:cNvCxnSpPr>
            <a:cxnSpLocks/>
            <a:stCxn id="196" idx="6"/>
            <a:endCxn id="191" idx="3"/>
          </p:cNvCxnSpPr>
          <p:nvPr/>
        </p:nvCxnSpPr>
        <p:spPr>
          <a:xfrm flipV="1">
            <a:off x="12123418" y="2652292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AC26731A-B5D6-40B7-B287-A9F838AABCD1}"/>
              </a:ext>
            </a:extLst>
          </p:cNvPr>
          <p:cNvSpPr/>
          <p:nvPr/>
        </p:nvSpPr>
        <p:spPr>
          <a:xfrm>
            <a:off x="12961892" y="2141720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F83CBDC-5940-4D3F-B9A0-A9713DD5B648}"/>
              </a:ext>
            </a:extLst>
          </p:cNvPr>
          <p:cNvCxnSpPr>
            <a:cxnSpLocks/>
            <a:stCxn id="199" idx="6"/>
            <a:endCxn id="191" idx="1"/>
          </p:cNvCxnSpPr>
          <p:nvPr/>
        </p:nvCxnSpPr>
        <p:spPr>
          <a:xfrm flipV="1">
            <a:off x="13302784" y="2091499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E6C8070-C1CB-4EBA-AB21-A43CD173A760}"/>
              </a:ext>
            </a:extLst>
          </p:cNvPr>
          <p:cNvCxnSpPr>
            <a:cxnSpLocks/>
            <a:stCxn id="199" idx="2"/>
            <a:endCxn id="190" idx="6"/>
          </p:cNvCxnSpPr>
          <p:nvPr/>
        </p:nvCxnSpPr>
        <p:spPr>
          <a:xfrm flipH="1">
            <a:off x="10024188" y="2312166"/>
            <a:ext cx="2937704" cy="59730"/>
          </a:xfrm>
          <a:prstGeom prst="straightConnector1">
            <a:avLst/>
          </a:prstGeom>
          <a:ln w="38100"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13CF7F32-80BF-425F-A792-4ADA1098D60D}"/>
              </a:ext>
            </a:extLst>
          </p:cNvPr>
          <p:cNvSpPr/>
          <p:nvPr/>
        </p:nvSpPr>
        <p:spPr>
          <a:xfrm>
            <a:off x="13769903" y="143088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01881B0-014D-42E0-A700-F305C2AC18CB}"/>
              </a:ext>
            </a:extLst>
          </p:cNvPr>
          <p:cNvCxnSpPr>
            <a:cxnSpLocks/>
            <a:stCxn id="202" idx="5"/>
            <a:endCxn id="191" idx="0"/>
          </p:cNvCxnSpPr>
          <p:nvPr/>
        </p:nvCxnSpPr>
        <p:spPr>
          <a:xfrm>
            <a:off x="14060873" y="1721858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E729131A-671D-466F-8FAC-165ADF914218}"/>
              </a:ext>
            </a:extLst>
          </p:cNvPr>
          <p:cNvCxnSpPr>
            <a:cxnSpLocks/>
            <a:stCxn id="202" idx="2"/>
            <a:endCxn id="190" idx="7"/>
          </p:cNvCxnSpPr>
          <p:nvPr/>
        </p:nvCxnSpPr>
        <p:spPr>
          <a:xfrm flipH="1">
            <a:off x="9908044" y="1601334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>
            <a:extLst>
              <a:ext uri="{FF2B5EF4-FFF2-40B4-BE49-F238E27FC236}">
                <a16:creationId xmlns:a16="http://schemas.microsoft.com/office/drawing/2014/main" id="{10DF7DC8-AB94-4DF4-A341-E4D8E1D0BC08}"/>
              </a:ext>
            </a:extLst>
          </p:cNvPr>
          <p:cNvSpPr/>
          <p:nvPr/>
        </p:nvSpPr>
        <p:spPr>
          <a:xfrm>
            <a:off x="12741595" y="2729264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B3713B0-DC54-443E-B329-783AF2A8D6AF}"/>
              </a:ext>
            </a:extLst>
          </p:cNvPr>
          <p:cNvCxnSpPr>
            <a:cxnSpLocks/>
            <a:stCxn id="205" idx="2"/>
            <a:endCxn id="190" idx="5"/>
          </p:cNvCxnSpPr>
          <p:nvPr/>
        </p:nvCxnSpPr>
        <p:spPr>
          <a:xfrm flipH="1" flipV="1">
            <a:off x="9908044" y="2652292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2867216-17DD-4FE4-B644-10DD4D41EC69}"/>
              </a:ext>
            </a:extLst>
          </p:cNvPr>
          <p:cNvCxnSpPr>
            <a:cxnSpLocks/>
            <a:stCxn id="205" idx="6"/>
            <a:endCxn id="191" idx="2"/>
          </p:cNvCxnSpPr>
          <p:nvPr/>
        </p:nvCxnSpPr>
        <p:spPr>
          <a:xfrm flipV="1">
            <a:off x="13082487" y="2371896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29BBBFD3-A075-4DE1-B654-15F272D78D1B}"/>
              </a:ext>
            </a:extLst>
          </p:cNvPr>
          <p:cNvSpPr/>
          <p:nvPr/>
        </p:nvSpPr>
        <p:spPr>
          <a:xfrm>
            <a:off x="14722673" y="164873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F1A0394-2259-45BD-A0AA-79AC3AD10773}"/>
              </a:ext>
            </a:extLst>
          </p:cNvPr>
          <p:cNvCxnSpPr>
            <a:cxnSpLocks/>
            <a:stCxn id="208" idx="2"/>
            <a:endCxn id="190" idx="7"/>
          </p:cNvCxnSpPr>
          <p:nvPr/>
        </p:nvCxnSpPr>
        <p:spPr>
          <a:xfrm flipH="1">
            <a:off x="9908044" y="1819183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2095C43E-AE2E-4281-AA43-6F3B0C360809}"/>
              </a:ext>
            </a:extLst>
          </p:cNvPr>
          <p:cNvCxnSpPr>
            <a:cxnSpLocks/>
            <a:stCxn id="208" idx="6"/>
            <a:endCxn id="191" idx="7"/>
          </p:cNvCxnSpPr>
          <p:nvPr/>
        </p:nvCxnSpPr>
        <p:spPr>
          <a:xfrm>
            <a:off x="15063565" y="1819183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234B6490-0CB8-4B28-80ED-BAA9510D3D5C}"/>
              </a:ext>
            </a:extLst>
          </p:cNvPr>
          <p:cNvSpPr/>
          <p:nvPr/>
        </p:nvSpPr>
        <p:spPr>
          <a:xfrm>
            <a:off x="14614687" y="386213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F903A03-5E4A-49DE-8BD7-3002EFE5B19D}"/>
              </a:ext>
            </a:extLst>
          </p:cNvPr>
          <p:cNvCxnSpPr>
            <a:cxnSpLocks/>
            <a:stCxn id="211" idx="2"/>
            <a:endCxn id="190" idx="6"/>
          </p:cNvCxnSpPr>
          <p:nvPr/>
        </p:nvCxnSpPr>
        <p:spPr>
          <a:xfrm flipH="1" flipV="1">
            <a:off x="10024188" y="2371896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407BC12-3392-47B0-94BC-B9CF65D53CDF}"/>
              </a:ext>
            </a:extLst>
          </p:cNvPr>
          <p:cNvCxnSpPr>
            <a:cxnSpLocks/>
            <a:stCxn id="211" idx="0"/>
            <a:endCxn id="191" idx="5"/>
          </p:cNvCxnSpPr>
          <p:nvPr/>
        </p:nvCxnSpPr>
        <p:spPr>
          <a:xfrm flipV="1">
            <a:off x="14785133" y="2652292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D1F8DC0C-321D-4FE2-9C5D-96049C989168}"/>
              </a:ext>
            </a:extLst>
          </p:cNvPr>
          <p:cNvSpPr/>
          <p:nvPr/>
        </p:nvSpPr>
        <p:spPr>
          <a:xfrm>
            <a:off x="13125530" y="404908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BB953A5-84A6-439C-BEF0-1618B07D2090}"/>
              </a:ext>
            </a:extLst>
          </p:cNvPr>
          <p:cNvCxnSpPr>
            <a:cxnSpLocks/>
            <a:stCxn id="214" idx="2"/>
            <a:endCxn id="199" idx="5"/>
          </p:cNvCxnSpPr>
          <p:nvPr/>
        </p:nvCxnSpPr>
        <p:spPr>
          <a:xfrm flipV="1">
            <a:off x="13125530" y="2432690"/>
            <a:ext cx="127332" cy="178683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65A0BEF-AD0E-46F8-B1DB-893DAAD50B47}"/>
              </a:ext>
            </a:extLst>
          </p:cNvPr>
          <p:cNvCxnSpPr>
            <a:cxnSpLocks/>
            <a:stCxn id="214" idx="6"/>
            <a:endCxn id="191" idx="3"/>
          </p:cNvCxnSpPr>
          <p:nvPr/>
        </p:nvCxnSpPr>
        <p:spPr>
          <a:xfrm flipV="1">
            <a:off x="13466422" y="2652292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A8D1050B-A2C6-4B77-A0FF-44CA38FF48CE}"/>
              </a:ext>
            </a:extLst>
          </p:cNvPr>
          <p:cNvSpPr/>
          <p:nvPr/>
        </p:nvSpPr>
        <p:spPr>
          <a:xfrm>
            <a:off x="8725722" y="2809808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6BFC0F6B-C3F2-4FBF-B7F6-9450652C7DE8}"/>
              </a:ext>
            </a:extLst>
          </p:cNvPr>
          <p:cNvCxnSpPr>
            <a:cxnSpLocks/>
            <a:stCxn id="217" idx="7"/>
            <a:endCxn id="190" idx="3"/>
          </p:cNvCxnSpPr>
          <p:nvPr/>
        </p:nvCxnSpPr>
        <p:spPr>
          <a:xfrm flipV="1">
            <a:off x="9120180" y="2652292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D7D0DC38-DF1B-4117-9DCC-7B9100A9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47413"/>
            <a:ext cx="10477028" cy="99385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C8A230D-8DBA-43BA-8C9A-33C31DD12701}"/>
              </a:ext>
            </a:extLst>
          </p:cNvPr>
          <p:cNvSpPr/>
          <p:nvPr/>
        </p:nvSpPr>
        <p:spPr>
          <a:xfrm>
            <a:off x="-13712" y="6609677"/>
            <a:ext cx="12183771" cy="263570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80C81F8-ECD2-4B22-AE6D-1DE06225140C}"/>
              </a:ext>
            </a:extLst>
          </p:cNvPr>
          <p:cNvSpPr/>
          <p:nvPr/>
        </p:nvSpPr>
        <p:spPr>
          <a:xfrm>
            <a:off x="0" y="0"/>
            <a:ext cx="228535" cy="6847107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626E19F-7437-49E2-9907-63973E2A4B96}"/>
              </a:ext>
            </a:extLst>
          </p:cNvPr>
          <p:cNvSpPr/>
          <p:nvPr/>
        </p:nvSpPr>
        <p:spPr>
          <a:xfrm>
            <a:off x="0" y="23973"/>
            <a:ext cx="12183771" cy="236489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7EC11C76-3B67-4170-AA33-A45C01683B98}"/>
              </a:ext>
            </a:extLst>
          </p:cNvPr>
          <p:cNvSpPr/>
          <p:nvPr/>
        </p:nvSpPr>
        <p:spPr>
          <a:xfrm>
            <a:off x="11963400" y="-1"/>
            <a:ext cx="219655" cy="6895054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F34E1-A182-6DE8-D42B-EC5B9562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86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B60EDEFE-501A-4215-AA03-E4DAA818BA4D}"/>
              </a:ext>
            </a:extLst>
          </p:cNvPr>
          <p:cNvSpPr/>
          <p:nvPr/>
        </p:nvSpPr>
        <p:spPr>
          <a:xfrm>
            <a:off x="216436" y="220303"/>
            <a:ext cx="7934894" cy="4143988"/>
          </a:xfrm>
          <a:custGeom>
            <a:avLst/>
            <a:gdLst>
              <a:gd name="connsiteX0" fmla="*/ 0 w 8087109"/>
              <a:gd name="connsiteY0" fmla="*/ 3337560 h 4547014"/>
              <a:gd name="connsiteX1" fmla="*/ 4032504 w 8087109"/>
              <a:gd name="connsiteY1" fmla="*/ 4517136 h 4547014"/>
              <a:gd name="connsiteX2" fmla="*/ 6967728 w 8087109"/>
              <a:gd name="connsiteY2" fmla="*/ 4005072 h 4547014"/>
              <a:gd name="connsiteX3" fmla="*/ 8065008 w 8087109"/>
              <a:gd name="connsiteY3" fmla="*/ 2011680 h 4547014"/>
              <a:gd name="connsiteX4" fmla="*/ 7699248 w 8087109"/>
              <a:gd name="connsiteY4" fmla="*/ 0 h 4547014"/>
              <a:gd name="connsiteX0" fmla="*/ 0 w 8087109"/>
              <a:gd name="connsiteY0" fmla="*/ 3337560 h 4392958"/>
              <a:gd name="connsiteX1" fmla="*/ 3346704 w 8087109"/>
              <a:gd name="connsiteY1" fmla="*/ 4343400 h 4392958"/>
              <a:gd name="connsiteX2" fmla="*/ 6967728 w 8087109"/>
              <a:gd name="connsiteY2" fmla="*/ 4005072 h 4392958"/>
              <a:gd name="connsiteX3" fmla="*/ 8065008 w 8087109"/>
              <a:gd name="connsiteY3" fmla="*/ 2011680 h 4392958"/>
              <a:gd name="connsiteX4" fmla="*/ 7699248 w 8087109"/>
              <a:gd name="connsiteY4" fmla="*/ 0 h 4392958"/>
              <a:gd name="connsiteX0" fmla="*/ 0 w 7852949"/>
              <a:gd name="connsiteY0" fmla="*/ 3337560 h 4387031"/>
              <a:gd name="connsiteX1" fmla="*/ 3346704 w 7852949"/>
              <a:gd name="connsiteY1" fmla="*/ 4343400 h 4387031"/>
              <a:gd name="connsiteX2" fmla="*/ 6967728 w 7852949"/>
              <a:gd name="connsiteY2" fmla="*/ 4005072 h 4387031"/>
              <a:gd name="connsiteX3" fmla="*/ 7808976 w 7852949"/>
              <a:gd name="connsiteY3" fmla="*/ 2231136 h 4387031"/>
              <a:gd name="connsiteX4" fmla="*/ 7699248 w 7852949"/>
              <a:gd name="connsiteY4" fmla="*/ 0 h 4387031"/>
              <a:gd name="connsiteX0" fmla="*/ 0 w 7958059"/>
              <a:gd name="connsiteY0" fmla="*/ 3337560 h 4390876"/>
              <a:gd name="connsiteX1" fmla="*/ 3346704 w 7958059"/>
              <a:gd name="connsiteY1" fmla="*/ 4343400 h 4390876"/>
              <a:gd name="connsiteX2" fmla="*/ 6967728 w 7958059"/>
              <a:gd name="connsiteY2" fmla="*/ 4005072 h 4390876"/>
              <a:gd name="connsiteX3" fmla="*/ 7927848 w 7958059"/>
              <a:gd name="connsiteY3" fmla="*/ 2084832 h 4390876"/>
              <a:gd name="connsiteX4" fmla="*/ 7699248 w 7958059"/>
              <a:gd name="connsiteY4" fmla="*/ 0 h 4390876"/>
              <a:gd name="connsiteX0" fmla="*/ 0 w 7935154"/>
              <a:gd name="connsiteY0" fmla="*/ 3337560 h 4390876"/>
              <a:gd name="connsiteX1" fmla="*/ 3346704 w 7935154"/>
              <a:gd name="connsiteY1" fmla="*/ 4343400 h 4390876"/>
              <a:gd name="connsiteX2" fmla="*/ 6967728 w 7935154"/>
              <a:gd name="connsiteY2" fmla="*/ 4005072 h 4390876"/>
              <a:gd name="connsiteX3" fmla="*/ 7927848 w 7935154"/>
              <a:gd name="connsiteY3" fmla="*/ 2084832 h 4390876"/>
              <a:gd name="connsiteX4" fmla="*/ 7699248 w 7935154"/>
              <a:gd name="connsiteY4" fmla="*/ 0 h 4390876"/>
              <a:gd name="connsiteX0" fmla="*/ 0 w 7934894"/>
              <a:gd name="connsiteY0" fmla="*/ 3090672 h 4143988"/>
              <a:gd name="connsiteX1" fmla="*/ 3346704 w 7934894"/>
              <a:gd name="connsiteY1" fmla="*/ 4096512 h 4143988"/>
              <a:gd name="connsiteX2" fmla="*/ 6967728 w 7934894"/>
              <a:gd name="connsiteY2" fmla="*/ 3758184 h 4143988"/>
              <a:gd name="connsiteX3" fmla="*/ 7927848 w 7934894"/>
              <a:gd name="connsiteY3" fmla="*/ 1837944 h 4143988"/>
              <a:gd name="connsiteX4" fmla="*/ 7690104 w 7934894"/>
              <a:gd name="connsiteY4" fmla="*/ 0 h 414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4894" h="4143988">
                <a:moveTo>
                  <a:pt x="0" y="3090672"/>
                </a:moveTo>
                <a:cubicBezTo>
                  <a:pt x="1435608" y="3624834"/>
                  <a:pt x="2185416" y="3985260"/>
                  <a:pt x="3346704" y="4096512"/>
                </a:cubicBezTo>
                <a:cubicBezTo>
                  <a:pt x="4507992" y="4207764"/>
                  <a:pt x="6204204" y="4134612"/>
                  <a:pt x="6967728" y="3758184"/>
                </a:cubicBezTo>
                <a:cubicBezTo>
                  <a:pt x="7731252" y="3381756"/>
                  <a:pt x="7805928" y="2505456"/>
                  <a:pt x="7927848" y="1837944"/>
                </a:cubicBezTo>
                <a:cubicBezTo>
                  <a:pt x="7976616" y="1106424"/>
                  <a:pt x="7758684" y="338328"/>
                  <a:pt x="7690104" y="0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45CF0286-4981-4A50-89AF-75373C1A4992}"/>
              </a:ext>
            </a:extLst>
          </p:cNvPr>
          <p:cNvSpPr/>
          <p:nvPr/>
        </p:nvSpPr>
        <p:spPr>
          <a:xfrm>
            <a:off x="228599" y="4484236"/>
            <a:ext cx="4593249" cy="2145164"/>
          </a:xfrm>
          <a:custGeom>
            <a:avLst/>
            <a:gdLst>
              <a:gd name="connsiteX0" fmla="*/ 0 w 4371812"/>
              <a:gd name="connsiteY0" fmla="*/ 23756 h 2145164"/>
              <a:gd name="connsiteX1" fmla="*/ 1499616 w 4371812"/>
              <a:gd name="connsiteY1" fmla="*/ 23756 h 2145164"/>
              <a:gd name="connsiteX2" fmla="*/ 3264408 w 4371812"/>
              <a:gd name="connsiteY2" fmla="*/ 270644 h 2145164"/>
              <a:gd name="connsiteX3" fmla="*/ 4096512 w 4371812"/>
              <a:gd name="connsiteY3" fmla="*/ 654692 h 2145164"/>
              <a:gd name="connsiteX4" fmla="*/ 4370832 w 4371812"/>
              <a:gd name="connsiteY4" fmla="*/ 1495940 h 2145164"/>
              <a:gd name="connsiteX5" fmla="*/ 4023360 w 4371812"/>
              <a:gd name="connsiteY5" fmla="*/ 2145164 h 2145164"/>
              <a:gd name="connsiteX0" fmla="*/ 0 w 4376238"/>
              <a:gd name="connsiteY0" fmla="*/ 23756 h 2145164"/>
              <a:gd name="connsiteX1" fmla="*/ 1499616 w 4376238"/>
              <a:gd name="connsiteY1" fmla="*/ 23756 h 2145164"/>
              <a:gd name="connsiteX2" fmla="*/ 3264408 w 4376238"/>
              <a:gd name="connsiteY2" fmla="*/ 270644 h 2145164"/>
              <a:gd name="connsiteX3" fmla="*/ 4206240 w 4376238"/>
              <a:gd name="connsiteY3" fmla="*/ 746132 h 2145164"/>
              <a:gd name="connsiteX4" fmla="*/ 4370832 w 4376238"/>
              <a:gd name="connsiteY4" fmla="*/ 1495940 h 2145164"/>
              <a:gd name="connsiteX5" fmla="*/ 4023360 w 4376238"/>
              <a:gd name="connsiteY5" fmla="*/ 2145164 h 2145164"/>
              <a:gd name="connsiteX0" fmla="*/ 0 w 4975289"/>
              <a:gd name="connsiteY0" fmla="*/ 23756 h 2145164"/>
              <a:gd name="connsiteX1" fmla="*/ 1499616 w 4975289"/>
              <a:gd name="connsiteY1" fmla="*/ 23756 h 2145164"/>
              <a:gd name="connsiteX2" fmla="*/ 3264408 w 4975289"/>
              <a:gd name="connsiteY2" fmla="*/ 270644 h 2145164"/>
              <a:gd name="connsiteX3" fmla="*/ 4206240 w 4975289"/>
              <a:gd name="connsiteY3" fmla="*/ 746132 h 2145164"/>
              <a:gd name="connsiteX4" fmla="*/ 4974336 w 4975289"/>
              <a:gd name="connsiteY4" fmla="*/ 938156 h 2145164"/>
              <a:gd name="connsiteX5" fmla="*/ 4370832 w 4975289"/>
              <a:gd name="connsiteY5" fmla="*/ 1495940 h 2145164"/>
              <a:gd name="connsiteX6" fmla="*/ 4023360 w 4975289"/>
              <a:gd name="connsiteY6" fmla="*/ 2145164 h 2145164"/>
              <a:gd name="connsiteX0" fmla="*/ 0 w 5007303"/>
              <a:gd name="connsiteY0" fmla="*/ 23756 h 2145164"/>
              <a:gd name="connsiteX1" fmla="*/ 1499616 w 5007303"/>
              <a:gd name="connsiteY1" fmla="*/ 23756 h 2145164"/>
              <a:gd name="connsiteX2" fmla="*/ 3264408 w 5007303"/>
              <a:gd name="connsiteY2" fmla="*/ 270644 h 2145164"/>
              <a:gd name="connsiteX3" fmla="*/ 4206240 w 5007303"/>
              <a:gd name="connsiteY3" fmla="*/ 746132 h 2145164"/>
              <a:gd name="connsiteX4" fmla="*/ 4974336 w 5007303"/>
              <a:gd name="connsiteY4" fmla="*/ 938156 h 2145164"/>
              <a:gd name="connsiteX5" fmla="*/ 4974336 w 5007303"/>
              <a:gd name="connsiteY5" fmla="*/ 1669676 h 2145164"/>
              <a:gd name="connsiteX6" fmla="*/ 4023360 w 5007303"/>
              <a:gd name="connsiteY6" fmla="*/ 2145164 h 2145164"/>
              <a:gd name="connsiteX0" fmla="*/ 0 w 5007303"/>
              <a:gd name="connsiteY0" fmla="*/ 23756 h 2145164"/>
              <a:gd name="connsiteX1" fmla="*/ 1499616 w 5007303"/>
              <a:gd name="connsiteY1" fmla="*/ 23756 h 2145164"/>
              <a:gd name="connsiteX2" fmla="*/ 3264408 w 5007303"/>
              <a:gd name="connsiteY2" fmla="*/ 270644 h 2145164"/>
              <a:gd name="connsiteX3" fmla="*/ 4187952 w 5007303"/>
              <a:gd name="connsiteY3" fmla="*/ 471812 h 2145164"/>
              <a:gd name="connsiteX4" fmla="*/ 4974336 w 5007303"/>
              <a:gd name="connsiteY4" fmla="*/ 938156 h 2145164"/>
              <a:gd name="connsiteX5" fmla="*/ 4974336 w 5007303"/>
              <a:gd name="connsiteY5" fmla="*/ 1669676 h 2145164"/>
              <a:gd name="connsiteX6" fmla="*/ 4023360 w 5007303"/>
              <a:gd name="connsiteY6" fmla="*/ 2145164 h 2145164"/>
              <a:gd name="connsiteX0" fmla="*/ 0 w 4982499"/>
              <a:gd name="connsiteY0" fmla="*/ 23756 h 2145164"/>
              <a:gd name="connsiteX1" fmla="*/ 1499616 w 4982499"/>
              <a:gd name="connsiteY1" fmla="*/ 23756 h 2145164"/>
              <a:gd name="connsiteX2" fmla="*/ 3264408 w 4982499"/>
              <a:gd name="connsiteY2" fmla="*/ 270644 h 2145164"/>
              <a:gd name="connsiteX3" fmla="*/ 4187952 w 4982499"/>
              <a:gd name="connsiteY3" fmla="*/ 471812 h 2145164"/>
              <a:gd name="connsiteX4" fmla="*/ 4736592 w 4982499"/>
              <a:gd name="connsiteY4" fmla="*/ 993020 h 2145164"/>
              <a:gd name="connsiteX5" fmla="*/ 4974336 w 4982499"/>
              <a:gd name="connsiteY5" fmla="*/ 1669676 h 2145164"/>
              <a:gd name="connsiteX6" fmla="*/ 4023360 w 4982499"/>
              <a:gd name="connsiteY6" fmla="*/ 2145164 h 2145164"/>
              <a:gd name="connsiteX0" fmla="*/ 0 w 4741739"/>
              <a:gd name="connsiteY0" fmla="*/ 23756 h 2145164"/>
              <a:gd name="connsiteX1" fmla="*/ 1499616 w 4741739"/>
              <a:gd name="connsiteY1" fmla="*/ 23756 h 2145164"/>
              <a:gd name="connsiteX2" fmla="*/ 3264408 w 4741739"/>
              <a:gd name="connsiteY2" fmla="*/ 270644 h 2145164"/>
              <a:gd name="connsiteX3" fmla="*/ 4187952 w 4741739"/>
              <a:gd name="connsiteY3" fmla="*/ 471812 h 2145164"/>
              <a:gd name="connsiteX4" fmla="*/ 4736592 w 4741739"/>
              <a:gd name="connsiteY4" fmla="*/ 993020 h 2145164"/>
              <a:gd name="connsiteX5" fmla="*/ 4617720 w 4741739"/>
              <a:gd name="connsiteY5" fmla="*/ 1505084 h 2145164"/>
              <a:gd name="connsiteX6" fmla="*/ 4023360 w 4741739"/>
              <a:gd name="connsiteY6" fmla="*/ 2145164 h 2145164"/>
              <a:gd name="connsiteX0" fmla="*/ 0 w 4738270"/>
              <a:gd name="connsiteY0" fmla="*/ 23756 h 2145164"/>
              <a:gd name="connsiteX1" fmla="*/ 1499616 w 4738270"/>
              <a:gd name="connsiteY1" fmla="*/ 23756 h 2145164"/>
              <a:gd name="connsiteX2" fmla="*/ 3264408 w 4738270"/>
              <a:gd name="connsiteY2" fmla="*/ 270644 h 2145164"/>
              <a:gd name="connsiteX3" fmla="*/ 4187952 w 4738270"/>
              <a:gd name="connsiteY3" fmla="*/ 471812 h 2145164"/>
              <a:gd name="connsiteX4" fmla="*/ 4736592 w 4738270"/>
              <a:gd name="connsiteY4" fmla="*/ 993020 h 2145164"/>
              <a:gd name="connsiteX5" fmla="*/ 4389120 w 4738270"/>
              <a:gd name="connsiteY5" fmla="*/ 1550804 h 2145164"/>
              <a:gd name="connsiteX6" fmla="*/ 4023360 w 4738270"/>
              <a:gd name="connsiteY6" fmla="*/ 2145164 h 2145164"/>
              <a:gd name="connsiteX0" fmla="*/ 0 w 4738270"/>
              <a:gd name="connsiteY0" fmla="*/ 23756 h 2145164"/>
              <a:gd name="connsiteX1" fmla="*/ 1499616 w 4738270"/>
              <a:gd name="connsiteY1" fmla="*/ 23756 h 2145164"/>
              <a:gd name="connsiteX2" fmla="*/ 3264408 w 4738270"/>
              <a:gd name="connsiteY2" fmla="*/ 270644 h 2145164"/>
              <a:gd name="connsiteX3" fmla="*/ 4187952 w 4738270"/>
              <a:gd name="connsiteY3" fmla="*/ 471812 h 2145164"/>
              <a:gd name="connsiteX4" fmla="*/ 4736592 w 4738270"/>
              <a:gd name="connsiteY4" fmla="*/ 993020 h 2145164"/>
              <a:gd name="connsiteX5" fmla="*/ 4389120 w 4738270"/>
              <a:gd name="connsiteY5" fmla="*/ 1550804 h 2145164"/>
              <a:gd name="connsiteX6" fmla="*/ 4023360 w 4738270"/>
              <a:gd name="connsiteY6" fmla="*/ 2145164 h 2145164"/>
              <a:gd name="connsiteX0" fmla="*/ 0 w 4593249"/>
              <a:gd name="connsiteY0" fmla="*/ 23756 h 2145164"/>
              <a:gd name="connsiteX1" fmla="*/ 1499616 w 4593249"/>
              <a:gd name="connsiteY1" fmla="*/ 23756 h 2145164"/>
              <a:gd name="connsiteX2" fmla="*/ 3264408 w 4593249"/>
              <a:gd name="connsiteY2" fmla="*/ 270644 h 2145164"/>
              <a:gd name="connsiteX3" fmla="*/ 4187952 w 4593249"/>
              <a:gd name="connsiteY3" fmla="*/ 471812 h 2145164"/>
              <a:gd name="connsiteX4" fmla="*/ 4590288 w 4593249"/>
              <a:gd name="connsiteY4" fmla="*/ 1002164 h 2145164"/>
              <a:gd name="connsiteX5" fmla="*/ 4389120 w 4593249"/>
              <a:gd name="connsiteY5" fmla="*/ 1550804 h 2145164"/>
              <a:gd name="connsiteX6" fmla="*/ 4023360 w 4593249"/>
              <a:gd name="connsiteY6" fmla="*/ 2145164 h 214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3249" h="2145164">
                <a:moveTo>
                  <a:pt x="0" y="23756"/>
                </a:moveTo>
                <a:cubicBezTo>
                  <a:pt x="477774" y="3182"/>
                  <a:pt x="955548" y="-17392"/>
                  <a:pt x="1499616" y="23756"/>
                </a:cubicBezTo>
                <a:cubicBezTo>
                  <a:pt x="2043684" y="64904"/>
                  <a:pt x="2816352" y="195968"/>
                  <a:pt x="3264408" y="270644"/>
                </a:cubicBezTo>
                <a:cubicBezTo>
                  <a:pt x="3712464" y="345320"/>
                  <a:pt x="3966972" y="349892"/>
                  <a:pt x="4187952" y="471812"/>
                </a:cubicBezTo>
                <a:cubicBezTo>
                  <a:pt x="4408932" y="593732"/>
                  <a:pt x="4562856" y="877196"/>
                  <a:pt x="4590288" y="1002164"/>
                </a:cubicBezTo>
                <a:cubicBezTo>
                  <a:pt x="4617720" y="1127132"/>
                  <a:pt x="4447032" y="1427360"/>
                  <a:pt x="4389120" y="1550804"/>
                </a:cubicBezTo>
                <a:cubicBezTo>
                  <a:pt x="4276344" y="1835792"/>
                  <a:pt x="4055364" y="2038484"/>
                  <a:pt x="4023360" y="2145164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EC5AE579-3435-42A3-AF39-AA1186264202}"/>
              </a:ext>
            </a:extLst>
          </p:cNvPr>
          <p:cNvSpPr/>
          <p:nvPr/>
        </p:nvSpPr>
        <p:spPr>
          <a:xfrm>
            <a:off x="5040951" y="4063187"/>
            <a:ext cx="6916150" cy="2557069"/>
          </a:xfrm>
          <a:custGeom>
            <a:avLst/>
            <a:gdLst>
              <a:gd name="connsiteX0" fmla="*/ 6537 w 6916150"/>
              <a:gd name="connsiteY0" fmla="*/ 2557069 h 2557069"/>
              <a:gd name="connsiteX1" fmla="*/ 171129 w 6916150"/>
              <a:gd name="connsiteY1" fmla="*/ 1642669 h 2557069"/>
              <a:gd name="connsiteX2" fmla="*/ 1149537 w 6916150"/>
              <a:gd name="connsiteY2" fmla="*/ 801421 h 2557069"/>
              <a:gd name="connsiteX3" fmla="*/ 3216081 w 6916150"/>
              <a:gd name="connsiteY3" fmla="*/ 289357 h 2557069"/>
              <a:gd name="connsiteX4" fmla="*/ 5209473 w 6916150"/>
              <a:gd name="connsiteY4" fmla="*/ 15037 h 2557069"/>
              <a:gd name="connsiteX5" fmla="*/ 6654225 w 6916150"/>
              <a:gd name="connsiteY5" fmla="*/ 42469 h 2557069"/>
              <a:gd name="connsiteX6" fmla="*/ 6910257 w 6916150"/>
              <a:gd name="connsiteY6" fmla="*/ 97333 h 255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16150" h="2557069">
                <a:moveTo>
                  <a:pt x="6537" y="2557069"/>
                </a:moveTo>
                <a:cubicBezTo>
                  <a:pt x="-6417" y="2246173"/>
                  <a:pt x="-19371" y="1935277"/>
                  <a:pt x="171129" y="1642669"/>
                </a:cubicBezTo>
                <a:cubicBezTo>
                  <a:pt x="361629" y="1350061"/>
                  <a:pt x="642045" y="1026973"/>
                  <a:pt x="1149537" y="801421"/>
                </a:cubicBezTo>
                <a:cubicBezTo>
                  <a:pt x="1657029" y="575869"/>
                  <a:pt x="2539425" y="420421"/>
                  <a:pt x="3216081" y="289357"/>
                </a:cubicBezTo>
                <a:cubicBezTo>
                  <a:pt x="3892737" y="158293"/>
                  <a:pt x="4636449" y="56185"/>
                  <a:pt x="5209473" y="15037"/>
                </a:cubicBezTo>
                <a:cubicBezTo>
                  <a:pt x="5782497" y="-26111"/>
                  <a:pt x="6370761" y="28753"/>
                  <a:pt x="6654225" y="42469"/>
                </a:cubicBezTo>
                <a:cubicBezTo>
                  <a:pt x="6937689" y="56185"/>
                  <a:pt x="6923973" y="76759"/>
                  <a:pt x="6910257" y="97333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85C1628-A4C6-47FF-8631-6FD0A19057C1}"/>
              </a:ext>
            </a:extLst>
          </p:cNvPr>
          <p:cNvSpPr/>
          <p:nvPr/>
        </p:nvSpPr>
        <p:spPr>
          <a:xfrm>
            <a:off x="8394009" y="265176"/>
            <a:ext cx="3575487" cy="3822192"/>
          </a:xfrm>
          <a:custGeom>
            <a:avLst/>
            <a:gdLst>
              <a:gd name="connsiteX0" fmla="*/ 2286183 w 3575487"/>
              <a:gd name="connsiteY0" fmla="*/ 0 h 3822192"/>
              <a:gd name="connsiteX1" fmla="*/ 1755831 w 3575487"/>
              <a:gd name="connsiteY1" fmla="*/ 493776 h 3822192"/>
              <a:gd name="connsiteX2" fmla="*/ 722559 w 3575487"/>
              <a:gd name="connsiteY2" fmla="*/ 1645920 h 3822192"/>
              <a:gd name="connsiteX3" fmla="*/ 36759 w 3575487"/>
              <a:gd name="connsiteY3" fmla="*/ 2660904 h 3822192"/>
              <a:gd name="connsiteX4" fmla="*/ 247071 w 3575487"/>
              <a:gd name="connsiteY4" fmla="*/ 3218688 h 3822192"/>
              <a:gd name="connsiteX5" fmla="*/ 1536375 w 3575487"/>
              <a:gd name="connsiteY5" fmla="*/ 3538728 h 3822192"/>
              <a:gd name="connsiteX6" fmla="*/ 3575487 w 3575487"/>
              <a:gd name="connsiteY6" fmla="*/ 3822192 h 382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75487" h="3822192">
                <a:moveTo>
                  <a:pt x="2286183" y="0"/>
                </a:moveTo>
                <a:cubicBezTo>
                  <a:pt x="2151309" y="109728"/>
                  <a:pt x="2016435" y="219456"/>
                  <a:pt x="1755831" y="493776"/>
                </a:cubicBezTo>
                <a:cubicBezTo>
                  <a:pt x="1495227" y="768096"/>
                  <a:pt x="1009071" y="1284732"/>
                  <a:pt x="722559" y="1645920"/>
                </a:cubicBezTo>
                <a:cubicBezTo>
                  <a:pt x="436047" y="2007108"/>
                  <a:pt x="116007" y="2398776"/>
                  <a:pt x="36759" y="2660904"/>
                </a:cubicBezTo>
                <a:cubicBezTo>
                  <a:pt x="-42489" y="2923032"/>
                  <a:pt x="-2865" y="3072384"/>
                  <a:pt x="247071" y="3218688"/>
                </a:cubicBezTo>
                <a:cubicBezTo>
                  <a:pt x="497007" y="3364992"/>
                  <a:pt x="981639" y="3438144"/>
                  <a:pt x="1536375" y="3538728"/>
                </a:cubicBezTo>
                <a:cubicBezTo>
                  <a:pt x="2091111" y="3639312"/>
                  <a:pt x="3214299" y="3774948"/>
                  <a:pt x="3575487" y="3822192"/>
                </a:cubicBezTo>
              </a:path>
            </a:pathLst>
          </a:custGeom>
          <a:noFill/>
          <a:ln w="76200">
            <a:solidFill>
              <a:srgbClr val="535C13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F91BA-54F6-4801-AE85-2F46FAE08EE1}"/>
              </a:ext>
            </a:extLst>
          </p:cNvPr>
          <p:cNvSpPr/>
          <p:nvPr/>
        </p:nvSpPr>
        <p:spPr>
          <a:xfrm>
            <a:off x="857486" y="1706684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582E6C-4030-4CF6-AC03-E358C6A096EC}"/>
              </a:ext>
            </a:extLst>
          </p:cNvPr>
          <p:cNvSpPr/>
          <p:nvPr/>
        </p:nvSpPr>
        <p:spPr>
          <a:xfrm>
            <a:off x="6765481" y="1706684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8D76F-9AA9-4ED6-B25D-9A65D9EC22F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650567" y="2103225"/>
            <a:ext cx="5114914" cy="0"/>
          </a:xfrm>
          <a:prstGeom prst="straightConnector1">
            <a:avLst/>
          </a:prstGeom>
          <a:ln w="57150">
            <a:solidFill>
              <a:srgbClr val="20455A">
                <a:alpha val="4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F100C92-4CBA-4C5A-AC83-9B5724617331}"/>
              </a:ext>
            </a:extLst>
          </p:cNvPr>
          <p:cNvSpPr/>
          <p:nvPr/>
        </p:nvSpPr>
        <p:spPr>
          <a:xfrm>
            <a:off x="2869345" y="123032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0E91CF-A588-416D-AF4A-E444308E22A4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1534423" y="1521292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085B46-6F2A-4686-8D93-1E2A079474D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3210237" y="1400768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4CBEB7-3A5A-471E-B127-68029539F9D3}"/>
              </a:ext>
            </a:extLst>
          </p:cNvPr>
          <p:cNvSpPr/>
          <p:nvPr/>
        </p:nvSpPr>
        <p:spPr>
          <a:xfrm>
            <a:off x="3408905" y="334989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4819A9-2214-4E1C-B9F3-02003DD4CD57}"/>
              </a:ext>
            </a:extLst>
          </p:cNvPr>
          <p:cNvCxnSpPr>
            <a:cxnSpLocks/>
            <a:stCxn id="15" idx="2"/>
            <a:endCxn id="6" idx="5"/>
          </p:cNvCxnSpPr>
          <p:nvPr/>
        </p:nvCxnSpPr>
        <p:spPr>
          <a:xfrm flipH="1" flipV="1">
            <a:off x="1534423" y="2383621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45EE9D-8569-40F6-B1C2-6997BF3BF91C}"/>
              </a:ext>
            </a:extLst>
          </p:cNvPr>
          <p:cNvCxnSpPr>
            <a:cxnSpLocks/>
            <a:stCxn id="15" idx="6"/>
            <a:endCxn id="7" idx="3"/>
          </p:cNvCxnSpPr>
          <p:nvPr/>
        </p:nvCxnSpPr>
        <p:spPr>
          <a:xfrm flipV="1">
            <a:off x="3749797" y="2383621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02EBF-4F1D-4619-8BFD-B8C23CBEE04C}"/>
              </a:ext>
            </a:extLst>
          </p:cNvPr>
          <p:cNvSpPr/>
          <p:nvPr/>
        </p:nvSpPr>
        <p:spPr>
          <a:xfrm>
            <a:off x="4588271" y="187304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554AE-4D5D-4CC7-8ADD-363975BCDBCD}"/>
              </a:ext>
            </a:extLst>
          </p:cNvPr>
          <p:cNvCxnSpPr>
            <a:cxnSpLocks/>
            <a:stCxn id="22" idx="6"/>
            <a:endCxn id="7" idx="1"/>
          </p:cNvCxnSpPr>
          <p:nvPr/>
        </p:nvCxnSpPr>
        <p:spPr>
          <a:xfrm flipV="1">
            <a:off x="4929163" y="1822828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75EBD9-DC48-4250-B383-E50E2AE7562F}"/>
              </a:ext>
            </a:extLst>
          </p:cNvPr>
          <p:cNvCxnSpPr>
            <a:cxnSpLocks/>
            <a:stCxn id="22" idx="2"/>
            <a:endCxn id="6" idx="6"/>
          </p:cNvCxnSpPr>
          <p:nvPr/>
        </p:nvCxnSpPr>
        <p:spPr>
          <a:xfrm flipH="1">
            <a:off x="1650567" y="2043495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0318A11-0163-461D-870E-D5869AE2626E}"/>
              </a:ext>
            </a:extLst>
          </p:cNvPr>
          <p:cNvSpPr/>
          <p:nvPr/>
        </p:nvSpPr>
        <p:spPr>
          <a:xfrm>
            <a:off x="5396282" y="116221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E0FD2-2B3D-4C09-8ECF-A75709A99FA7}"/>
              </a:ext>
            </a:extLst>
          </p:cNvPr>
          <p:cNvCxnSpPr>
            <a:cxnSpLocks/>
            <a:stCxn id="35" idx="5"/>
            <a:endCxn id="7" idx="0"/>
          </p:cNvCxnSpPr>
          <p:nvPr/>
        </p:nvCxnSpPr>
        <p:spPr>
          <a:xfrm>
            <a:off x="5687252" y="1453187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5ACCBB-F496-4D7D-B034-20AB6D653638}"/>
              </a:ext>
            </a:extLst>
          </p:cNvPr>
          <p:cNvCxnSpPr>
            <a:cxnSpLocks/>
            <a:stCxn id="35" idx="2"/>
            <a:endCxn id="6" idx="7"/>
          </p:cNvCxnSpPr>
          <p:nvPr/>
        </p:nvCxnSpPr>
        <p:spPr>
          <a:xfrm flipH="1">
            <a:off x="1534423" y="1332663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DEF21E-D21C-4E85-BA31-1562BBEC2AFB}"/>
              </a:ext>
            </a:extLst>
          </p:cNvPr>
          <p:cNvSpPr/>
          <p:nvPr/>
        </p:nvSpPr>
        <p:spPr>
          <a:xfrm>
            <a:off x="4367974" y="246059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7B170E-FA1D-4C3C-ADCC-9DE0304B0BA9}"/>
              </a:ext>
            </a:extLst>
          </p:cNvPr>
          <p:cNvCxnSpPr>
            <a:cxnSpLocks/>
            <a:stCxn id="50" idx="2"/>
            <a:endCxn id="6" idx="5"/>
          </p:cNvCxnSpPr>
          <p:nvPr/>
        </p:nvCxnSpPr>
        <p:spPr>
          <a:xfrm flipH="1" flipV="1">
            <a:off x="1534423" y="2383621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789A50-E7DE-476B-B7E1-A077B6FFE092}"/>
              </a:ext>
            </a:extLst>
          </p:cNvPr>
          <p:cNvCxnSpPr>
            <a:cxnSpLocks/>
            <a:stCxn id="50" idx="6"/>
            <a:endCxn id="7" idx="2"/>
          </p:cNvCxnSpPr>
          <p:nvPr/>
        </p:nvCxnSpPr>
        <p:spPr>
          <a:xfrm flipV="1">
            <a:off x="4708866" y="2103225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2516760-7A93-45D8-9E2B-D75B4F004B15}"/>
              </a:ext>
            </a:extLst>
          </p:cNvPr>
          <p:cNvSpPr/>
          <p:nvPr/>
        </p:nvSpPr>
        <p:spPr>
          <a:xfrm>
            <a:off x="6349052" y="138006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8CCA64-1731-483D-A980-C6C94256A5CC}"/>
              </a:ext>
            </a:extLst>
          </p:cNvPr>
          <p:cNvCxnSpPr>
            <a:cxnSpLocks/>
            <a:stCxn id="61" idx="2"/>
            <a:endCxn id="6" idx="7"/>
          </p:cNvCxnSpPr>
          <p:nvPr/>
        </p:nvCxnSpPr>
        <p:spPr>
          <a:xfrm flipH="1">
            <a:off x="1534423" y="1550512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68C16C-A675-441C-98F3-A579AB883F76}"/>
              </a:ext>
            </a:extLst>
          </p:cNvPr>
          <p:cNvCxnSpPr>
            <a:cxnSpLocks/>
            <a:stCxn id="61" idx="6"/>
            <a:endCxn id="7" idx="7"/>
          </p:cNvCxnSpPr>
          <p:nvPr/>
        </p:nvCxnSpPr>
        <p:spPr>
          <a:xfrm>
            <a:off x="6689944" y="1550512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60A463C-DA13-44A0-9622-F8BB0F8E9621}"/>
              </a:ext>
            </a:extLst>
          </p:cNvPr>
          <p:cNvSpPr/>
          <p:nvPr/>
        </p:nvSpPr>
        <p:spPr>
          <a:xfrm>
            <a:off x="6241066" y="359346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282226-CBCB-488C-A748-0F45C4D5C5EC}"/>
              </a:ext>
            </a:extLst>
          </p:cNvPr>
          <p:cNvCxnSpPr>
            <a:cxnSpLocks/>
            <a:stCxn id="67" idx="2"/>
            <a:endCxn id="6" idx="6"/>
          </p:cNvCxnSpPr>
          <p:nvPr/>
        </p:nvCxnSpPr>
        <p:spPr>
          <a:xfrm flipH="1" flipV="1">
            <a:off x="1650567" y="2103225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0CF89C8-8973-4EF2-A3D5-62994CDB472F}"/>
              </a:ext>
            </a:extLst>
          </p:cNvPr>
          <p:cNvCxnSpPr>
            <a:cxnSpLocks/>
            <a:stCxn id="67" idx="0"/>
            <a:endCxn id="7" idx="5"/>
          </p:cNvCxnSpPr>
          <p:nvPr/>
        </p:nvCxnSpPr>
        <p:spPr>
          <a:xfrm flipV="1">
            <a:off x="6411512" y="2383621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685B353-914C-4573-A545-444AFE0FDDD2}"/>
              </a:ext>
            </a:extLst>
          </p:cNvPr>
          <p:cNvSpPr/>
          <p:nvPr/>
        </p:nvSpPr>
        <p:spPr>
          <a:xfrm>
            <a:off x="4751909" y="378041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D1EF95-BFD6-4FC3-872B-442786F10739}"/>
              </a:ext>
            </a:extLst>
          </p:cNvPr>
          <p:cNvCxnSpPr>
            <a:cxnSpLocks/>
            <a:stCxn id="74" idx="0"/>
            <a:endCxn id="22" idx="4"/>
          </p:cNvCxnSpPr>
          <p:nvPr/>
        </p:nvCxnSpPr>
        <p:spPr>
          <a:xfrm flipH="1" flipV="1">
            <a:off x="4758717" y="2213941"/>
            <a:ext cx="163638" cy="156647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F225C70-EBB8-43DA-9E25-6289A3335AA4}"/>
              </a:ext>
            </a:extLst>
          </p:cNvPr>
          <p:cNvCxnSpPr>
            <a:cxnSpLocks/>
            <a:stCxn id="74" idx="6"/>
            <a:endCxn id="7" idx="3"/>
          </p:cNvCxnSpPr>
          <p:nvPr/>
        </p:nvCxnSpPr>
        <p:spPr>
          <a:xfrm flipV="1">
            <a:off x="5092801" y="2383621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99FDB2-1385-4198-B454-ACEBA4E385FD}"/>
              </a:ext>
            </a:extLst>
          </p:cNvPr>
          <p:cNvSpPr/>
          <p:nvPr/>
        </p:nvSpPr>
        <p:spPr>
          <a:xfrm>
            <a:off x="352101" y="2541137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E7953-0DF4-4CE8-9869-2AEAFA733A50}"/>
              </a:ext>
            </a:extLst>
          </p:cNvPr>
          <p:cNvCxnSpPr>
            <a:cxnSpLocks/>
            <a:stCxn id="30" idx="7"/>
            <a:endCxn id="6" idx="3"/>
          </p:cNvCxnSpPr>
          <p:nvPr/>
        </p:nvCxnSpPr>
        <p:spPr>
          <a:xfrm flipV="1">
            <a:off x="746559" y="2383621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7F3D596-D258-441B-9E96-DB2835CC3558}"/>
              </a:ext>
            </a:extLst>
          </p:cNvPr>
          <p:cNvSpPr/>
          <p:nvPr/>
        </p:nvSpPr>
        <p:spPr>
          <a:xfrm>
            <a:off x="5887464" y="5081393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471266D-D862-456C-8B46-B6B861785A57}"/>
              </a:ext>
            </a:extLst>
          </p:cNvPr>
          <p:cNvSpPr/>
          <p:nvPr/>
        </p:nvSpPr>
        <p:spPr>
          <a:xfrm>
            <a:off x="11795459" y="5081393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08FC08F-89BD-480A-9A71-334473D32CB3}"/>
              </a:ext>
            </a:extLst>
          </p:cNvPr>
          <p:cNvCxnSpPr>
            <a:cxnSpLocks/>
            <a:stCxn id="103" idx="6"/>
            <a:endCxn id="104" idx="2"/>
          </p:cNvCxnSpPr>
          <p:nvPr/>
        </p:nvCxnSpPr>
        <p:spPr>
          <a:xfrm>
            <a:off x="6680545" y="5477934"/>
            <a:ext cx="5114914" cy="0"/>
          </a:xfrm>
          <a:prstGeom prst="straightConnector1">
            <a:avLst/>
          </a:prstGeom>
          <a:ln w="57150">
            <a:solidFill>
              <a:srgbClr val="20455A">
                <a:alpha val="4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D3739CE4-686A-4102-B34D-936E0696CABE}"/>
              </a:ext>
            </a:extLst>
          </p:cNvPr>
          <p:cNvSpPr/>
          <p:nvPr/>
        </p:nvSpPr>
        <p:spPr>
          <a:xfrm>
            <a:off x="8223563" y="4634251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B05E9EA-5B0F-4402-A498-69A4E89E69C2}"/>
              </a:ext>
            </a:extLst>
          </p:cNvPr>
          <p:cNvCxnSpPr>
            <a:cxnSpLocks/>
            <a:stCxn id="106" idx="3"/>
            <a:endCxn id="103" idx="7"/>
          </p:cNvCxnSpPr>
          <p:nvPr/>
        </p:nvCxnSpPr>
        <p:spPr>
          <a:xfrm flipH="1">
            <a:off x="6564401" y="4925221"/>
            <a:ext cx="170908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B0F16CE-A5F7-45D4-A655-BCAC7C89FB08}"/>
              </a:ext>
            </a:extLst>
          </p:cNvPr>
          <p:cNvCxnSpPr>
            <a:cxnSpLocks/>
            <a:stCxn id="106" idx="6"/>
            <a:endCxn id="104" idx="1"/>
          </p:cNvCxnSpPr>
          <p:nvPr/>
        </p:nvCxnSpPr>
        <p:spPr>
          <a:xfrm>
            <a:off x="8564455" y="4804697"/>
            <a:ext cx="3347148" cy="39284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BEFC90D1-FEE7-4606-89DD-3657C78300AC}"/>
              </a:ext>
            </a:extLst>
          </p:cNvPr>
          <p:cNvSpPr/>
          <p:nvPr/>
        </p:nvSpPr>
        <p:spPr>
          <a:xfrm>
            <a:off x="8438883" y="672460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9E9EECA-A2EE-4F90-BCFC-2E9F0FBA72A8}"/>
              </a:ext>
            </a:extLst>
          </p:cNvPr>
          <p:cNvCxnSpPr>
            <a:cxnSpLocks/>
            <a:stCxn id="109" idx="2"/>
            <a:endCxn id="103" idx="5"/>
          </p:cNvCxnSpPr>
          <p:nvPr/>
        </p:nvCxnSpPr>
        <p:spPr>
          <a:xfrm flipH="1" flipV="1">
            <a:off x="6564401" y="5758330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290FF6B-ECC3-4AB0-89B0-FD4F666E7D68}"/>
              </a:ext>
            </a:extLst>
          </p:cNvPr>
          <p:cNvCxnSpPr>
            <a:cxnSpLocks/>
            <a:stCxn id="109" idx="6"/>
            <a:endCxn id="104" idx="3"/>
          </p:cNvCxnSpPr>
          <p:nvPr/>
        </p:nvCxnSpPr>
        <p:spPr>
          <a:xfrm flipV="1">
            <a:off x="8779775" y="5758330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6619320F-28B7-4427-B999-06A5B1E17720}"/>
              </a:ext>
            </a:extLst>
          </p:cNvPr>
          <p:cNvSpPr/>
          <p:nvPr/>
        </p:nvSpPr>
        <p:spPr>
          <a:xfrm>
            <a:off x="9618249" y="524775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12DB368-1744-4D4D-B547-187567029C31}"/>
              </a:ext>
            </a:extLst>
          </p:cNvPr>
          <p:cNvCxnSpPr>
            <a:cxnSpLocks/>
            <a:stCxn id="112" idx="6"/>
            <a:endCxn id="104" idx="1"/>
          </p:cNvCxnSpPr>
          <p:nvPr/>
        </p:nvCxnSpPr>
        <p:spPr>
          <a:xfrm flipV="1">
            <a:off x="9959141" y="5197537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2EB5CCB-4556-48A5-99A7-8EA7FE971741}"/>
              </a:ext>
            </a:extLst>
          </p:cNvPr>
          <p:cNvCxnSpPr>
            <a:cxnSpLocks/>
            <a:stCxn id="112" idx="2"/>
            <a:endCxn id="103" idx="6"/>
          </p:cNvCxnSpPr>
          <p:nvPr/>
        </p:nvCxnSpPr>
        <p:spPr>
          <a:xfrm flipH="1">
            <a:off x="6680545" y="5418204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3AC0333D-852E-419E-8889-62EEA53ADE00}"/>
              </a:ext>
            </a:extLst>
          </p:cNvPr>
          <p:cNvSpPr/>
          <p:nvPr/>
        </p:nvSpPr>
        <p:spPr>
          <a:xfrm>
            <a:off x="10426260" y="453692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627FC32-5F50-4EC0-AFC8-076F41238E0B}"/>
              </a:ext>
            </a:extLst>
          </p:cNvPr>
          <p:cNvCxnSpPr>
            <a:cxnSpLocks/>
            <a:stCxn id="115" idx="5"/>
            <a:endCxn id="104" idx="0"/>
          </p:cNvCxnSpPr>
          <p:nvPr/>
        </p:nvCxnSpPr>
        <p:spPr>
          <a:xfrm>
            <a:off x="10717230" y="4827896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24E1582-A255-43DA-8BCE-859542FAEEE2}"/>
              </a:ext>
            </a:extLst>
          </p:cNvPr>
          <p:cNvCxnSpPr>
            <a:cxnSpLocks/>
            <a:stCxn id="115" idx="2"/>
            <a:endCxn id="103" idx="7"/>
          </p:cNvCxnSpPr>
          <p:nvPr/>
        </p:nvCxnSpPr>
        <p:spPr>
          <a:xfrm flipH="1">
            <a:off x="6564401" y="4707372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E0DE3C9F-5B81-4F84-B856-7CCC033C45E8}"/>
              </a:ext>
            </a:extLst>
          </p:cNvPr>
          <p:cNvSpPr/>
          <p:nvPr/>
        </p:nvSpPr>
        <p:spPr>
          <a:xfrm>
            <a:off x="9397952" y="583530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AEBE931-4015-4C88-AE1A-78635D500FDC}"/>
              </a:ext>
            </a:extLst>
          </p:cNvPr>
          <p:cNvCxnSpPr>
            <a:cxnSpLocks/>
            <a:stCxn id="118" idx="2"/>
            <a:endCxn id="103" idx="5"/>
          </p:cNvCxnSpPr>
          <p:nvPr/>
        </p:nvCxnSpPr>
        <p:spPr>
          <a:xfrm flipH="1" flipV="1">
            <a:off x="6564401" y="5758330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A4A5DC8-0FA8-4E01-9185-5B96B4AF4824}"/>
              </a:ext>
            </a:extLst>
          </p:cNvPr>
          <p:cNvCxnSpPr>
            <a:cxnSpLocks/>
            <a:stCxn id="118" idx="6"/>
            <a:endCxn id="104" idx="2"/>
          </p:cNvCxnSpPr>
          <p:nvPr/>
        </p:nvCxnSpPr>
        <p:spPr>
          <a:xfrm flipV="1">
            <a:off x="9738844" y="5477934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563F1F86-8653-43B6-90CC-5F082BB11010}"/>
              </a:ext>
            </a:extLst>
          </p:cNvPr>
          <p:cNvSpPr/>
          <p:nvPr/>
        </p:nvSpPr>
        <p:spPr>
          <a:xfrm>
            <a:off x="11379030" y="475477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5E2ABF2-CE34-4490-9B75-431333A7D1CA}"/>
              </a:ext>
            </a:extLst>
          </p:cNvPr>
          <p:cNvCxnSpPr>
            <a:cxnSpLocks/>
            <a:stCxn id="121" idx="2"/>
            <a:endCxn id="103" idx="7"/>
          </p:cNvCxnSpPr>
          <p:nvPr/>
        </p:nvCxnSpPr>
        <p:spPr>
          <a:xfrm flipH="1">
            <a:off x="6564401" y="4925221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1C95D4B-8E3F-42B3-887E-BD69FDE24D12}"/>
              </a:ext>
            </a:extLst>
          </p:cNvPr>
          <p:cNvCxnSpPr>
            <a:cxnSpLocks/>
            <a:stCxn id="121" idx="6"/>
            <a:endCxn id="104" idx="7"/>
          </p:cNvCxnSpPr>
          <p:nvPr/>
        </p:nvCxnSpPr>
        <p:spPr>
          <a:xfrm>
            <a:off x="11719922" y="4925221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6ADE074E-D722-4908-8E42-65AC0EA05CD7}"/>
              </a:ext>
            </a:extLst>
          </p:cNvPr>
          <p:cNvSpPr/>
          <p:nvPr/>
        </p:nvSpPr>
        <p:spPr>
          <a:xfrm>
            <a:off x="11271044" y="6968174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A8ACF4A-8DE2-4341-9572-F835F52BF060}"/>
              </a:ext>
            </a:extLst>
          </p:cNvPr>
          <p:cNvCxnSpPr>
            <a:cxnSpLocks/>
            <a:stCxn id="124" idx="2"/>
            <a:endCxn id="103" idx="6"/>
          </p:cNvCxnSpPr>
          <p:nvPr/>
        </p:nvCxnSpPr>
        <p:spPr>
          <a:xfrm flipH="1" flipV="1">
            <a:off x="6680545" y="5477934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ABEE223-D77F-400D-9B86-AA6AA1315804}"/>
              </a:ext>
            </a:extLst>
          </p:cNvPr>
          <p:cNvCxnSpPr>
            <a:cxnSpLocks/>
            <a:stCxn id="124" idx="0"/>
            <a:endCxn id="104" idx="5"/>
          </p:cNvCxnSpPr>
          <p:nvPr/>
        </p:nvCxnSpPr>
        <p:spPr>
          <a:xfrm flipV="1">
            <a:off x="11441490" y="5758330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0B853CE3-6D8A-4F53-B141-E75B3E18BE65}"/>
              </a:ext>
            </a:extLst>
          </p:cNvPr>
          <p:cNvSpPr/>
          <p:nvPr/>
        </p:nvSpPr>
        <p:spPr>
          <a:xfrm>
            <a:off x="9781887" y="7155121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962F9DC-0C64-4BA6-8942-EADE5B43B7B7}"/>
              </a:ext>
            </a:extLst>
          </p:cNvPr>
          <p:cNvCxnSpPr>
            <a:cxnSpLocks/>
            <a:stCxn id="127" idx="2"/>
            <a:endCxn id="112" idx="5"/>
          </p:cNvCxnSpPr>
          <p:nvPr/>
        </p:nvCxnSpPr>
        <p:spPr>
          <a:xfrm flipV="1">
            <a:off x="9781887" y="5538728"/>
            <a:ext cx="127332" cy="178683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E6C945B-4C52-4814-9D9E-9CB9D1D54677}"/>
              </a:ext>
            </a:extLst>
          </p:cNvPr>
          <p:cNvCxnSpPr>
            <a:cxnSpLocks/>
            <a:stCxn id="127" idx="6"/>
            <a:endCxn id="104" idx="3"/>
          </p:cNvCxnSpPr>
          <p:nvPr/>
        </p:nvCxnSpPr>
        <p:spPr>
          <a:xfrm flipV="1">
            <a:off x="10122779" y="5758330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C0C267A2-3020-488F-AE98-96B190BE5A59}"/>
              </a:ext>
            </a:extLst>
          </p:cNvPr>
          <p:cNvSpPr/>
          <p:nvPr/>
        </p:nvSpPr>
        <p:spPr>
          <a:xfrm>
            <a:off x="5382079" y="5915846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3BAC3CB-A6F5-4896-A518-5C94B2AA9C98}"/>
              </a:ext>
            </a:extLst>
          </p:cNvPr>
          <p:cNvCxnSpPr>
            <a:cxnSpLocks/>
            <a:stCxn id="130" idx="7"/>
            <a:endCxn id="103" idx="3"/>
          </p:cNvCxnSpPr>
          <p:nvPr/>
        </p:nvCxnSpPr>
        <p:spPr>
          <a:xfrm flipV="1">
            <a:off x="5776537" y="5758330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4C8938CB-925E-4E92-AC46-86FF001F8292}"/>
              </a:ext>
            </a:extLst>
          </p:cNvPr>
          <p:cNvSpPr/>
          <p:nvPr/>
        </p:nvSpPr>
        <p:spPr>
          <a:xfrm>
            <a:off x="-2870371" y="5277014"/>
            <a:ext cx="793081" cy="793081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9E46F6D6-9578-4CC9-A776-600AA70A880F}"/>
              </a:ext>
            </a:extLst>
          </p:cNvPr>
          <p:cNvSpPr/>
          <p:nvPr/>
        </p:nvSpPr>
        <p:spPr>
          <a:xfrm>
            <a:off x="3037624" y="5277014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36DAAA3-59D9-49A1-BD52-AFF65E4B8393}"/>
              </a:ext>
            </a:extLst>
          </p:cNvPr>
          <p:cNvCxnSpPr>
            <a:cxnSpLocks/>
            <a:stCxn id="132" idx="6"/>
            <a:endCxn id="133" idx="2"/>
          </p:cNvCxnSpPr>
          <p:nvPr/>
        </p:nvCxnSpPr>
        <p:spPr>
          <a:xfrm>
            <a:off x="-2077290" y="5673555"/>
            <a:ext cx="5114914" cy="0"/>
          </a:xfrm>
          <a:prstGeom prst="straightConnector1">
            <a:avLst/>
          </a:prstGeom>
          <a:ln w="57150">
            <a:solidFill>
              <a:srgbClr val="20455A">
                <a:alpha val="4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8114A77C-8EC8-4CD8-8344-372C0E902A3C}"/>
              </a:ext>
            </a:extLst>
          </p:cNvPr>
          <p:cNvSpPr/>
          <p:nvPr/>
        </p:nvSpPr>
        <p:spPr>
          <a:xfrm>
            <a:off x="-858512" y="480065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4E32D81-0F79-456A-A03D-F96839807C88}"/>
              </a:ext>
            </a:extLst>
          </p:cNvPr>
          <p:cNvCxnSpPr>
            <a:cxnSpLocks/>
            <a:stCxn id="135" idx="3"/>
            <a:endCxn id="132" idx="7"/>
          </p:cNvCxnSpPr>
          <p:nvPr/>
        </p:nvCxnSpPr>
        <p:spPr>
          <a:xfrm flipH="1">
            <a:off x="-2193434" y="5091622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CAE33D7-DFD3-4A51-BCCB-369AB490A666}"/>
              </a:ext>
            </a:extLst>
          </p:cNvPr>
          <p:cNvCxnSpPr>
            <a:cxnSpLocks/>
            <a:stCxn id="135" idx="6"/>
            <a:endCxn id="133" idx="1"/>
          </p:cNvCxnSpPr>
          <p:nvPr/>
        </p:nvCxnSpPr>
        <p:spPr>
          <a:xfrm>
            <a:off x="-517620" y="4971098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AABBABB5-EDF9-45C0-ABEE-0DF7E5DC6D9E}"/>
              </a:ext>
            </a:extLst>
          </p:cNvPr>
          <p:cNvSpPr/>
          <p:nvPr/>
        </p:nvSpPr>
        <p:spPr>
          <a:xfrm>
            <a:off x="-318952" y="692022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57CC1A2-F36A-4237-8C7E-D1EAE543CAEA}"/>
              </a:ext>
            </a:extLst>
          </p:cNvPr>
          <p:cNvCxnSpPr>
            <a:cxnSpLocks/>
            <a:stCxn id="138" idx="2"/>
            <a:endCxn id="132" idx="5"/>
          </p:cNvCxnSpPr>
          <p:nvPr/>
        </p:nvCxnSpPr>
        <p:spPr>
          <a:xfrm flipH="1" flipV="1">
            <a:off x="-2193434" y="5953951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55BF543-24A8-4F5F-A161-2E2317111F44}"/>
              </a:ext>
            </a:extLst>
          </p:cNvPr>
          <p:cNvCxnSpPr>
            <a:cxnSpLocks/>
            <a:stCxn id="138" idx="6"/>
            <a:endCxn id="133" idx="3"/>
          </p:cNvCxnSpPr>
          <p:nvPr/>
        </p:nvCxnSpPr>
        <p:spPr>
          <a:xfrm flipV="1">
            <a:off x="21940" y="5953951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A4645357-3228-4906-BEB6-8347A9D714B7}"/>
              </a:ext>
            </a:extLst>
          </p:cNvPr>
          <p:cNvSpPr/>
          <p:nvPr/>
        </p:nvSpPr>
        <p:spPr>
          <a:xfrm>
            <a:off x="860414" y="544337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C723A2F-1530-425A-98E9-255C71BB6883}"/>
              </a:ext>
            </a:extLst>
          </p:cNvPr>
          <p:cNvCxnSpPr>
            <a:cxnSpLocks/>
            <a:stCxn id="141" idx="6"/>
            <a:endCxn id="133" idx="1"/>
          </p:cNvCxnSpPr>
          <p:nvPr/>
        </p:nvCxnSpPr>
        <p:spPr>
          <a:xfrm flipV="1">
            <a:off x="1201306" y="5393158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6C9663A-5AAA-4361-B688-C4D7CA023F81}"/>
              </a:ext>
            </a:extLst>
          </p:cNvPr>
          <p:cNvCxnSpPr>
            <a:cxnSpLocks/>
            <a:stCxn id="141" idx="2"/>
            <a:endCxn id="132" idx="6"/>
          </p:cNvCxnSpPr>
          <p:nvPr/>
        </p:nvCxnSpPr>
        <p:spPr>
          <a:xfrm flipH="1">
            <a:off x="-2077290" y="5613825"/>
            <a:ext cx="2937704" cy="59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07CAAF50-6AF4-43F4-85EA-7F9AE3C92686}"/>
              </a:ext>
            </a:extLst>
          </p:cNvPr>
          <p:cNvSpPr/>
          <p:nvPr/>
        </p:nvSpPr>
        <p:spPr>
          <a:xfrm>
            <a:off x="1668425" y="473254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304B872-A537-4F5E-BC8F-7E87C7E30B39}"/>
              </a:ext>
            </a:extLst>
          </p:cNvPr>
          <p:cNvCxnSpPr>
            <a:cxnSpLocks/>
            <a:stCxn id="144" idx="5"/>
            <a:endCxn id="133" idx="0"/>
          </p:cNvCxnSpPr>
          <p:nvPr/>
        </p:nvCxnSpPr>
        <p:spPr>
          <a:xfrm>
            <a:off x="1959395" y="5023517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A6AFF3F-46A8-409D-9F3F-1A0C6FAC676B}"/>
              </a:ext>
            </a:extLst>
          </p:cNvPr>
          <p:cNvCxnSpPr>
            <a:cxnSpLocks/>
            <a:stCxn id="144" idx="2"/>
            <a:endCxn id="132" idx="7"/>
          </p:cNvCxnSpPr>
          <p:nvPr/>
        </p:nvCxnSpPr>
        <p:spPr>
          <a:xfrm flipH="1">
            <a:off x="-2193434" y="4902993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63DC9B8D-5A79-4135-BEB2-5F43D8D26010}"/>
              </a:ext>
            </a:extLst>
          </p:cNvPr>
          <p:cNvSpPr/>
          <p:nvPr/>
        </p:nvSpPr>
        <p:spPr>
          <a:xfrm>
            <a:off x="640117" y="603092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555462B-0D9F-446D-BEFA-0D2CC9FD9393}"/>
              </a:ext>
            </a:extLst>
          </p:cNvPr>
          <p:cNvCxnSpPr>
            <a:cxnSpLocks/>
            <a:stCxn id="147" idx="2"/>
            <a:endCxn id="132" idx="5"/>
          </p:cNvCxnSpPr>
          <p:nvPr/>
        </p:nvCxnSpPr>
        <p:spPr>
          <a:xfrm flipH="1" flipV="1">
            <a:off x="-2193434" y="5953951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D9F6CE8-0478-4533-A710-06C32BC51AF8}"/>
              </a:ext>
            </a:extLst>
          </p:cNvPr>
          <p:cNvCxnSpPr>
            <a:cxnSpLocks/>
            <a:stCxn id="147" idx="6"/>
            <a:endCxn id="133" idx="2"/>
          </p:cNvCxnSpPr>
          <p:nvPr/>
        </p:nvCxnSpPr>
        <p:spPr>
          <a:xfrm flipV="1">
            <a:off x="981009" y="5673555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10BC81E2-A320-46B0-8095-66A1ADE076C1}"/>
              </a:ext>
            </a:extLst>
          </p:cNvPr>
          <p:cNvSpPr/>
          <p:nvPr/>
        </p:nvSpPr>
        <p:spPr>
          <a:xfrm>
            <a:off x="2621195" y="495039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BBA6842-BDC2-41A2-A917-39B700A66522}"/>
              </a:ext>
            </a:extLst>
          </p:cNvPr>
          <p:cNvCxnSpPr>
            <a:cxnSpLocks/>
            <a:stCxn id="150" idx="2"/>
            <a:endCxn id="132" idx="7"/>
          </p:cNvCxnSpPr>
          <p:nvPr/>
        </p:nvCxnSpPr>
        <p:spPr>
          <a:xfrm flipH="1">
            <a:off x="-2193434" y="5120842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DC00C8D-D82B-43E1-A17A-154FFBFFFDE6}"/>
              </a:ext>
            </a:extLst>
          </p:cNvPr>
          <p:cNvCxnSpPr>
            <a:cxnSpLocks/>
            <a:stCxn id="150" idx="6"/>
            <a:endCxn id="133" idx="7"/>
          </p:cNvCxnSpPr>
          <p:nvPr/>
        </p:nvCxnSpPr>
        <p:spPr>
          <a:xfrm>
            <a:off x="2962087" y="5120842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>
            <a:extLst>
              <a:ext uri="{FF2B5EF4-FFF2-40B4-BE49-F238E27FC236}">
                <a16:creationId xmlns:a16="http://schemas.microsoft.com/office/drawing/2014/main" id="{C9CE4798-F18C-4A65-9124-0C869DE5319E}"/>
              </a:ext>
            </a:extLst>
          </p:cNvPr>
          <p:cNvSpPr/>
          <p:nvPr/>
        </p:nvSpPr>
        <p:spPr>
          <a:xfrm>
            <a:off x="2513209" y="7163795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FCE14E8-1E69-4835-A196-7BC6A12D5110}"/>
              </a:ext>
            </a:extLst>
          </p:cNvPr>
          <p:cNvCxnSpPr>
            <a:cxnSpLocks/>
            <a:stCxn id="153" idx="2"/>
            <a:endCxn id="132" idx="6"/>
          </p:cNvCxnSpPr>
          <p:nvPr/>
        </p:nvCxnSpPr>
        <p:spPr>
          <a:xfrm flipH="1" flipV="1">
            <a:off x="-2077290" y="5673555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AD671CF-E5C6-4080-9BCE-7FD3BAAE8742}"/>
              </a:ext>
            </a:extLst>
          </p:cNvPr>
          <p:cNvCxnSpPr>
            <a:cxnSpLocks/>
            <a:stCxn id="153" idx="0"/>
            <a:endCxn id="133" idx="5"/>
          </p:cNvCxnSpPr>
          <p:nvPr/>
        </p:nvCxnSpPr>
        <p:spPr>
          <a:xfrm flipV="1">
            <a:off x="2683655" y="5953951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EC203EA9-E9BD-497D-854E-049FE3E59445}"/>
              </a:ext>
            </a:extLst>
          </p:cNvPr>
          <p:cNvSpPr/>
          <p:nvPr/>
        </p:nvSpPr>
        <p:spPr>
          <a:xfrm>
            <a:off x="1024052" y="7350742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9F67ED0-72DB-4670-AE76-B3846770F400}"/>
              </a:ext>
            </a:extLst>
          </p:cNvPr>
          <p:cNvCxnSpPr>
            <a:cxnSpLocks/>
            <a:stCxn id="156" idx="2"/>
            <a:endCxn id="141" idx="4"/>
          </p:cNvCxnSpPr>
          <p:nvPr/>
        </p:nvCxnSpPr>
        <p:spPr>
          <a:xfrm flipV="1">
            <a:off x="1024052" y="5784271"/>
            <a:ext cx="6808" cy="17369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61B99A5-42C2-4C82-939C-7455292298F8}"/>
              </a:ext>
            </a:extLst>
          </p:cNvPr>
          <p:cNvCxnSpPr>
            <a:cxnSpLocks/>
            <a:stCxn id="156" idx="6"/>
            <a:endCxn id="133" idx="3"/>
          </p:cNvCxnSpPr>
          <p:nvPr/>
        </p:nvCxnSpPr>
        <p:spPr>
          <a:xfrm flipV="1">
            <a:off x="1364944" y="5953951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901773C9-1F6B-4192-B1E3-BF96F86BEE4B}"/>
              </a:ext>
            </a:extLst>
          </p:cNvPr>
          <p:cNvSpPr/>
          <p:nvPr/>
        </p:nvSpPr>
        <p:spPr>
          <a:xfrm>
            <a:off x="-3375756" y="6111467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6568480-F76E-4716-9895-8B5C00019CE9}"/>
              </a:ext>
            </a:extLst>
          </p:cNvPr>
          <p:cNvCxnSpPr>
            <a:cxnSpLocks/>
            <a:stCxn id="159" idx="7"/>
            <a:endCxn id="132" idx="3"/>
          </p:cNvCxnSpPr>
          <p:nvPr/>
        </p:nvCxnSpPr>
        <p:spPr>
          <a:xfrm flipV="1">
            <a:off x="-2981298" y="5953951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E10ADAC7-4148-4582-957E-F40F2904F0EC}"/>
              </a:ext>
            </a:extLst>
          </p:cNvPr>
          <p:cNvSpPr/>
          <p:nvPr/>
        </p:nvSpPr>
        <p:spPr>
          <a:xfrm>
            <a:off x="9231107" y="1975355"/>
            <a:ext cx="793081" cy="793081"/>
          </a:xfrm>
          <a:prstGeom prst="ellipse">
            <a:avLst/>
          </a:prstGeom>
          <a:solidFill>
            <a:srgbClr val="20455A">
              <a:alpha val="40000"/>
            </a:srgbClr>
          </a:solidFill>
          <a:ln>
            <a:solidFill>
              <a:srgbClr val="20455A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EMIE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7345F66D-C4B9-4FCA-86D5-7948F3809921}"/>
              </a:ext>
            </a:extLst>
          </p:cNvPr>
          <p:cNvSpPr/>
          <p:nvPr/>
        </p:nvSpPr>
        <p:spPr>
          <a:xfrm>
            <a:off x="15139102" y="1975355"/>
            <a:ext cx="793081" cy="793081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%Δ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B9FB524-0F25-4CB2-8BBC-A33FEF0541A5}"/>
              </a:ext>
            </a:extLst>
          </p:cNvPr>
          <p:cNvCxnSpPr>
            <a:cxnSpLocks/>
            <a:stCxn id="190" idx="6"/>
            <a:endCxn id="191" idx="2"/>
          </p:cNvCxnSpPr>
          <p:nvPr/>
        </p:nvCxnSpPr>
        <p:spPr>
          <a:xfrm>
            <a:off x="10024188" y="2371896"/>
            <a:ext cx="5114914" cy="0"/>
          </a:xfrm>
          <a:prstGeom prst="straightConnector1">
            <a:avLst/>
          </a:prstGeom>
          <a:ln w="57150">
            <a:solidFill>
              <a:srgbClr val="20455A">
                <a:alpha val="40000"/>
              </a:srgb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9B7211A8-AB80-457C-9808-0BBE9095F1A0}"/>
              </a:ext>
            </a:extLst>
          </p:cNvPr>
          <p:cNvSpPr/>
          <p:nvPr/>
        </p:nvSpPr>
        <p:spPr>
          <a:xfrm>
            <a:off x="11242966" y="149899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B267047-BD75-46E7-9B97-2474D6395FF2}"/>
              </a:ext>
            </a:extLst>
          </p:cNvPr>
          <p:cNvCxnSpPr>
            <a:cxnSpLocks/>
            <a:stCxn id="193" idx="3"/>
            <a:endCxn id="190" idx="7"/>
          </p:cNvCxnSpPr>
          <p:nvPr/>
        </p:nvCxnSpPr>
        <p:spPr>
          <a:xfrm flipH="1">
            <a:off x="9908044" y="1789963"/>
            <a:ext cx="1384844" cy="30153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81E6B41C-9CB4-4143-812F-853F191BD483}"/>
              </a:ext>
            </a:extLst>
          </p:cNvPr>
          <p:cNvCxnSpPr>
            <a:cxnSpLocks/>
            <a:stCxn id="193" idx="6"/>
            <a:endCxn id="191" idx="1"/>
          </p:cNvCxnSpPr>
          <p:nvPr/>
        </p:nvCxnSpPr>
        <p:spPr>
          <a:xfrm>
            <a:off x="11583858" y="1669439"/>
            <a:ext cx="3671388" cy="42206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D728BE5C-17AD-43B7-A630-0E345225AAFE}"/>
              </a:ext>
            </a:extLst>
          </p:cNvPr>
          <p:cNvSpPr/>
          <p:nvPr/>
        </p:nvSpPr>
        <p:spPr>
          <a:xfrm>
            <a:off x="11782526" y="3618569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F48CFA97-B8B4-4130-8CDF-FF48E4AF7211}"/>
              </a:ext>
            </a:extLst>
          </p:cNvPr>
          <p:cNvCxnSpPr>
            <a:cxnSpLocks/>
            <a:stCxn id="196" idx="2"/>
            <a:endCxn id="190" idx="5"/>
          </p:cNvCxnSpPr>
          <p:nvPr/>
        </p:nvCxnSpPr>
        <p:spPr>
          <a:xfrm flipH="1" flipV="1">
            <a:off x="9908044" y="2652292"/>
            <a:ext cx="1874482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36D8D13-8ABD-4EC5-BAEB-A55E9B38F8BC}"/>
              </a:ext>
            </a:extLst>
          </p:cNvPr>
          <p:cNvCxnSpPr>
            <a:cxnSpLocks/>
            <a:stCxn id="196" idx="6"/>
            <a:endCxn id="191" idx="3"/>
          </p:cNvCxnSpPr>
          <p:nvPr/>
        </p:nvCxnSpPr>
        <p:spPr>
          <a:xfrm flipV="1">
            <a:off x="12123418" y="2652292"/>
            <a:ext cx="3131828" cy="113672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AC26731A-B5D6-40B7-B287-A9F838AABCD1}"/>
              </a:ext>
            </a:extLst>
          </p:cNvPr>
          <p:cNvSpPr/>
          <p:nvPr/>
        </p:nvSpPr>
        <p:spPr>
          <a:xfrm>
            <a:off x="12961892" y="2141720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F83CBDC-5940-4D3F-B9A0-A9713DD5B648}"/>
              </a:ext>
            </a:extLst>
          </p:cNvPr>
          <p:cNvCxnSpPr>
            <a:cxnSpLocks/>
            <a:stCxn id="199" idx="6"/>
            <a:endCxn id="191" idx="1"/>
          </p:cNvCxnSpPr>
          <p:nvPr/>
        </p:nvCxnSpPr>
        <p:spPr>
          <a:xfrm flipV="1">
            <a:off x="13302784" y="2091499"/>
            <a:ext cx="1952462" cy="22066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E6C8070-C1CB-4EBA-AB21-A43CD173A760}"/>
              </a:ext>
            </a:extLst>
          </p:cNvPr>
          <p:cNvCxnSpPr>
            <a:cxnSpLocks/>
            <a:stCxn id="199" idx="2"/>
            <a:endCxn id="190" idx="6"/>
          </p:cNvCxnSpPr>
          <p:nvPr/>
        </p:nvCxnSpPr>
        <p:spPr>
          <a:xfrm flipH="1">
            <a:off x="10024188" y="2312166"/>
            <a:ext cx="2937704" cy="59730"/>
          </a:xfrm>
          <a:prstGeom prst="straightConnector1">
            <a:avLst/>
          </a:prstGeom>
          <a:ln w="38100"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13CF7F32-80BF-425F-A792-4ADA1098D60D}"/>
              </a:ext>
            </a:extLst>
          </p:cNvPr>
          <p:cNvSpPr/>
          <p:nvPr/>
        </p:nvSpPr>
        <p:spPr>
          <a:xfrm>
            <a:off x="13769903" y="1430888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01881B0-014D-42E0-A700-F305C2AC18CB}"/>
              </a:ext>
            </a:extLst>
          </p:cNvPr>
          <p:cNvCxnSpPr>
            <a:cxnSpLocks/>
            <a:stCxn id="202" idx="5"/>
            <a:endCxn id="191" idx="0"/>
          </p:cNvCxnSpPr>
          <p:nvPr/>
        </p:nvCxnSpPr>
        <p:spPr>
          <a:xfrm>
            <a:off x="14060873" y="1721858"/>
            <a:ext cx="1474770" cy="25349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E729131A-671D-466F-8FAC-165ADF914218}"/>
              </a:ext>
            </a:extLst>
          </p:cNvPr>
          <p:cNvCxnSpPr>
            <a:cxnSpLocks/>
            <a:stCxn id="202" idx="2"/>
            <a:endCxn id="190" idx="7"/>
          </p:cNvCxnSpPr>
          <p:nvPr/>
        </p:nvCxnSpPr>
        <p:spPr>
          <a:xfrm flipH="1">
            <a:off x="9908044" y="1601334"/>
            <a:ext cx="3861859" cy="49016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>
            <a:extLst>
              <a:ext uri="{FF2B5EF4-FFF2-40B4-BE49-F238E27FC236}">
                <a16:creationId xmlns:a16="http://schemas.microsoft.com/office/drawing/2014/main" id="{10DF7DC8-AB94-4DF4-A341-E4D8E1D0BC08}"/>
              </a:ext>
            </a:extLst>
          </p:cNvPr>
          <p:cNvSpPr/>
          <p:nvPr/>
        </p:nvSpPr>
        <p:spPr>
          <a:xfrm>
            <a:off x="12741595" y="2729264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B3713B0-DC54-443E-B329-783AF2A8D6AF}"/>
              </a:ext>
            </a:extLst>
          </p:cNvPr>
          <p:cNvCxnSpPr>
            <a:cxnSpLocks/>
            <a:stCxn id="205" idx="2"/>
            <a:endCxn id="190" idx="5"/>
          </p:cNvCxnSpPr>
          <p:nvPr/>
        </p:nvCxnSpPr>
        <p:spPr>
          <a:xfrm flipH="1" flipV="1">
            <a:off x="9908044" y="2652292"/>
            <a:ext cx="2833551" cy="24741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2867216-17DD-4FE4-B644-10DD4D41EC69}"/>
              </a:ext>
            </a:extLst>
          </p:cNvPr>
          <p:cNvCxnSpPr>
            <a:cxnSpLocks/>
            <a:stCxn id="205" idx="6"/>
            <a:endCxn id="191" idx="2"/>
          </p:cNvCxnSpPr>
          <p:nvPr/>
        </p:nvCxnSpPr>
        <p:spPr>
          <a:xfrm flipV="1">
            <a:off x="13082487" y="2371896"/>
            <a:ext cx="2056615" cy="52781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29BBBFD3-A075-4DE1-B654-15F272D78D1B}"/>
              </a:ext>
            </a:extLst>
          </p:cNvPr>
          <p:cNvSpPr/>
          <p:nvPr/>
        </p:nvSpPr>
        <p:spPr>
          <a:xfrm>
            <a:off x="14722673" y="1648737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F1A0394-2259-45BD-A0AA-79AC3AD10773}"/>
              </a:ext>
            </a:extLst>
          </p:cNvPr>
          <p:cNvCxnSpPr>
            <a:cxnSpLocks/>
            <a:stCxn id="208" idx="2"/>
            <a:endCxn id="190" idx="7"/>
          </p:cNvCxnSpPr>
          <p:nvPr/>
        </p:nvCxnSpPr>
        <p:spPr>
          <a:xfrm flipH="1">
            <a:off x="9908044" y="1819183"/>
            <a:ext cx="4814629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2095C43E-AE2E-4281-AA43-6F3B0C360809}"/>
              </a:ext>
            </a:extLst>
          </p:cNvPr>
          <p:cNvCxnSpPr>
            <a:cxnSpLocks/>
            <a:stCxn id="208" idx="6"/>
            <a:endCxn id="191" idx="7"/>
          </p:cNvCxnSpPr>
          <p:nvPr/>
        </p:nvCxnSpPr>
        <p:spPr>
          <a:xfrm>
            <a:off x="15063565" y="1819183"/>
            <a:ext cx="752474" cy="2723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234B6490-0CB8-4B28-80ED-BAA9510D3D5C}"/>
              </a:ext>
            </a:extLst>
          </p:cNvPr>
          <p:cNvSpPr/>
          <p:nvPr/>
        </p:nvSpPr>
        <p:spPr>
          <a:xfrm>
            <a:off x="14614687" y="3862136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F903A03-5E4A-49DE-8BD7-3002EFE5B19D}"/>
              </a:ext>
            </a:extLst>
          </p:cNvPr>
          <p:cNvCxnSpPr>
            <a:cxnSpLocks/>
            <a:stCxn id="211" idx="2"/>
            <a:endCxn id="190" idx="6"/>
          </p:cNvCxnSpPr>
          <p:nvPr/>
        </p:nvCxnSpPr>
        <p:spPr>
          <a:xfrm flipH="1" flipV="1">
            <a:off x="10024188" y="2371896"/>
            <a:ext cx="4590499" cy="166068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407BC12-3392-47B0-94BC-B9CF65D53CDF}"/>
              </a:ext>
            </a:extLst>
          </p:cNvPr>
          <p:cNvCxnSpPr>
            <a:cxnSpLocks/>
            <a:stCxn id="211" idx="0"/>
            <a:endCxn id="191" idx="5"/>
          </p:cNvCxnSpPr>
          <p:nvPr/>
        </p:nvCxnSpPr>
        <p:spPr>
          <a:xfrm flipV="1">
            <a:off x="14785133" y="2652292"/>
            <a:ext cx="1030906" cy="120984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D1F8DC0C-321D-4FE2-9C5D-96049C989168}"/>
              </a:ext>
            </a:extLst>
          </p:cNvPr>
          <p:cNvSpPr/>
          <p:nvPr/>
        </p:nvSpPr>
        <p:spPr>
          <a:xfrm>
            <a:off x="13125530" y="4049083"/>
            <a:ext cx="340892" cy="34089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BB953A5-84A6-439C-BEF0-1618B07D2090}"/>
              </a:ext>
            </a:extLst>
          </p:cNvPr>
          <p:cNvCxnSpPr>
            <a:cxnSpLocks/>
            <a:stCxn id="214" idx="2"/>
            <a:endCxn id="199" idx="5"/>
          </p:cNvCxnSpPr>
          <p:nvPr/>
        </p:nvCxnSpPr>
        <p:spPr>
          <a:xfrm flipV="1">
            <a:off x="13125530" y="2432690"/>
            <a:ext cx="127332" cy="178683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65A0BEF-AD0E-46F8-B1DB-893DAAD50B47}"/>
              </a:ext>
            </a:extLst>
          </p:cNvPr>
          <p:cNvCxnSpPr>
            <a:cxnSpLocks/>
            <a:stCxn id="214" idx="6"/>
            <a:endCxn id="191" idx="3"/>
          </p:cNvCxnSpPr>
          <p:nvPr/>
        </p:nvCxnSpPr>
        <p:spPr>
          <a:xfrm flipV="1">
            <a:off x="13466422" y="2652292"/>
            <a:ext cx="1788824" cy="156723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A8D1050B-A2C6-4B77-A0FF-44CA38FF48CE}"/>
              </a:ext>
            </a:extLst>
          </p:cNvPr>
          <p:cNvSpPr/>
          <p:nvPr/>
        </p:nvSpPr>
        <p:spPr>
          <a:xfrm>
            <a:off x="8725722" y="2809808"/>
            <a:ext cx="462136" cy="44740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6BFC0F6B-C3F2-4FBF-B7F6-9450652C7DE8}"/>
              </a:ext>
            </a:extLst>
          </p:cNvPr>
          <p:cNvCxnSpPr>
            <a:cxnSpLocks/>
            <a:stCxn id="217" idx="7"/>
            <a:endCxn id="190" idx="3"/>
          </p:cNvCxnSpPr>
          <p:nvPr/>
        </p:nvCxnSpPr>
        <p:spPr>
          <a:xfrm flipV="1">
            <a:off x="9120180" y="2652292"/>
            <a:ext cx="227071" cy="223037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BF42F57C-7C3C-4F79-B63A-A9BDDFEB4D15}"/>
              </a:ext>
            </a:extLst>
          </p:cNvPr>
          <p:cNvCxnSpPr>
            <a:cxnSpLocks/>
            <a:stCxn id="7" idx="3"/>
            <a:endCxn id="133" idx="7"/>
          </p:cNvCxnSpPr>
          <p:nvPr/>
        </p:nvCxnSpPr>
        <p:spPr>
          <a:xfrm flipH="1">
            <a:off x="3714561" y="2383621"/>
            <a:ext cx="3167064" cy="300953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D7D0DC38-DF1B-4117-9DCC-7B9100A9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47413"/>
            <a:ext cx="10477028" cy="99385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Econometric Challenges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What prevents us from isolating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6368496B-B18A-4DEC-9F2D-465647C53B2F}"/>
              </a:ext>
            </a:extLst>
          </p:cNvPr>
          <p:cNvCxnSpPr>
            <a:cxnSpLocks/>
            <a:stCxn id="6" idx="5"/>
            <a:endCxn id="103" idx="1"/>
          </p:cNvCxnSpPr>
          <p:nvPr/>
        </p:nvCxnSpPr>
        <p:spPr>
          <a:xfrm>
            <a:off x="1534423" y="2383621"/>
            <a:ext cx="4469185" cy="2813916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7D975EC6-08F2-4DB6-99FB-E7D493B9A4FC}"/>
              </a:ext>
            </a:extLst>
          </p:cNvPr>
          <p:cNvCxnSpPr>
            <a:cxnSpLocks/>
            <a:stCxn id="7" idx="6"/>
            <a:endCxn id="190" idx="2"/>
          </p:cNvCxnSpPr>
          <p:nvPr/>
        </p:nvCxnSpPr>
        <p:spPr>
          <a:xfrm>
            <a:off x="7558562" y="2103225"/>
            <a:ext cx="1672545" cy="268671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0E034DCB-93E0-4AC8-A65E-A29AB3452E3B}"/>
              </a:ext>
            </a:extLst>
          </p:cNvPr>
          <p:cNvCxnSpPr>
            <a:cxnSpLocks/>
            <a:stCxn id="104" idx="1"/>
            <a:endCxn id="67" idx="6"/>
          </p:cNvCxnSpPr>
          <p:nvPr/>
        </p:nvCxnSpPr>
        <p:spPr>
          <a:xfrm flipH="1" flipV="1">
            <a:off x="6581958" y="3763911"/>
            <a:ext cx="5329645" cy="1433626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12808F69-6C5A-4810-A7F8-01173ECEB3C3}"/>
              </a:ext>
            </a:extLst>
          </p:cNvPr>
          <p:cNvCxnSpPr>
            <a:cxnSpLocks/>
            <a:stCxn id="7" idx="5"/>
            <a:endCxn id="106" idx="0"/>
          </p:cNvCxnSpPr>
          <p:nvPr/>
        </p:nvCxnSpPr>
        <p:spPr>
          <a:xfrm>
            <a:off x="7442418" y="2383621"/>
            <a:ext cx="951591" cy="225063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C8A230D-8DBA-43BA-8C9A-33C31DD12701}"/>
              </a:ext>
            </a:extLst>
          </p:cNvPr>
          <p:cNvSpPr/>
          <p:nvPr/>
        </p:nvSpPr>
        <p:spPr>
          <a:xfrm>
            <a:off x="-13712" y="6609677"/>
            <a:ext cx="12183771" cy="263570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80C81F8-ECD2-4B22-AE6D-1DE06225140C}"/>
              </a:ext>
            </a:extLst>
          </p:cNvPr>
          <p:cNvSpPr/>
          <p:nvPr/>
        </p:nvSpPr>
        <p:spPr>
          <a:xfrm>
            <a:off x="0" y="0"/>
            <a:ext cx="228535" cy="6847107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626E19F-7437-49E2-9907-63973E2A4B96}"/>
              </a:ext>
            </a:extLst>
          </p:cNvPr>
          <p:cNvSpPr/>
          <p:nvPr/>
        </p:nvSpPr>
        <p:spPr>
          <a:xfrm>
            <a:off x="0" y="23973"/>
            <a:ext cx="12183771" cy="236489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B5F60B3-7BCA-4915-B460-47261860722C}"/>
              </a:ext>
            </a:extLst>
          </p:cNvPr>
          <p:cNvSpPr/>
          <p:nvPr/>
        </p:nvSpPr>
        <p:spPr>
          <a:xfrm>
            <a:off x="11963400" y="-1"/>
            <a:ext cx="219655" cy="6895054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150D2-4C43-EF3E-B815-3ECEFB28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455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4785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3944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Spatial Autocorrelation </a:t>
            </a:r>
            <a:r>
              <a:rPr lang="en-US" sz="4000" i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</a:t>
            </a: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-Values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C5530-36BB-49BD-A04A-D48F7523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28" y="1413720"/>
            <a:ext cx="4174388" cy="2334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3EF0F-567A-4090-BF93-1CC396D160ED}"/>
              </a:ext>
            </a:extLst>
          </p:cNvPr>
          <p:cNvSpPr txBox="1"/>
          <p:nvPr/>
        </p:nvSpPr>
        <p:spPr>
          <a:xfrm>
            <a:off x="147981" y="3676394"/>
            <a:ext cx="457088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m_cons_resid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via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Monte Carlo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instead: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2.95×10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-5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1.00×10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-4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CB8AE-4A5A-4ECA-8868-1F70CD66E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865" y="1788802"/>
            <a:ext cx="6910907" cy="3164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1E491-827D-41CE-BF86-846FF7C53168}"/>
              </a:ext>
            </a:extLst>
          </p:cNvPr>
          <p:cNvSpPr txBox="1"/>
          <p:nvPr/>
        </p:nvSpPr>
        <p:spPr>
          <a:xfrm>
            <a:off x="227860" y="5402889"/>
            <a:ext cx="11736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TLDR: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Spatial autocorrelation 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EXTREMELY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likely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02915-788B-1504-92A8-E3531C14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02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tx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57204"/>
            <a:ext cx="10477028" cy="9742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Empirical Methodology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ym typeface="Wingdings" panose="05000000000000000000" pitchFamily="2" charset="2"/>
              </a:rPr>
              <a:t>How can we best isolate the effect of EMIE on %</a:t>
            </a:r>
            <a:r>
              <a:rPr lang="el-GR" sz="1800" dirty="0">
                <a:sym typeface="Wingdings" panose="05000000000000000000" pitchFamily="2" charset="2"/>
              </a:rPr>
              <a:t>Δ</a:t>
            </a:r>
            <a:r>
              <a:rPr lang="en-US" sz="1800" dirty="0">
                <a:sym typeface="Wingdings" panose="05000000000000000000" pitchFamily="2" charset="2"/>
              </a:rPr>
              <a:t>Consumption?</a:t>
            </a:r>
            <a:endParaRPr lang="en-US" sz="1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4CAD821-9BB2-4DAF-9FB6-A815411A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7735"/>
              </p:ext>
            </p:extLst>
          </p:nvPr>
        </p:nvGraphicFramePr>
        <p:xfrm>
          <a:off x="1189608" y="1518082"/>
          <a:ext cx="9685538" cy="496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769">
                  <a:extLst>
                    <a:ext uri="{9D8B030D-6E8A-4147-A177-3AD203B41FA5}">
                      <a16:colId xmlns:a16="http://schemas.microsoft.com/office/drawing/2014/main" val="2183835009"/>
                    </a:ext>
                  </a:extLst>
                </a:gridCol>
                <a:gridCol w="4842769">
                  <a:extLst>
                    <a:ext uri="{9D8B030D-6E8A-4147-A177-3AD203B41FA5}">
                      <a16:colId xmlns:a16="http://schemas.microsoft.com/office/drawing/2014/main" val="3797223160"/>
                    </a:ext>
                  </a:extLst>
                </a:gridCol>
              </a:tblGrid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Incorporate confounders as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CONTROLS</a:t>
                      </a:r>
                      <a:b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 a linear regression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Regress EMIE onto an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INSTRUMENTAL VARIABLE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A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69102"/>
                  </a:ext>
                </a:extLst>
              </a:tr>
              <a:tr h="2482395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Use the inverse Mills ratio (IMR) from the</a:t>
                      </a:r>
                    </a:p>
                    <a:p>
                      <a:pPr algn="ctr"/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HECKMAN CORRECTION</a:t>
                      </a:r>
                      <a:br>
                        <a:rPr kumimoji="0" lang="en-US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as another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B133"/>
                          </a:highlight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</a:t>
                      </a:r>
                      <a:endParaRPr lang="en-US" sz="3200" dirty="0">
                        <a:solidFill>
                          <a:schemeClr val="tx1"/>
                        </a:solidFill>
                        <a:highlight>
                          <a:srgbClr val="FFB133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B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 for spatial autocorrelation using a</a:t>
                      </a:r>
                    </a:p>
                    <a:p>
                      <a:pPr algn="ctr"/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SPATIAL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DURBIN-TYPE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MODEL</a:t>
                      </a:r>
                      <a:b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</a:b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and incorporate spatial lags as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B133"/>
                          </a:highlight>
                          <a:uLnTx/>
                          <a:uFillTx/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controls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78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535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FA828-48C5-2B49-EA5E-F8AAE2B8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253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4785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43944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Spatial Econometrics Models</a:t>
            </a:r>
            <a:b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rbel" panose="020B0503020204020204"/>
                <a:ea typeface="Cascadia Mono SemiBold" panose="020B0609020000020004" pitchFamily="49" charset="0"/>
                <a:cs typeface="Cascadia Mono SemiBold" panose="020B0609020000020004" pitchFamily="49" charset="0"/>
                <a:sym typeface="Wingdings" panose="05000000000000000000" pitchFamily="2" charset="2"/>
              </a:rPr>
              <a:t>and next steps…</a:t>
            </a:r>
            <a:endParaRPr lang="en-US" sz="40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D8F0F-C6AC-4258-8754-895345FEE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02" y="1652404"/>
            <a:ext cx="11582995" cy="41213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370C7-3851-47A1-BAB9-64368C12AD80}"/>
              </a:ext>
            </a:extLst>
          </p:cNvPr>
          <p:cNvSpPr txBox="1"/>
          <p:nvPr/>
        </p:nvSpPr>
        <p:spPr>
          <a:xfrm flipH="1">
            <a:off x="239697" y="5773766"/>
            <a:ext cx="4781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</a:rPr>
              <a:t>(</a:t>
            </a:r>
            <a:r>
              <a:rPr lang="en-US" sz="1400" dirty="0" err="1">
                <a:latin typeface="Bookman Old Style" panose="02050604050505020204" pitchFamily="18" charset="0"/>
              </a:rPr>
              <a:t>Pebesma</a:t>
            </a:r>
            <a:r>
              <a:rPr lang="en-US" sz="1400" dirty="0">
                <a:latin typeface="Bookman Old Style" panose="02050604050505020204" pitchFamily="18" charset="0"/>
              </a:rPr>
              <a:t> &amp; </a:t>
            </a:r>
            <a:r>
              <a:rPr lang="en-US" sz="1400" dirty="0" err="1">
                <a:latin typeface="Bookman Old Style" panose="02050604050505020204" pitchFamily="18" charset="0"/>
              </a:rPr>
              <a:t>Bivand</a:t>
            </a:r>
            <a:r>
              <a:rPr lang="en-US" sz="1400" dirty="0">
                <a:latin typeface="Bookman Old Style" panose="02050604050505020204" pitchFamily="18" charset="0"/>
              </a:rPr>
              <a:t>, 2025)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C842-7400-BACB-1EA7-ECCB979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900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A60E5-EEAB-4B40-974C-25D0259A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43" y="841529"/>
            <a:ext cx="5725357" cy="574570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Abadie, A., </a:t>
            </a:r>
            <a:r>
              <a:rPr lang="en-US" dirty="0" err="1">
                <a:effectLst/>
              </a:rPr>
              <a:t>Athey</a:t>
            </a:r>
            <a:r>
              <a:rPr lang="en-US" dirty="0">
                <a:effectLst/>
              </a:rPr>
              <a:t>, S., </a:t>
            </a:r>
            <a:r>
              <a:rPr lang="en-US" dirty="0" err="1">
                <a:effectLst/>
              </a:rPr>
              <a:t>Imbens</a:t>
            </a:r>
            <a:r>
              <a:rPr lang="en-US" dirty="0">
                <a:effectLst/>
              </a:rPr>
              <a:t>, G. W., &amp; Wooldridge, J. M. (2022). When should you adjust standard errors for clustering? </a:t>
            </a:r>
            <a:r>
              <a:rPr lang="en-US" i="1" dirty="0">
                <a:effectLst/>
              </a:rPr>
              <a:t>The Quarterly Journal of Economics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138</a:t>
            </a:r>
            <a:r>
              <a:rPr lang="en-US" dirty="0">
                <a:effectLst/>
              </a:rPr>
              <a:t>(1), 1–35. </a:t>
            </a:r>
            <a:r>
              <a:rPr lang="en-US" dirty="0">
                <a:effectLst/>
                <a:hlinkClick r:id="rId2"/>
              </a:rPr>
              <a:t>https://doi.org/10.1093/qje/qjac038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Abadzi</a:t>
            </a:r>
            <a:r>
              <a:rPr lang="en-US" dirty="0">
                <a:effectLst/>
              </a:rPr>
              <a:t>, H. (2008). Efficient learning for the poor: New insights into literacy acquisition for children. </a:t>
            </a:r>
            <a:r>
              <a:rPr lang="en-US" i="1" dirty="0">
                <a:effectLst/>
              </a:rPr>
              <a:t>International Review of Education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54</a:t>
            </a:r>
            <a:r>
              <a:rPr lang="en-US" dirty="0">
                <a:effectLst/>
              </a:rPr>
              <a:t>(5–6), 581–604. </a:t>
            </a:r>
            <a:r>
              <a:rPr lang="en-US" dirty="0">
                <a:effectLst/>
                <a:hlinkClick r:id="rId3"/>
              </a:rPr>
              <a:t>https://doi.org/10.1007/s11159-008-9102-3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Abraham, V. (2019). The dynamic nature of jobless growth in </a:t>
            </a:r>
            <a:r>
              <a:rPr lang="en-US" dirty="0" err="1">
                <a:effectLst/>
              </a:rPr>
              <a:t>india</a:t>
            </a:r>
            <a:r>
              <a:rPr lang="en-US" dirty="0">
                <a:effectLst/>
              </a:rPr>
              <a:t>. In </a:t>
            </a:r>
            <a:r>
              <a:rPr lang="en-US" i="1" dirty="0">
                <a:effectLst/>
              </a:rPr>
              <a:t>Globalization, </a:t>
            </a:r>
            <a:r>
              <a:rPr lang="en-US" i="1" dirty="0" err="1">
                <a:effectLst/>
              </a:rPr>
              <a:t>labour</a:t>
            </a:r>
            <a:r>
              <a:rPr lang="en-US" i="1" dirty="0">
                <a:effectLst/>
              </a:rPr>
              <a:t> market institutions, processes and policies in </a:t>
            </a:r>
            <a:r>
              <a:rPr lang="en-US" i="1" dirty="0" err="1">
                <a:effectLst/>
              </a:rPr>
              <a:t>india</a:t>
            </a:r>
            <a:r>
              <a:rPr lang="en-US" dirty="0">
                <a:effectLst/>
              </a:rPr>
              <a:t> (pp. 443–470). Palgrave Macmillan, Springer. </a:t>
            </a:r>
            <a:r>
              <a:rPr lang="en-US" dirty="0">
                <a:effectLst/>
                <a:hlinkClick r:id="rId4"/>
              </a:rPr>
              <a:t>https://doi.org/10.1007/978-981-13-7111-0_18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Agrawal, T. (2011). </a:t>
            </a:r>
            <a:r>
              <a:rPr lang="en-US" i="1" dirty="0">
                <a:effectLst/>
              </a:rPr>
              <a:t>Returns to education in India: Some recent evidence</a:t>
            </a:r>
            <a:r>
              <a:rPr lang="en-US" dirty="0">
                <a:effectLst/>
              </a:rPr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Agrawal, T., &amp; Agrawal, A. (2017). Vocational education and training in India: A </a:t>
            </a:r>
            <a:r>
              <a:rPr lang="en-US" dirty="0" err="1">
                <a:effectLst/>
              </a:rPr>
              <a:t>labour</a:t>
            </a:r>
            <a:r>
              <a:rPr lang="en-US" dirty="0">
                <a:effectLst/>
              </a:rPr>
              <a:t> market perspective. </a:t>
            </a:r>
            <a:r>
              <a:rPr lang="en-US" i="1" dirty="0">
                <a:effectLst/>
              </a:rPr>
              <a:t>Journal of Vocational Education &amp; Training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69</a:t>
            </a:r>
            <a:r>
              <a:rPr lang="en-US" dirty="0">
                <a:effectLst/>
              </a:rPr>
              <a:t>(2), 246–265. </a:t>
            </a:r>
            <a:r>
              <a:rPr lang="en-US" dirty="0">
                <a:effectLst/>
                <a:hlinkClick r:id="rId5"/>
              </a:rPr>
              <a:t>https://doi.org/10.1080/13636820.2017.1303785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Anselin</a:t>
            </a:r>
            <a:r>
              <a:rPr lang="en-US" dirty="0">
                <a:effectLst/>
              </a:rPr>
              <a:t>, L. (1995). Local indicators of spatial Association—LISA. </a:t>
            </a:r>
            <a:r>
              <a:rPr lang="en-US" i="1" dirty="0">
                <a:effectLst/>
              </a:rPr>
              <a:t>Geographical Analysis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27</a:t>
            </a:r>
            <a:r>
              <a:rPr lang="en-US" dirty="0">
                <a:effectLst/>
              </a:rPr>
              <a:t>(2), 93–115. </a:t>
            </a:r>
            <a:r>
              <a:rPr lang="en-US" dirty="0">
                <a:effectLst/>
                <a:hlinkClick r:id="rId6"/>
              </a:rPr>
              <a:t>https://doi.org/10.1111/j.1538-4632.1995.tb00338.x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Anselin</a:t>
            </a:r>
            <a:r>
              <a:rPr lang="en-US" dirty="0">
                <a:effectLst/>
              </a:rPr>
              <a:t>, L. (2001). Spatial Econometrics. In B. H. </a:t>
            </a:r>
            <a:r>
              <a:rPr lang="en-US" dirty="0" err="1">
                <a:effectLst/>
              </a:rPr>
              <a:t>Baltagi</a:t>
            </a:r>
            <a:r>
              <a:rPr lang="en-US" dirty="0">
                <a:effectLst/>
              </a:rPr>
              <a:t> (Ed.), </a:t>
            </a:r>
            <a:r>
              <a:rPr lang="en-US" i="1" dirty="0">
                <a:effectLst/>
              </a:rPr>
              <a:t>A Companion to Theoretical Econometrics</a:t>
            </a:r>
            <a:r>
              <a:rPr lang="en-US" dirty="0">
                <a:effectLst/>
              </a:rPr>
              <a:t> (pp. 311–331). John Wiley &amp; Sons, Incorporated. </a:t>
            </a:r>
            <a:r>
              <a:rPr lang="en-US" dirty="0">
                <a:effectLst/>
                <a:hlinkClick r:id="rId7"/>
              </a:rPr>
              <a:t>https://web.pdx.edu/~crkl/WISE/SEAUG/papers/anselin01_CTE14.pdf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Arora, H., Pradhan, K. C., &amp; Sharma, R. (2024). Missing linkages and jobless growth in India: An econometric analysis. </a:t>
            </a:r>
            <a:r>
              <a:rPr lang="en-US" i="1" dirty="0">
                <a:effectLst/>
              </a:rPr>
              <a:t>Economic Papers: A Journal of Applied Economics and Policy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8"/>
              </a:rPr>
              <a:t>https://doi.org/10.1111/1759-3441.12410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ASER Centre. (2023a). </a:t>
            </a:r>
            <a:r>
              <a:rPr lang="en-US" i="1" dirty="0">
                <a:effectLst/>
              </a:rPr>
              <a:t>Annual Status of Education Report (Rural) 2022</a:t>
            </a:r>
            <a:r>
              <a:rPr lang="en-US" dirty="0">
                <a:effectLst/>
              </a:rPr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ASER Centre. (2023b). ASER 2022 national findings. In </a:t>
            </a:r>
            <a:r>
              <a:rPr lang="en-US" i="1" dirty="0">
                <a:effectLst/>
              </a:rPr>
              <a:t>ASER. Annual status of education</a:t>
            </a:r>
            <a:r>
              <a:rPr lang="en-US" dirty="0">
                <a:effectLst/>
              </a:rPr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ASER Centre. (2024). Annual status of education report (rural) 2023: Beyond basics. In </a:t>
            </a:r>
            <a:r>
              <a:rPr lang="en-US" i="1" dirty="0">
                <a:effectLst/>
              </a:rPr>
              <a:t>ASER</a:t>
            </a:r>
            <a:r>
              <a:rPr lang="en-US" dirty="0">
                <a:effectLst/>
              </a:rPr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Attanasio</a:t>
            </a:r>
            <a:r>
              <a:rPr lang="en-US" dirty="0">
                <a:effectLst/>
              </a:rPr>
              <a:t>, O., Blundell, R., Conti, G., &amp; Mason, G. (2020). Inequality in socio-emotional skills: A cross-cohort comparison. </a:t>
            </a:r>
            <a:r>
              <a:rPr lang="en-US" i="1" dirty="0">
                <a:effectLst/>
              </a:rPr>
              <a:t>Journal of Public Economics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191</a:t>
            </a:r>
            <a:r>
              <a:rPr lang="en-US" dirty="0">
                <a:effectLst/>
              </a:rPr>
              <a:t>, 104171. </a:t>
            </a:r>
            <a:r>
              <a:rPr lang="en-US" dirty="0">
                <a:effectLst/>
                <a:hlinkClick r:id="rId9"/>
              </a:rPr>
              <a:t>https://doi.org/10.1016/j.jpubeco.2020.104171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Azam, M., Chin, A., &amp; Prakash, N. (2013). The Returns to English-Language Skills in India. </a:t>
            </a:r>
            <a:r>
              <a:rPr lang="en-US" i="1" dirty="0">
                <a:effectLst/>
              </a:rPr>
              <a:t>Economic Development and Cultural Change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61</a:t>
            </a:r>
            <a:r>
              <a:rPr lang="en-US" dirty="0">
                <a:effectLst/>
              </a:rPr>
              <a:t>(2), 335–367. </a:t>
            </a:r>
            <a:r>
              <a:rPr lang="en-US" dirty="0">
                <a:effectLst/>
                <a:hlinkClick r:id="rId10"/>
              </a:rPr>
              <a:t>https://doi.org/10.1086/668277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Azam, M., &amp; </a:t>
            </a:r>
            <a:r>
              <a:rPr lang="en-US" dirty="0" err="1">
                <a:effectLst/>
              </a:rPr>
              <a:t>Kingdon</a:t>
            </a:r>
            <a:r>
              <a:rPr lang="en-US" dirty="0">
                <a:effectLst/>
              </a:rPr>
              <a:t>, G. G. (2015). Assessing teacher quality in India. </a:t>
            </a:r>
            <a:r>
              <a:rPr lang="en-US" i="1" dirty="0">
                <a:effectLst/>
              </a:rPr>
              <a:t>Journal of Development Economics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117</a:t>
            </a:r>
            <a:r>
              <a:rPr lang="en-US" dirty="0">
                <a:effectLst/>
              </a:rPr>
              <a:t>, 74–83. </a:t>
            </a:r>
            <a:r>
              <a:rPr lang="en-US" dirty="0">
                <a:effectLst/>
                <a:hlinkClick r:id="rId11"/>
              </a:rPr>
              <a:t>https://doi.org/10.1016/j.jdeveco.2015.07.001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Baker, L. (2020, January). </a:t>
            </a:r>
            <a:r>
              <a:rPr lang="en-US" i="1" dirty="0">
                <a:effectLst/>
              </a:rPr>
              <a:t>Britain rescues its “soft-power” branch after heavy COVID blow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12"/>
              </a:rPr>
              <a:t>https://www.reuters.com/article/us-health-coronavirus-britain-council-idUSKBN23X1NK/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Banik</a:t>
            </a:r>
            <a:r>
              <a:rPr lang="en-US" dirty="0">
                <a:effectLst/>
              </a:rPr>
              <a:t>, S. (2018). Teaching </a:t>
            </a:r>
            <a:r>
              <a:rPr lang="en-US" dirty="0" err="1">
                <a:effectLst/>
              </a:rPr>
              <a:t>english</a:t>
            </a:r>
            <a:r>
              <a:rPr lang="en-US" dirty="0">
                <a:effectLst/>
              </a:rPr>
              <a:t> Literature/Language: Perspectives from a non-metro university. In </a:t>
            </a:r>
            <a:r>
              <a:rPr lang="en-US" i="1" dirty="0">
                <a:effectLst/>
              </a:rPr>
              <a:t>Springer eBooks</a:t>
            </a:r>
            <a:r>
              <a:rPr lang="en-US" dirty="0">
                <a:effectLst/>
              </a:rPr>
              <a:t> (pp. 167–174). </a:t>
            </a:r>
            <a:r>
              <a:rPr lang="en-US" dirty="0">
                <a:effectLst/>
                <a:hlinkClick r:id="rId13"/>
              </a:rPr>
              <a:t>https://doi.org/10.1007/978-981-13-1525-1_14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Basu</a:t>
            </a:r>
            <a:r>
              <a:rPr lang="en-US" dirty="0">
                <a:effectLst/>
              </a:rPr>
              <a:t>, K. (2006). </a:t>
            </a:r>
            <a:r>
              <a:rPr lang="en-US" i="1" dirty="0">
                <a:effectLst/>
              </a:rPr>
              <a:t>Teacher Truancy in India: The Role of Culture, Norms and Economic Incentives</a:t>
            </a:r>
            <a:r>
              <a:rPr lang="en-US" dirty="0">
                <a:effectLst/>
              </a:rPr>
              <a:t> (No. 956057). </a:t>
            </a:r>
            <a:r>
              <a:rPr lang="en-US" dirty="0">
                <a:effectLst/>
                <a:hlinkClick r:id="rId14"/>
              </a:rPr>
              <a:t>https://doi.org/10.2139/ssrn.956057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Bedi</a:t>
            </a:r>
            <a:r>
              <a:rPr lang="en-US" dirty="0">
                <a:effectLst/>
              </a:rPr>
              <a:t>, J. (2019). </a:t>
            </a:r>
            <a:r>
              <a:rPr lang="en-US" i="1" dirty="0">
                <a:effectLst/>
              </a:rPr>
              <a:t>English language in India</a:t>
            </a:r>
            <a:r>
              <a:rPr lang="en-US" dirty="0">
                <a:effectLst/>
              </a:rPr>
              <a:t> (1st ed.). Routledge India. </a:t>
            </a:r>
            <a:r>
              <a:rPr lang="en-US" dirty="0">
                <a:effectLst/>
                <a:hlinkClick r:id="rId15"/>
              </a:rPr>
              <a:t>https://doi.org/10.4324/9780429328329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Beer, C., &amp; </a:t>
            </a:r>
            <a:r>
              <a:rPr lang="en-US" dirty="0" err="1">
                <a:effectLst/>
              </a:rPr>
              <a:t>Riedl</a:t>
            </a:r>
            <a:r>
              <a:rPr lang="en-US" dirty="0">
                <a:effectLst/>
              </a:rPr>
              <a:t>, A. (2012). Modelling spatial externalities in panel data: The Spatial Durbin model revisited. </a:t>
            </a:r>
            <a:r>
              <a:rPr lang="en-US" i="1" dirty="0">
                <a:effectLst/>
              </a:rPr>
              <a:t>Papers in Regional Science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91</a:t>
            </a:r>
            <a:r>
              <a:rPr lang="en-US" dirty="0">
                <a:effectLst/>
              </a:rPr>
              <a:t>(2), 299–319. </a:t>
            </a:r>
            <a:r>
              <a:rPr lang="en-US" dirty="0">
                <a:effectLst/>
                <a:hlinkClick r:id="rId16"/>
              </a:rPr>
              <a:t>https://doi.org/10.1111/j.1435-5957.2011.00394.x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Bell, A., &amp; Jones, K. (2015). Explaining Fixed Effects: Random Effects Modeling of Time-Series Cross-Sectional and Panel Data. </a:t>
            </a:r>
            <a:r>
              <a:rPr lang="en-US" i="1" dirty="0">
                <a:effectLst/>
              </a:rPr>
              <a:t>Political Science Research and Methods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3</a:t>
            </a:r>
            <a:r>
              <a:rPr lang="en-US" dirty="0">
                <a:effectLst/>
              </a:rPr>
              <a:t>(1), 133–153. </a:t>
            </a:r>
            <a:r>
              <a:rPr lang="en-US" dirty="0">
                <a:effectLst/>
                <a:hlinkClick r:id="rId17"/>
              </a:rPr>
              <a:t>https://doi.org/10.1017/psrm.2014.7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Bennett, C., Miller, M., &amp; Wolford, G. (2009). Neural correlates of interspecies perspective taking in the post-mortem Atlantic Salmon: An argument for multiple comparisons correction. </a:t>
            </a:r>
            <a:r>
              <a:rPr lang="en-US" i="1" dirty="0" err="1">
                <a:effectLst/>
              </a:rPr>
              <a:t>NeuroImage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47</a:t>
            </a:r>
            <a:r>
              <a:rPr lang="en-US" dirty="0">
                <a:effectLst/>
              </a:rPr>
              <a:t>, S125. </a:t>
            </a:r>
            <a:r>
              <a:rPr lang="en-US" dirty="0">
                <a:effectLst/>
                <a:hlinkClick r:id="rId18"/>
              </a:rPr>
              <a:t>https://doi.org/10.1016/S1053-8119(09)71202-9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Bhandari, A., &amp; </a:t>
            </a:r>
            <a:r>
              <a:rPr lang="en-US" dirty="0" err="1">
                <a:effectLst/>
              </a:rPr>
              <a:t>Heshmati</a:t>
            </a:r>
            <a:r>
              <a:rPr lang="en-US" dirty="0">
                <a:effectLst/>
              </a:rPr>
              <a:t>, A. (2006). </a:t>
            </a:r>
            <a:r>
              <a:rPr lang="en-US" i="1" dirty="0">
                <a:effectLst/>
              </a:rPr>
              <a:t>Wage inequality and job insecurity among permanent and contract workers in </a:t>
            </a:r>
            <a:r>
              <a:rPr lang="en-US" i="1" dirty="0" err="1">
                <a:effectLst/>
              </a:rPr>
              <a:t>india</a:t>
            </a:r>
            <a:r>
              <a:rPr lang="en-US" i="1" dirty="0">
                <a:effectLst/>
              </a:rPr>
              <a:t>: Evidence from organized manufacturing industries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19"/>
              </a:rPr>
              <a:t>https://doi.org/10.2139/ssrn.900362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Bhandari, L., &amp; </a:t>
            </a:r>
            <a:r>
              <a:rPr lang="en-US" dirty="0" err="1">
                <a:effectLst/>
              </a:rPr>
              <a:t>Bordoloi</a:t>
            </a:r>
            <a:r>
              <a:rPr lang="en-US" dirty="0">
                <a:effectLst/>
              </a:rPr>
              <a:t>, M. (2006). Income Differentials and Returns to Education. </a:t>
            </a:r>
            <a:r>
              <a:rPr lang="en-US" i="1" dirty="0">
                <a:effectLst/>
              </a:rPr>
              <a:t>Economic and Political Weekly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41</a:t>
            </a:r>
            <a:r>
              <a:rPr lang="en-US" dirty="0">
                <a:effectLst/>
              </a:rPr>
              <a:t>(36), 3893–3900.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Bharti, N. K., Chancel, L., Piketty, T., &amp; </a:t>
            </a:r>
            <a:r>
              <a:rPr lang="en-US" dirty="0" err="1">
                <a:effectLst/>
              </a:rPr>
              <a:t>Somanchi</a:t>
            </a:r>
            <a:r>
              <a:rPr lang="en-US" dirty="0">
                <a:effectLst/>
              </a:rPr>
              <a:t>, A. (2024). </a:t>
            </a:r>
            <a:r>
              <a:rPr lang="en-US" i="1" dirty="0">
                <a:effectLst/>
              </a:rPr>
              <a:t>Income and Wealth Inequality in India, 1922-2023: The Rise of the Billionaire Raj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20"/>
              </a:rPr>
              <a:t>https://wid.world/www-site/uploads/2024/03/WorldInequalityLab_WP2024_09_Income-and-Wealth-Inequality-in-India-1922-2023_Final.pdf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Bhatia, A. (2020). </a:t>
            </a:r>
            <a:r>
              <a:rPr lang="en-US" i="1" dirty="0">
                <a:effectLst/>
              </a:rPr>
              <a:t>Merging updated district-level shapefiles for India (2020)</a:t>
            </a:r>
            <a:r>
              <a:rPr lang="en-US" dirty="0">
                <a:effectLst/>
              </a:rPr>
              <a:t> [Dataset]. india_shp_2020. </a:t>
            </a:r>
            <a:r>
              <a:rPr lang="en-US" dirty="0">
                <a:effectLst/>
                <a:hlinkClick r:id="rId21"/>
              </a:rPr>
              <a:t>https://github.com/abhatia08/india_shp_2020</a:t>
            </a:r>
            <a:endParaRPr lang="en-US" dirty="0">
              <a:effectLst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Bhattacharya, S., Tiwari, K. K., Tayyab, M., Singh, D., Gautam, R. P., &amp; Rani, S. (2018). EDUCATIONAL STATISTICS AT A GLANCE. In </a:t>
            </a:r>
            <a:r>
              <a:rPr lang="en-US" i="1" dirty="0">
                <a:effectLst/>
              </a:rPr>
              <a:t>Government of </a:t>
            </a:r>
            <a:r>
              <a:rPr lang="en-US" i="1" dirty="0" err="1">
                <a:effectLst/>
              </a:rPr>
              <a:t>india</a:t>
            </a:r>
            <a:r>
              <a:rPr lang="en-US" dirty="0">
                <a:effectLst/>
              </a:rPr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>
                <a:effectLst/>
              </a:rPr>
              <a:t>Bhattacharya, U. (2022). The teaching of </a:t>
            </a:r>
            <a:r>
              <a:rPr lang="en-US" dirty="0" err="1">
                <a:effectLst/>
              </a:rPr>
              <a:t>english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india</a:t>
            </a:r>
            <a:r>
              <a:rPr lang="en-US" dirty="0">
                <a:effectLst/>
              </a:rPr>
              <a:t>. </a:t>
            </a:r>
            <a:r>
              <a:rPr lang="en-US" i="1" dirty="0">
                <a:effectLst/>
              </a:rPr>
              <a:t>Oxford Research Encyclopedia of Education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22"/>
              </a:rPr>
              <a:t>https://doi.org/10.1093/acrefore/9780190264093.013.1777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4856AA-C9D3-41CD-8612-E387E1CC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6909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References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DB150-0ED5-4B10-9E78-1E7886CFF3B7}"/>
              </a:ext>
            </a:extLst>
          </p:cNvPr>
          <p:cNvSpPr txBox="1">
            <a:spLocks/>
          </p:cNvSpPr>
          <p:nvPr/>
        </p:nvSpPr>
        <p:spPr>
          <a:xfrm>
            <a:off x="6096000" y="841529"/>
            <a:ext cx="5725357" cy="574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Bhattacharya, U. (2022). The teaching of </a:t>
            </a:r>
            <a:r>
              <a:rPr lang="en-US" dirty="0" err="1"/>
              <a:t>english</a:t>
            </a:r>
            <a:r>
              <a:rPr lang="en-US" dirty="0"/>
              <a:t> in </a:t>
            </a:r>
            <a:r>
              <a:rPr lang="en-US" dirty="0" err="1"/>
              <a:t>india</a:t>
            </a:r>
            <a:r>
              <a:rPr lang="en-US" dirty="0"/>
              <a:t>. </a:t>
            </a:r>
            <a:r>
              <a:rPr lang="en-US" i="1" dirty="0"/>
              <a:t>Oxford Research Encyclopedia of Education</a:t>
            </a:r>
            <a:r>
              <a:rPr lang="en-US" dirty="0"/>
              <a:t>. </a:t>
            </a:r>
            <a:r>
              <a:rPr lang="en-US" dirty="0">
                <a:hlinkClick r:id="rId22"/>
              </a:rPr>
              <a:t>https://doi.org/10.1093/acrefore/9780190264093.013.1777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Björklund, A., &amp; </a:t>
            </a:r>
            <a:r>
              <a:rPr lang="en-US" dirty="0" err="1"/>
              <a:t>Kjellström</a:t>
            </a:r>
            <a:r>
              <a:rPr lang="en-US" dirty="0"/>
              <a:t>, C. (2002). Estimating the return to investments in education: How useful is the standard Mincer equation? </a:t>
            </a:r>
            <a:r>
              <a:rPr lang="en-US" i="1" dirty="0"/>
              <a:t>Economics of Education Review</a:t>
            </a:r>
            <a:r>
              <a:rPr lang="en-US" dirty="0"/>
              <a:t>, </a:t>
            </a:r>
            <a:r>
              <a:rPr lang="en-US" i="1" dirty="0"/>
              <a:t>21</a:t>
            </a:r>
            <a:r>
              <a:rPr lang="en-US" dirty="0"/>
              <a:t>(3), 195–210. </a:t>
            </a:r>
            <a:r>
              <a:rPr lang="en-US" dirty="0">
                <a:hlinkClick r:id="rId23"/>
              </a:rPr>
              <a:t>https://doi.org/10.1016/S0272-7757(01)00003-6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Blimpo</a:t>
            </a:r>
            <a:r>
              <a:rPr lang="en-US" dirty="0"/>
              <a:t>, M. P., Evans, D. K., &amp; </a:t>
            </a:r>
            <a:r>
              <a:rPr lang="en-US" dirty="0" err="1"/>
              <a:t>Lahire</a:t>
            </a:r>
            <a:r>
              <a:rPr lang="en-US" dirty="0"/>
              <a:t>, N. (2015). </a:t>
            </a:r>
            <a:r>
              <a:rPr lang="en-US" i="1" dirty="0"/>
              <a:t>Parental Human Capital and Effective School Management: Evidence from the Gambia</a:t>
            </a:r>
            <a:r>
              <a:rPr lang="en-US" dirty="0"/>
              <a:t> [Policy Research Working Papers]. The World Bank. </a:t>
            </a:r>
            <a:r>
              <a:rPr lang="en-US" dirty="0">
                <a:hlinkClick r:id="rId24"/>
              </a:rPr>
              <a:t>https://doi.org/10.1596/1813-9450-7238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Borooah</a:t>
            </a:r>
            <a:r>
              <a:rPr lang="en-US" dirty="0"/>
              <a:t>, V., &amp; Sabharwal, N. S. (2021). Chapter eleven—English as a medium of instruction in </a:t>
            </a:r>
            <a:r>
              <a:rPr lang="en-US" dirty="0" err="1"/>
              <a:t>indian</a:t>
            </a:r>
            <a:r>
              <a:rPr lang="en-US" dirty="0"/>
              <a:t> education: Inequality of access to educational opportunities. In </a:t>
            </a:r>
            <a:r>
              <a:rPr lang="en-US" i="1" dirty="0"/>
              <a:t>Reclaiming development studies</a:t>
            </a:r>
            <a:r>
              <a:rPr lang="en-US" dirty="0"/>
              <a:t> (pp. 197–226). Anthem Press Print.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British Council. (2012). </a:t>
            </a:r>
            <a:r>
              <a:rPr lang="en-US" i="1" dirty="0"/>
              <a:t>The </a:t>
            </a:r>
            <a:r>
              <a:rPr lang="en-US" i="1" dirty="0" err="1"/>
              <a:t>english</a:t>
            </a:r>
            <a:r>
              <a:rPr lang="en-US" i="1" dirty="0"/>
              <a:t> effect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British Council. (2020). Research summary. In </a:t>
            </a:r>
            <a:r>
              <a:rPr lang="en-US" i="1" dirty="0"/>
              <a:t>The future of </a:t>
            </a:r>
            <a:r>
              <a:rPr lang="en-US" i="1" dirty="0" err="1"/>
              <a:t>english</a:t>
            </a:r>
            <a:r>
              <a:rPr lang="en-US" i="1" dirty="0"/>
              <a:t>: Global Perspectives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Bühmann</a:t>
            </a:r>
            <a:r>
              <a:rPr lang="en-US" dirty="0"/>
              <a:t>, D., &amp; Trudell, B. (2008). Mother tongue matters: Local language as a key to effective learning. In </a:t>
            </a:r>
            <a:r>
              <a:rPr lang="en-US" i="1" dirty="0"/>
              <a:t>UNESDOC digital library</a:t>
            </a:r>
            <a:r>
              <a:rPr lang="en-US" dirty="0"/>
              <a:t>. </a:t>
            </a:r>
            <a:r>
              <a:rPr lang="en-US" dirty="0">
                <a:hlinkClick r:id="rId25"/>
              </a:rPr>
              <a:t>https://unesdoc.unesco.org/ark:/48223/pf0000161121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Card, D. (1999). Chapter 30—The Causal Effect of Education on Earnings. In O. C. </a:t>
            </a:r>
            <a:r>
              <a:rPr lang="en-US" dirty="0" err="1"/>
              <a:t>Ashenfelter</a:t>
            </a:r>
            <a:r>
              <a:rPr lang="en-US" dirty="0"/>
              <a:t> &amp; D. Card (Eds.), </a:t>
            </a:r>
            <a:r>
              <a:rPr lang="en-US" i="1" dirty="0"/>
              <a:t>Handbook of Labor Economics</a:t>
            </a:r>
            <a:r>
              <a:rPr lang="en-US" dirty="0"/>
              <a:t> (Vol. 3, pp. 1801–1863). Elsevier. </a:t>
            </a:r>
            <a:r>
              <a:rPr lang="en-US" dirty="0">
                <a:hlinkClick r:id="rId26"/>
              </a:rPr>
              <a:t>https://doi.org/10.1016/S1573-4463(99)03011-4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Carliner</a:t>
            </a:r>
            <a:r>
              <a:rPr lang="en-US" dirty="0"/>
              <a:t>, G. (1981). Wage differences by language group and the market for language skills in Canada. </a:t>
            </a:r>
            <a:r>
              <a:rPr lang="en-US" i="1" dirty="0"/>
              <a:t>Journal of Human Resources</a:t>
            </a:r>
            <a:r>
              <a:rPr lang="en-US" dirty="0"/>
              <a:t>, </a:t>
            </a:r>
            <a:r>
              <a:rPr lang="en-US" i="1" dirty="0"/>
              <a:t>16</a:t>
            </a:r>
            <a:r>
              <a:rPr lang="en-US" dirty="0"/>
              <a:t>(3), 384. </a:t>
            </a:r>
            <a:r>
              <a:rPr lang="en-US" dirty="0">
                <a:hlinkClick r:id="rId27"/>
              </a:rPr>
              <a:t>https://doi.org/10.2307/145627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Central Square Foundation. (2020). </a:t>
            </a:r>
            <a:r>
              <a:rPr lang="en-US" i="1" dirty="0"/>
              <a:t>State of the sector report on private schools in </a:t>
            </a:r>
            <a:r>
              <a:rPr lang="en-US" i="1" dirty="0" err="1"/>
              <a:t>india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Central Statistics Office. (2008). </a:t>
            </a:r>
            <a:r>
              <a:rPr lang="en-US" i="1" dirty="0"/>
              <a:t>India—Fifth Economic Census 2005</a:t>
            </a:r>
            <a:r>
              <a:rPr lang="en-US" dirty="0"/>
              <a:t> [Dataset].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28"/>
              </a:rPr>
              <a:t>https://microdata.gov.in/NADA/index.php/catalog/46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Central Statistics Office. (2010). </a:t>
            </a:r>
            <a:r>
              <a:rPr lang="en-US" i="1" dirty="0"/>
              <a:t>India—Annual Survey of Industries 2007-08</a:t>
            </a:r>
            <a:r>
              <a:rPr lang="en-US" dirty="0"/>
              <a:t> (No. IND-CSO-ASI-2007-08-v1) [Dataset].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29"/>
              </a:rPr>
              <a:t>https://microdata.gov.in/NADA/index.php/catalog/20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Central Statistics Office. (2016). </a:t>
            </a:r>
            <a:r>
              <a:rPr lang="en-US" i="1" dirty="0"/>
              <a:t>India—Sixth Economic Census 2013-14</a:t>
            </a:r>
            <a:r>
              <a:rPr lang="en-US" dirty="0"/>
              <a:t> [Dataset].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30"/>
              </a:rPr>
              <a:t>https://microdata.gov.in/NADA/index.php/catalog/47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Central Statistics Office. (2019). </a:t>
            </a:r>
            <a:r>
              <a:rPr lang="en-US" i="1" dirty="0"/>
              <a:t>India—Annual Survey of Industries 2017-18</a:t>
            </a:r>
            <a:r>
              <a:rPr lang="en-US" dirty="0"/>
              <a:t> (No. IND-CSO-ASI-2017-18) [Dataset].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31"/>
              </a:rPr>
              <a:t>https://microdata.gov.in/NADA/index.php/catalog/149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Centre for Budget and Policy Studies. (2020). </a:t>
            </a:r>
            <a:r>
              <a:rPr lang="en-US" i="1" dirty="0"/>
              <a:t>Quality and Systemic Functioning in Secondary Education in India: A study in Andhra Pradesh and Rajasthan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Chakraborty, T., &amp; </a:t>
            </a:r>
            <a:r>
              <a:rPr lang="en-US" dirty="0" err="1"/>
              <a:t>Bakshi</a:t>
            </a:r>
            <a:r>
              <a:rPr lang="en-US" dirty="0"/>
              <a:t>, S. K. (2016). English language premium: Evidence from a policy experiment in India. </a:t>
            </a:r>
            <a:r>
              <a:rPr lang="en-US" i="1" dirty="0"/>
              <a:t>Economics of Education Review</a:t>
            </a:r>
            <a:r>
              <a:rPr lang="en-US" dirty="0"/>
              <a:t>, </a:t>
            </a:r>
            <a:r>
              <a:rPr lang="en-US" i="1" dirty="0"/>
              <a:t>50</a:t>
            </a:r>
            <a:r>
              <a:rPr lang="en-US" dirty="0"/>
              <a:t>, 1–16. </a:t>
            </a:r>
            <a:r>
              <a:rPr lang="en-US" dirty="0">
                <a:hlinkClick r:id="rId32"/>
              </a:rPr>
              <a:t>https://doi.org/10.1016/j.econedurev.2015.10.004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Chamarbagwala</a:t>
            </a:r>
            <a:r>
              <a:rPr lang="en-US" dirty="0"/>
              <a:t>, R., &amp; Sharma, G. (2011). Industrial de-licensing, trade liberalization, and skill upgrading in India. </a:t>
            </a:r>
            <a:r>
              <a:rPr lang="en-US" i="1" dirty="0"/>
              <a:t>Journal of Development Economics</a:t>
            </a:r>
            <a:r>
              <a:rPr lang="en-US" dirty="0"/>
              <a:t>, </a:t>
            </a:r>
            <a:r>
              <a:rPr lang="en-US" i="1" dirty="0"/>
              <a:t>96</a:t>
            </a:r>
            <a:r>
              <a:rPr lang="en-US" dirty="0"/>
              <a:t>(2), 314–336. </a:t>
            </a:r>
            <a:r>
              <a:rPr lang="en-US" dirty="0">
                <a:hlinkClick r:id="rId33"/>
              </a:rPr>
              <a:t>https://doi.org/10.1016/j.jdeveco.2010.10.001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Chaudhury, N., Hammer, J., Kremer, M., </a:t>
            </a:r>
            <a:r>
              <a:rPr lang="en-US" dirty="0" err="1"/>
              <a:t>Muralidharan</a:t>
            </a:r>
            <a:r>
              <a:rPr lang="en-US" dirty="0"/>
              <a:t>, K., &amp; Rogers, F. H. (2006). Missing in Action: Teacher and Health Worker Absence in Developing Countries. </a:t>
            </a:r>
            <a:r>
              <a:rPr lang="en-US" i="1" dirty="0"/>
              <a:t>Journal of Economic Perspectives</a:t>
            </a:r>
            <a:r>
              <a:rPr lang="en-US" dirty="0"/>
              <a:t>, </a:t>
            </a:r>
            <a:r>
              <a:rPr lang="en-US" i="1" dirty="0"/>
              <a:t>20</a:t>
            </a:r>
            <a:r>
              <a:rPr lang="en-US" dirty="0"/>
              <a:t>(1), 91–116. </a:t>
            </a:r>
            <a:r>
              <a:rPr lang="en-US" dirty="0">
                <a:hlinkClick r:id="rId34"/>
              </a:rPr>
              <a:t>https://doi.org/10.1257/089533006776526058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Chaurasia</a:t>
            </a:r>
            <a:r>
              <a:rPr lang="en-US" dirty="0"/>
              <a:t>, A. R. (2023). Human development in districts of </a:t>
            </a:r>
            <a:r>
              <a:rPr lang="en-US" dirty="0" err="1"/>
              <a:t>india</a:t>
            </a:r>
            <a:r>
              <a:rPr lang="en-US" dirty="0"/>
              <a:t>, 2019–2021. </a:t>
            </a:r>
            <a:r>
              <a:rPr lang="en-US" i="1" dirty="0"/>
              <a:t>Indian Journal of Human Development</a:t>
            </a:r>
            <a:r>
              <a:rPr lang="en-US" dirty="0"/>
              <a:t>, </a:t>
            </a:r>
            <a:r>
              <a:rPr lang="en-US" i="1" dirty="0"/>
              <a:t>17</a:t>
            </a:r>
            <a:r>
              <a:rPr lang="en-US" dirty="0"/>
              <a:t>(2), 219–252. </a:t>
            </a:r>
            <a:r>
              <a:rPr lang="en-US" dirty="0">
                <a:hlinkClick r:id="rId35"/>
              </a:rPr>
              <a:t>https://doi.org/10.1177/09737030231178362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Chen, K., Chen, T., &amp; Lin, H. (2020). A U-shaped curve phenomenon of international language on output growth: Empirical evidence. </a:t>
            </a:r>
            <a:r>
              <a:rPr lang="en-US" i="1" dirty="0"/>
              <a:t>Applied Economics Letters</a:t>
            </a:r>
            <a:r>
              <a:rPr lang="en-US" dirty="0"/>
              <a:t>, </a:t>
            </a:r>
            <a:r>
              <a:rPr lang="en-US" i="1" dirty="0"/>
              <a:t>27</a:t>
            </a:r>
            <a:r>
              <a:rPr lang="en-US" dirty="0"/>
              <a:t>(8), 605–614. </a:t>
            </a:r>
            <a:r>
              <a:rPr lang="en-US" dirty="0">
                <a:hlinkClick r:id="rId36"/>
              </a:rPr>
              <a:t>https://doi.org/10.1080/13504851.2020.1737313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Chetty, R., Friedman, J. N., &amp; Rockoff, J. E. (2014). Measuring the Impacts of Teachers II: Teacher Value-Added and Student Outcomes in Adulthood. </a:t>
            </a:r>
            <a:r>
              <a:rPr lang="en-US" i="1" dirty="0"/>
              <a:t>American Economic Review</a:t>
            </a:r>
            <a:r>
              <a:rPr lang="en-US" dirty="0"/>
              <a:t>, </a:t>
            </a:r>
            <a:r>
              <a:rPr lang="en-US" i="1" dirty="0"/>
              <a:t>104</a:t>
            </a:r>
            <a:r>
              <a:rPr lang="en-US" dirty="0"/>
              <a:t>(9), 2633–2679. </a:t>
            </a:r>
            <a:r>
              <a:rPr lang="en-US" dirty="0">
                <a:hlinkClick r:id="rId37"/>
              </a:rPr>
              <a:t>https://doi.org/10.1257/aer.104.9.2633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Chiswick, B. R., &amp; Miller, P. W. (1995). The endogeneity between language and earnings: International analyses. </a:t>
            </a:r>
            <a:r>
              <a:rPr lang="en-US" i="1" dirty="0"/>
              <a:t>Journal of Labor Economics</a:t>
            </a:r>
            <a:r>
              <a:rPr lang="en-US" dirty="0"/>
              <a:t>, </a:t>
            </a:r>
            <a:r>
              <a:rPr lang="en-US" i="1" dirty="0"/>
              <a:t>13</a:t>
            </a:r>
            <a:r>
              <a:rPr lang="en-US" dirty="0"/>
              <a:t>(2), 246–288. </a:t>
            </a:r>
            <a:r>
              <a:rPr lang="en-US" dirty="0">
                <a:hlinkClick r:id="rId38"/>
              </a:rPr>
              <a:t>https://doi.org/10.1086/298374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Chiswick, B. R., &amp; Miller, P. W. (2005). Linguistic Distance: A Quantitative Measure of the Distance Between English and Other Languages. </a:t>
            </a:r>
            <a:r>
              <a:rPr lang="en-US" i="1" dirty="0"/>
              <a:t>Journal of Multilingual and Multicultural Development</a:t>
            </a:r>
            <a:r>
              <a:rPr lang="en-US" dirty="0"/>
              <a:t>. </a:t>
            </a:r>
            <a:r>
              <a:rPr lang="en-US" dirty="0">
                <a:hlinkClick r:id="rId39"/>
              </a:rPr>
              <a:t>https://doi.org/10.1080/14790710508668395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Chun, Y. (2008). Modeling network autocorrelation within migration flows by eigenvector spatial filtering. </a:t>
            </a:r>
            <a:r>
              <a:rPr lang="en-US" i="1" dirty="0"/>
              <a:t>Journal of Geographical Systems</a:t>
            </a:r>
            <a:r>
              <a:rPr lang="en-US" dirty="0"/>
              <a:t>, </a:t>
            </a:r>
            <a:r>
              <a:rPr lang="en-US" i="1" dirty="0"/>
              <a:t>10</a:t>
            </a:r>
            <a:r>
              <a:rPr lang="en-US" dirty="0"/>
              <a:t>(4), 317–344. </a:t>
            </a:r>
            <a:r>
              <a:rPr lang="en-US" dirty="0">
                <a:hlinkClick r:id="rId40"/>
              </a:rPr>
              <a:t>https://doi.org/10.1007/s10109-008-0068-2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81560-E60E-078D-B757-D929A47F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04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A60E5-EEAB-4B40-974C-25D0259A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43" y="841529"/>
            <a:ext cx="5725357" cy="574570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Clingingsmith, D. (2008). </a:t>
            </a:r>
            <a:r>
              <a:rPr lang="en-US" i="1" dirty="0"/>
              <a:t>Bilingualism, Language Shift, and Industrialization in Mid-20th Century India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Clingingsmith, D. (2014). Industrialization and Bilingualism in India. </a:t>
            </a:r>
            <a:r>
              <a:rPr lang="en-US" i="1" dirty="0"/>
              <a:t>Journal of Human Resources</a:t>
            </a:r>
            <a:r>
              <a:rPr lang="en-US" dirty="0"/>
              <a:t>, </a:t>
            </a:r>
            <a:r>
              <a:rPr lang="en-US" i="1" dirty="0"/>
              <a:t>49</a:t>
            </a:r>
            <a:r>
              <a:rPr lang="en-US" dirty="0"/>
              <a:t>(1), 73–109. </a:t>
            </a:r>
            <a:r>
              <a:rPr lang="en-US" dirty="0">
                <a:hlinkClick r:id="rId2"/>
              </a:rPr>
              <a:t>https://doi.org/10.3368/jhr.49.1.73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Costa, D. (2019). Indian </a:t>
            </a:r>
            <a:r>
              <a:rPr lang="en-US" dirty="0" err="1"/>
              <a:t>english</a:t>
            </a:r>
            <a:r>
              <a:rPr lang="en-US" dirty="0"/>
              <a:t> – a national model. </a:t>
            </a:r>
            <a:r>
              <a:rPr lang="en-US" i="1" dirty="0"/>
              <a:t>Journal of English as an International Language</a:t>
            </a:r>
            <a:r>
              <a:rPr lang="en-US" dirty="0"/>
              <a:t>, </a:t>
            </a:r>
            <a:r>
              <a:rPr lang="en-US" i="1" dirty="0"/>
              <a:t>14</a:t>
            </a:r>
            <a:r>
              <a:rPr lang="en-US" dirty="0"/>
              <a:t>(2), 16–28.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Cunha, F., &amp; Heckman, J. J. (2008). Formulating, Identifying and Estimating the Technology of Cognitive and Noncognitive Skill Formation. </a:t>
            </a:r>
            <a:r>
              <a:rPr lang="en-US" i="1" dirty="0"/>
              <a:t>The Journal of Human Resources</a:t>
            </a:r>
            <a:r>
              <a:rPr lang="en-US" dirty="0"/>
              <a:t>, </a:t>
            </a:r>
            <a:r>
              <a:rPr lang="en-US" i="1" dirty="0"/>
              <a:t>43</a:t>
            </a:r>
            <a:r>
              <a:rPr lang="en-US" dirty="0"/>
              <a:t>(4), 738–782.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Davydov</a:t>
            </a:r>
            <a:r>
              <a:rPr lang="en-US" dirty="0"/>
              <a:t>, D., &amp; Weber, S. (2016). A simple characterization of the family of diversity indices. </a:t>
            </a:r>
            <a:r>
              <a:rPr lang="en-US" i="1" dirty="0"/>
              <a:t>Economics Letters</a:t>
            </a:r>
            <a:r>
              <a:rPr lang="en-US" dirty="0"/>
              <a:t>, </a:t>
            </a:r>
            <a:r>
              <a:rPr lang="en-US" i="1" dirty="0"/>
              <a:t>147</a:t>
            </a:r>
            <a:r>
              <a:rPr lang="en-US" dirty="0"/>
              <a:t>, 121–123. </a:t>
            </a:r>
            <a:r>
              <a:rPr lang="en-US" dirty="0">
                <a:hlinkClick r:id="rId3"/>
              </a:rPr>
              <a:t>https://doi.org/10.1016/j.econlet.2016.08.036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Day, J., &amp; Lewis, B. (2013). Beyond univariate measurement of spatial autocorrelation: Disaggregated spillover effects for Indonesia. </a:t>
            </a:r>
            <a:r>
              <a:rPr lang="en-US" i="1" dirty="0"/>
              <a:t>Annals of GIS</a:t>
            </a:r>
            <a:r>
              <a:rPr lang="en-US" dirty="0"/>
              <a:t>, </a:t>
            </a:r>
            <a:r>
              <a:rPr lang="en-US" i="1" dirty="0"/>
              <a:t>19</a:t>
            </a:r>
            <a:r>
              <a:rPr lang="en-US" dirty="0"/>
              <a:t>(3), 169–185. </a:t>
            </a:r>
            <a:r>
              <a:rPr lang="en-US" dirty="0">
                <a:hlinkClick r:id="rId4"/>
              </a:rPr>
              <a:t>https://doi.org/10.1080/19475683.2013.806353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Department of School Education and Literacy. (2021). </a:t>
            </a:r>
            <a:r>
              <a:rPr lang="en-US" i="1" dirty="0"/>
              <a:t>Implementation plan for national education policy 2020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Department of School Education and Literacy. (2022a). </a:t>
            </a:r>
            <a:r>
              <a:rPr lang="en-US" i="1" dirty="0"/>
              <a:t>2 Years of National Education Policy (NEP, 2020) Implementation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Department of School Education and Literacy. (2022b). </a:t>
            </a:r>
            <a:r>
              <a:rPr lang="en-US" i="1" dirty="0"/>
              <a:t>UDISE+ micro-data 2021-22</a:t>
            </a:r>
            <a:r>
              <a:rPr lang="en-US" dirty="0"/>
              <a:t>. Unified District Information System for Education Plus (UDISE+).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Desai, S., &amp; </a:t>
            </a:r>
            <a:r>
              <a:rPr lang="en-US" dirty="0" err="1"/>
              <a:t>Vanneman</a:t>
            </a:r>
            <a:r>
              <a:rPr lang="en-US" dirty="0"/>
              <a:t>, R. (2018). </a:t>
            </a:r>
            <a:r>
              <a:rPr lang="en-US" i="1" dirty="0"/>
              <a:t>India human development survey-II</a:t>
            </a:r>
            <a:r>
              <a:rPr lang="en-US" dirty="0"/>
              <a:t>. Inter-university Consortium for Political and Social Research. </a:t>
            </a:r>
            <a:r>
              <a:rPr lang="en-US" dirty="0">
                <a:hlinkClick r:id="rId5"/>
              </a:rPr>
              <a:t>https://doi.org/10.3886/ICPSR36151.v6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Dickson, M., &amp; Harmon, C. (2011). Economic returns to education: What we know, what we don’t know, and where we are Going—Some brief pointers. </a:t>
            </a:r>
            <a:r>
              <a:rPr lang="en-US" i="1" dirty="0"/>
              <a:t>Economics of Education Review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(6), 1118–1122. </a:t>
            </a:r>
            <a:r>
              <a:rPr lang="en-US" dirty="0">
                <a:hlinkClick r:id="rId6"/>
              </a:rPr>
              <a:t>https://doi.org/10.1016/j.econedurev.2011.08.003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Doreian</a:t>
            </a:r>
            <a:r>
              <a:rPr lang="en-US" dirty="0"/>
              <a:t>, P. (1981). Estimating linear models with spatially distributed data. </a:t>
            </a:r>
            <a:r>
              <a:rPr lang="en-US" i="1" dirty="0"/>
              <a:t>Sociological Methodology</a:t>
            </a:r>
            <a:r>
              <a:rPr lang="en-US" dirty="0"/>
              <a:t>, </a:t>
            </a:r>
            <a:r>
              <a:rPr lang="en-US" i="1" dirty="0"/>
              <a:t>12</a:t>
            </a:r>
            <a:r>
              <a:rPr lang="en-US" dirty="0"/>
              <a:t>, 359. </a:t>
            </a:r>
            <a:r>
              <a:rPr lang="en-US" dirty="0">
                <a:hlinkClick r:id="rId7"/>
              </a:rPr>
              <a:t>https://doi.org/10.2307/270747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Economic </a:t>
            </a:r>
            <a:r>
              <a:rPr lang="en-US" dirty="0" err="1"/>
              <a:t>Divison</a:t>
            </a:r>
            <a:r>
              <a:rPr lang="en-US" dirty="0"/>
              <a:t>. (2015). India on the move and churning: New evidence. In </a:t>
            </a:r>
            <a:r>
              <a:rPr lang="en-US" i="1" dirty="0"/>
              <a:t>Economic Survey 2016-17</a:t>
            </a:r>
            <a:r>
              <a:rPr lang="en-US" dirty="0"/>
              <a:t> (pp. 264–284). </a:t>
            </a:r>
            <a:r>
              <a:rPr lang="en-US" dirty="0">
                <a:hlinkClick r:id="rId8"/>
              </a:rPr>
              <a:t>https://www.indiabudget.gov.in/budget2017-2018/es2016-17/echap12.pdf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E.F. Education First. (2023a). EF EPI 2023 ranking of countries and regions. In </a:t>
            </a:r>
            <a:r>
              <a:rPr lang="en-US" i="1" dirty="0"/>
              <a:t>EF </a:t>
            </a:r>
            <a:r>
              <a:rPr lang="en-US" i="1" dirty="0" err="1"/>
              <a:t>english</a:t>
            </a:r>
            <a:r>
              <a:rPr lang="en-US" i="1" dirty="0"/>
              <a:t> proficiency index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E.F. Education First. (2023b). </a:t>
            </a:r>
            <a:r>
              <a:rPr lang="en-US" i="1" dirty="0"/>
              <a:t>India | EF English Proficiency Index</a:t>
            </a:r>
            <a:r>
              <a:rPr lang="en-US" dirty="0"/>
              <a:t>. EF English Proficiency Index.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Endow, T. (2019). Low cost private schools: How low cost really are these? </a:t>
            </a:r>
            <a:r>
              <a:rPr lang="en-US" i="1" dirty="0"/>
              <a:t>Indian Journal of Human Development</a:t>
            </a:r>
            <a:r>
              <a:rPr lang="en-US" dirty="0"/>
              <a:t>, </a:t>
            </a:r>
            <a:r>
              <a:rPr lang="en-US" i="1" dirty="0"/>
              <a:t>13</a:t>
            </a:r>
            <a:r>
              <a:rPr lang="en-US" dirty="0"/>
              <a:t>(1), 102–108. </a:t>
            </a:r>
            <a:r>
              <a:rPr lang="en-US" dirty="0">
                <a:hlinkClick r:id="rId9"/>
              </a:rPr>
              <a:t>https://doi.org/10.1177/0973703019838704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E.P.W. Engage. (2021). English Language education in India: How aspirations for social mobility shape pedagogy. </a:t>
            </a:r>
            <a:r>
              <a:rPr lang="en-US" i="1" dirty="0"/>
              <a:t>Economic and Political Weekly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Figueiredo</a:t>
            </a:r>
            <a:r>
              <a:rPr lang="en-US" dirty="0"/>
              <a:t>, H. (2019). Over-skilling, under-Skilling, and higher education. In </a:t>
            </a:r>
            <a:r>
              <a:rPr lang="en-US" i="1" dirty="0"/>
              <a:t>Encyclopedia of international higher education systems and institutions</a:t>
            </a:r>
            <a:r>
              <a:rPr lang="en-US" dirty="0"/>
              <a:t> (pp. 1–8). Springer. </a:t>
            </a:r>
            <a:r>
              <a:rPr lang="en-US" dirty="0">
                <a:hlinkClick r:id="rId10"/>
              </a:rPr>
              <a:t>https://doi.org/10.1007/978-94-017-9553-1_115-1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Fuchs, R. (2016). The historical and social context of Indian English. In </a:t>
            </a:r>
            <a:r>
              <a:rPr lang="en-US" i="1" dirty="0"/>
              <a:t>Prosody, phonology and phonetics</a:t>
            </a:r>
            <a:r>
              <a:rPr lang="en-US" dirty="0"/>
              <a:t> (pp. 9–34). Springer. </a:t>
            </a:r>
            <a:r>
              <a:rPr lang="en-US" dirty="0">
                <a:hlinkClick r:id="rId11"/>
              </a:rPr>
              <a:t>https://doi.org/10.1007/978-3-662-47818-9_2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Gamallo</a:t>
            </a:r>
            <a:r>
              <a:rPr lang="en-US" dirty="0"/>
              <a:t>, P., </a:t>
            </a:r>
            <a:r>
              <a:rPr lang="en-US" dirty="0" err="1"/>
              <a:t>Pichel</a:t>
            </a:r>
            <a:r>
              <a:rPr lang="en-US" dirty="0"/>
              <a:t>, J. R., &amp; Alegria, I. (2017). From language identification to language distance. </a:t>
            </a:r>
            <a:r>
              <a:rPr lang="en-US" i="1" dirty="0" err="1"/>
              <a:t>Physica</a:t>
            </a:r>
            <a:r>
              <a:rPr lang="en-US" i="1" dirty="0"/>
              <a:t> A: Statistical Mechanics and Its Applications</a:t>
            </a:r>
            <a:r>
              <a:rPr lang="en-US" dirty="0"/>
              <a:t>, </a:t>
            </a:r>
            <a:r>
              <a:rPr lang="en-US" i="1" dirty="0"/>
              <a:t>484</a:t>
            </a:r>
            <a:r>
              <a:rPr lang="en-US" dirty="0"/>
              <a:t>, 152–162. </a:t>
            </a:r>
            <a:r>
              <a:rPr lang="en-US" dirty="0">
                <a:hlinkClick r:id="rId12"/>
              </a:rPr>
              <a:t>https://doi.org/10.1016/j.physa.2017.05.011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Ginsburgh</a:t>
            </a:r>
            <a:r>
              <a:rPr lang="en-US" dirty="0"/>
              <a:t>, V., &amp; Weber, S. (2020). The economics of language. </a:t>
            </a:r>
            <a:r>
              <a:rPr lang="en-US" i="1" dirty="0"/>
              <a:t>Journal of Economic Literature</a:t>
            </a:r>
            <a:r>
              <a:rPr lang="en-US" dirty="0"/>
              <a:t>, </a:t>
            </a:r>
            <a:r>
              <a:rPr lang="en-US" i="1" dirty="0"/>
              <a:t>58</a:t>
            </a:r>
            <a:r>
              <a:rPr lang="en-US" dirty="0"/>
              <a:t>(2), 348–404. </a:t>
            </a:r>
            <a:r>
              <a:rPr lang="en-US" dirty="0">
                <a:hlinkClick r:id="rId13"/>
              </a:rPr>
              <a:t>https://doi.org/10.1257/jel.20191316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Gooptu</a:t>
            </a:r>
            <a:r>
              <a:rPr lang="en-US" dirty="0"/>
              <a:t>, S., &amp; Mukherjee, V. (2023). Does private tuition crowd out private schooling? Evidence from India. </a:t>
            </a:r>
            <a:r>
              <a:rPr lang="en-US" i="1" dirty="0"/>
              <a:t>International Journal of Educational Development</a:t>
            </a:r>
            <a:r>
              <a:rPr lang="en-US" dirty="0"/>
              <a:t>, </a:t>
            </a:r>
            <a:r>
              <a:rPr lang="en-US" i="1" dirty="0"/>
              <a:t>103</a:t>
            </a:r>
            <a:r>
              <a:rPr lang="en-US" dirty="0"/>
              <a:t>, 102885. </a:t>
            </a:r>
            <a:r>
              <a:rPr lang="en-US" dirty="0">
                <a:hlinkClick r:id="rId14"/>
              </a:rPr>
              <a:t>https://doi.org/10.1016/j.ijedudev.2023.102885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Graddol</a:t>
            </a:r>
            <a:r>
              <a:rPr lang="en-US" dirty="0"/>
              <a:t>, D. (2010). English next </a:t>
            </a:r>
            <a:r>
              <a:rPr lang="en-US" dirty="0" err="1"/>
              <a:t>india</a:t>
            </a:r>
            <a:r>
              <a:rPr lang="en-US" dirty="0"/>
              <a:t>: The future of </a:t>
            </a:r>
            <a:r>
              <a:rPr lang="en-US" dirty="0" err="1"/>
              <a:t>english</a:t>
            </a:r>
            <a:r>
              <a:rPr lang="en-US" dirty="0"/>
              <a:t> in </a:t>
            </a:r>
            <a:r>
              <a:rPr lang="en-US" dirty="0" err="1"/>
              <a:t>india</a:t>
            </a:r>
            <a:r>
              <a:rPr lang="en-US" dirty="0"/>
              <a:t> [Book. </a:t>
            </a:r>
            <a:r>
              <a:rPr lang="en-US" i="1" dirty="0"/>
              <a:t>British Council</a:t>
            </a:r>
            <a:r>
              <a:rPr lang="en-US" dirty="0"/>
              <a:t>. </a:t>
            </a:r>
            <a:r>
              <a:rPr lang="en-US" dirty="0">
                <a:hlinkClick r:id="rId15"/>
              </a:rPr>
              <a:t>https://www.britishcouncil.in/sites/default/files/english_next_india_-_david_graddol.pdf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Guo, Q., &amp; Sun, W. (2014). Economic returns to English proficiency for college graduates in mainland China. </a:t>
            </a:r>
            <a:r>
              <a:rPr lang="en-US" i="1" dirty="0"/>
              <a:t>China Economic Review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, 290–300. </a:t>
            </a:r>
            <a:r>
              <a:rPr lang="en-US" dirty="0">
                <a:hlinkClick r:id="rId16"/>
              </a:rPr>
              <a:t>https://doi.org/10.1016/j.chieco.2014.07.014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Hampf</a:t>
            </a:r>
            <a:r>
              <a:rPr lang="en-US" dirty="0"/>
              <a:t>, F., </a:t>
            </a:r>
            <a:r>
              <a:rPr lang="en-US" dirty="0" err="1"/>
              <a:t>Wiederhold</a:t>
            </a:r>
            <a:r>
              <a:rPr lang="en-US" dirty="0"/>
              <a:t>, S., &amp; </a:t>
            </a:r>
            <a:r>
              <a:rPr lang="en-US" dirty="0" err="1"/>
              <a:t>Woessmann</a:t>
            </a:r>
            <a:r>
              <a:rPr lang="en-US" dirty="0"/>
              <a:t>, L. (2017). Skills, earnings, and employment: Exploring causality in the estimation of returns to skills. </a:t>
            </a:r>
            <a:r>
              <a:rPr lang="en-US" i="1" dirty="0"/>
              <a:t>Large-Scale Assessments in Education</a:t>
            </a:r>
            <a:r>
              <a:rPr lang="en-US" dirty="0"/>
              <a:t>, </a:t>
            </a:r>
            <a:r>
              <a:rPr lang="en-US" i="1" dirty="0"/>
              <a:t>5</a:t>
            </a:r>
            <a:r>
              <a:rPr lang="en-US" dirty="0"/>
              <a:t>(1). </a:t>
            </a:r>
            <a:r>
              <a:rPr lang="en-US" dirty="0">
                <a:hlinkClick r:id="rId17"/>
              </a:rPr>
              <a:t>https://doi.org/10.1186/s40536-017-0045-7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Hanushek, E. A. (1997). Assessing the Effects of School Resources on Student Performance: An Update. </a:t>
            </a:r>
            <a:r>
              <a:rPr lang="en-US" i="1" dirty="0"/>
              <a:t>Educational Evaluation and Policy Analysis</a:t>
            </a:r>
            <a:r>
              <a:rPr lang="en-US" dirty="0"/>
              <a:t>, </a:t>
            </a:r>
            <a:r>
              <a:rPr lang="en-US" i="1" dirty="0"/>
              <a:t>19</a:t>
            </a:r>
            <a:r>
              <a:rPr lang="en-US" dirty="0"/>
              <a:t>(2), 141–164. </a:t>
            </a:r>
            <a:r>
              <a:rPr lang="en-US" dirty="0">
                <a:hlinkClick r:id="rId18"/>
              </a:rPr>
              <a:t>https://doi.org/10.3102/01623737019002141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Heckman, J. J., Lochner, L., &amp; Todd, P. (2006). Chapter 7 earnings functions, rates of return and treatment effects: The mincer equation and beyond. </a:t>
            </a:r>
            <a:r>
              <a:rPr lang="en-US" i="1" dirty="0"/>
              <a:t>Handbook of the Economics of Education</a:t>
            </a:r>
            <a:r>
              <a:rPr lang="en-US" dirty="0"/>
              <a:t>, 307–458. </a:t>
            </a:r>
            <a:r>
              <a:rPr lang="en-US" dirty="0">
                <a:hlinkClick r:id="rId19"/>
              </a:rPr>
              <a:t>https://doi.org/10.1016/s1574-0692(06)01007-5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Henderson, D. J., </a:t>
            </a:r>
            <a:r>
              <a:rPr lang="en-US" dirty="0" err="1"/>
              <a:t>Polachek</a:t>
            </a:r>
            <a:r>
              <a:rPr lang="en-US" dirty="0"/>
              <a:t>, S. W., &amp; Wang, L. (2011). Heterogeneity in schooling rates of return. </a:t>
            </a:r>
            <a:r>
              <a:rPr lang="en-US" i="1" dirty="0"/>
              <a:t>Economics of Education Review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(6), 1202–1214. </a:t>
            </a:r>
            <a:r>
              <a:rPr lang="en-US" dirty="0">
                <a:hlinkClick r:id="rId20"/>
              </a:rPr>
              <a:t>https://doi.org/10.1016/j.econedurev.2011.05.002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4856AA-C9D3-41CD-8612-E387E1CC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6909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References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DB150-0ED5-4B10-9E78-1E7886CFF3B7}"/>
              </a:ext>
            </a:extLst>
          </p:cNvPr>
          <p:cNvSpPr txBox="1">
            <a:spLocks/>
          </p:cNvSpPr>
          <p:nvPr/>
        </p:nvSpPr>
        <p:spPr>
          <a:xfrm>
            <a:off x="6096000" y="841529"/>
            <a:ext cx="5725357" cy="574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Hill, R. C., &amp; Adkins, L. C. (2001). Chapter Twelve: Collinearity. In B. H. </a:t>
            </a:r>
            <a:r>
              <a:rPr lang="en-US" dirty="0" err="1"/>
              <a:t>Baltagi</a:t>
            </a:r>
            <a:r>
              <a:rPr lang="en-US" dirty="0"/>
              <a:t> (Ed.), </a:t>
            </a:r>
            <a:r>
              <a:rPr lang="en-US" i="1" dirty="0"/>
              <a:t>A Companion to Theoretical Econometrics</a:t>
            </a:r>
            <a:r>
              <a:rPr lang="en-US" dirty="0"/>
              <a:t> (pp. 256–278). John Wiley &amp; Sons, Incorporated.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India State Stories. (2024). </a:t>
            </a:r>
            <a:r>
              <a:rPr lang="en-US" i="1" dirty="0"/>
              <a:t>District Evolution</a:t>
            </a:r>
            <a:r>
              <a:rPr lang="en-US" dirty="0"/>
              <a:t> [Dataset]. </a:t>
            </a:r>
            <a:r>
              <a:rPr lang="en-US" dirty="0">
                <a:hlinkClick r:id="rId21"/>
              </a:rPr>
              <a:t>https://www.indiastatestory.in/datadownloads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International Institute for Population Sciences. (n.d.). </a:t>
            </a:r>
            <a:r>
              <a:rPr lang="en-US" i="1" dirty="0"/>
              <a:t>India—National Family Health Survey 2005-2006</a:t>
            </a:r>
            <a:r>
              <a:rPr lang="en-US" dirty="0"/>
              <a:t> (No. IND_2005_DHS_v01_M) [Dataset]. The World Bank. Retrieved April 22, 2025, from </a:t>
            </a:r>
            <a:r>
              <a:rPr lang="en-US" dirty="0">
                <a:hlinkClick r:id="rId22"/>
              </a:rPr>
              <a:t>https://microdata.worldbank.org/index.php/catalog/1406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International </a:t>
            </a:r>
            <a:r>
              <a:rPr lang="en-US" dirty="0" err="1"/>
              <a:t>Labour</a:t>
            </a:r>
            <a:r>
              <a:rPr lang="en-US" dirty="0"/>
              <a:t> Organization. (2024). </a:t>
            </a:r>
            <a:r>
              <a:rPr lang="en-US" i="1" dirty="0"/>
              <a:t>India Employment Report 2024: Youth employment, education and skills</a:t>
            </a:r>
            <a:r>
              <a:rPr lang="en-US" dirty="0"/>
              <a:t>. </a:t>
            </a:r>
            <a:r>
              <a:rPr lang="en-US" dirty="0">
                <a:hlinkClick r:id="rId23"/>
              </a:rPr>
              <a:t>https://www.ilo.org/publications/india-employment-report-2024-youth-employment-education-and-skills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Iyer</a:t>
            </a:r>
            <a:r>
              <a:rPr lang="en-US" dirty="0"/>
              <a:t>, I. N., &amp; Ramachandran, S. (2019). English as a lingua franca in a multilingual India. </a:t>
            </a:r>
            <a:r>
              <a:rPr lang="en-US" i="1" dirty="0"/>
              <a:t>Journal of Language and Education</a:t>
            </a:r>
            <a:r>
              <a:rPr lang="en-US" dirty="0"/>
              <a:t>, </a:t>
            </a:r>
            <a:r>
              <a:rPr lang="en-US" i="1" dirty="0"/>
              <a:t>5</a:t>
            </a:r>
            <a:r>
              <a:rPr lang="en-US" dirty="0"/>
              <a:t>(1), 103–109. </a:t>
            </a:r>
            <a:r>
              <a:rPr lang="en-US" dirty="0">
                <a:hlinkClick r:id="rId24"/>
              </a:rPr>
              <a:t>https://doi.org/10.17323/2411-7390-2019-5-1-103-109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Jaacks</a:t>
            </a:r>
            <a:r>
              <a:rPr lang="en-US" dirty="0"/>
              <a:t>, L., Shandilya, A., Malik, A., &amp; </a:t>
            </a:r>
            <a:r>
              <a:rPr lang="en-US" dirty="0" err="1"/>
              <a:t>Veluguri</a:t>
            </a:r>
            <a:r>
              <a:rPr lang="en-US" dirty="0"/>
              <a:t>, D. V. (2020). </a:t>
            </a:r>
            <a:r>
              <a:rPr lang="en-US" i="1" dirty="0"/>
              <a:t>India District Changes Tracker</a:t>
            </a:r>
            <a:r>
              <a:rPr lang="en-US" dirty="0"/>
              <a:t> [Dataset]. </a:t>
            </a:r>
            <a:r>
              <a:rPr lang="en-US" dirty="0" err="1"/>
              <a:t>Jaacks</a:t>
            </a:r>
            <a:r>
              <a:rPr lang="en-US" dirty="0"/>
              <a:t> Research Group. </a:t>
            </a:r>
            <a:r>
              <a:rPr lang="en-US" dirty="0">
                <a:hlinkClick r:id="rId25"/>
              </a:rPr>
              <a:t>https://github.com/Jaacks-Research-Group/india-district-changes-tracker.git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Jain, T. (2017). Common tongue: The impact of language on educational outcomes. </a:t>
            </a:r>
            <a:r>
              <a:rPr lang="en-US" i="1" dirty="0"/>
              <a:t>The Journal of Economic History</a:t>
            </a:r>
            <a:r>
              <a:rPr lang="en-US" dirty="0"/>
              <a:t>, </a:t>
            </a:r>
            <a:r>
              <a:rPr lang="en-US" i="1" dirty="0"/>
              <a:t>77</a:t>
            </a:r>
            <a:r>
              <a:rPr lang="en-US" dirty="0"/>
              <a:t>(2), 473–510. </a:t>
            </a:r>
            <a:r>
              <a:rPr lang="en-US" dirty="0">
                <a:hlinkClick r:id="rId26"/>
              </a:rPr>
              <a:t>https://doi.org/10.1017/s0022050717000481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Jain, T., Maitra, P., &amp; Mani, S. (2019). Barriers to skill acquisition: Evidence from English training in India. </a:t>
            </a:r>
            <a:r>
              <a:rPr lang="en-US" i="1" dirty="0"/>
              <a:t>World Development</a:t>
            </a:r>
            <a:r>
              <a:rPr lang="en-US" dirty="0"/>
              <a:t>, </a:t>
            </a:r>
            <a:r>
              <a:rPr lang="en-US" i="1" dirty="0"/>
              <a:t>114</a:t>
            </a:r>
            <a:r>
              <a:rPr lang="en-US" dirty="0"/>
              <a:t>, 314–325. </a:t>
            </a:r>
            <a:r>
              <a:rPr lang="en-US" dirty="0">
                <a:hlinkClick r:id="rId27"/>
              </a:rPr>
              <a:t>https://doi.org/10.1016/j.worlddev.2018.10.011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Jain, V., Ahmed, I., &amp; </a:t>
            </a:r>
            <a:r>
              <a:rPr lang="en-US" dirty="0" err="1"/>
              <a:t>Vanikar</a:t>
            </a:r>
            <a:r>
              <a:rPr lang="en-US" dirty="0"/>
              <a:t>, G. K. (2018). Program to Improve Private Early Education (PIPE): A case study of a systems approach for scaling quality early education solutions. </a:t>
            </a:r>
            <a:r>
              <a:rPr lang="en-US" i="1" dirty="0"/>
              <a:t>Annals of the New York Academy of Sciences</a:t>
            </a:r>
            <a:r>
              <a:rPr lang="en-US" dirty="0"/>
              <a:t>, </a:t>
            </a:r>
            <a:r>
              <a:rPr lang="en-US" i="1" dirty="0"/>
              <a:t>1419</a:t>
            </a:r>
            <a:r>
              <a:rPr lang="en-US" dirty="0"/>
              <a:t>(1), 38–56. </a:t>
            </a:r>
            <a:r>
              <a:rPr lang="en-US" dirty="0">
                <a:hlinkClick r:id="rId28"/>
              </a:rPr>
              <a:t>https://doi.org/10.1111/nyas.13695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Jha, J. (2021). Public policy dilemma of choosing the medium of instruction for school education: A case for questioning fallacies and connecting objectives. </a:t>
            </a:r>
            <a:r>
              <a:rPr lang="en-US" i="1" dirty="0"/>
              <a:t>Journal of Asian Development Research</a:t>
            </a:r>
            <a:r>
              <a:rPr lang="en-US" dirty="0"/>
              <a:t>, </a:t>
            </a:r>
            <a:r>
              <a:rPr lang="en-US" i="1" dirty="0"/>
              <a:t>2633190X2110346</a:t>
            </a:r>
            <a:r>
              <a:rPr lang="en-US" dirty="0"/>
              <a:t>. </a:t>
            </a:r>
            <a:r>
              <a:rPr lang="en-US" dirty="0">
                <a:hlinkClick r:id="rId29"/>
              </a:rPr>
              <a:t>https://doi.org/10.1177/2633190x211034697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Kara, O. (2008). Comparing two approaches to the rate of return to investment in education. </a:t>
            </a:r>
            <a:r>
              <a:rPr lang="en-US" i="1" dirty="0"/>
              <a:t>Education Economics</a:t>
            </a:r>
            <a:r>
              <a:rPr lang="en-US" dirty="0"/>
              <a:t>, </a:t>
            </a:r>
            <a:r>
              <a:rPr lang="en-US" i="1" dirty="0"/>
              <a:t>18</a:t>
            </a:r>
            <a:r>
              <a:rPr lang="en-US" dirty="0"/>
              <a:t>(2), 153–165. </a:t>
            </a:r>
            <a:r>
              <a:rPr lang="en-US" dirty="0">
                <a:hlinkClick r:id="rId30"/>
              </a:rPr>
              <a:t>https://doi.org/10.1080/09645290802416486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Kelejian</a:t>
            </a:r>
            <a:r>
              <a:rPr lang="en-US" dirty="0"/>
              <a:t>, H. H., &amp; </a:t>
            </a:r>
            <a:r>
              <a:rPr lang="en-US" dirty="0" err="1"/>
              <a:t>Prucha</a:t>
            </a:r>
            <a:r>
              <a:rPr lang="en-US" dirty="0"/>
              <a:t>, I. R. (2007). HAC estimation in a spatial framework. </a:t>
            </a:r>
            <a:r>
              <a:rPr lang="en-US" i="1" dirty="0"/>
              <a:t>Journal of Econometrics</a:t>
            </a:r>
            <a:r>
              <a:rPr lang="en-US" dirty="0"/>
              <a:t>, </a:t>
            </a:r>
            <a:r>
              <a:rPr lang="en-US" i="1" dirty="0"/>
              <a:t>140</a:t>
            </a:r>
            <a:r>
              <a:rPr lang="en-US" dirty="0"/>
              <a:t>(1), 131–154. </a:t>
            </a:r>
            <a:r>
              <a:rPr lang="en-US" dirty="0">
                <a:hlinkClick r:id="rId31"/>
              </a:rPr>
              <a:t>https://doi.org/10.1016/j.jeconom.2006.09.005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Kelejian</a:t>
            </a:r>
            <a:r>
              <a:rPr lang="en-US" dirty="0"/>
              <a:t>, H., &amp; </a:t>
            </a:r>
            <a:r>
              <a:rPr lang="en-US" dirty="0" err="1"/>
              <a:t>Piras</a:t>
            </a:r>
            <a:r>
              <a:rPr lang="en-US" dirty="0"/>
              <a:t>, G. (2017a). Appendix B - Spatial Models in R. In H. </a:t>
            </a:r>
            <a:r>
              <a:rPr lang="en-US" dirty="0" err="1"/>
              <a:t>Kelejian</a:t>
            </a:r>
            <a:r>
              <a:rPr lang="en-US" dirty="0"/>
              <a:t> &amp; G. </a:t>
            </a:r>
            <a:r>
              <a:rPr lang="en-US" dirty="0" err="1"/>
              <a:t>Piras</a:t>
            </a:r>
            <a:r>
              <a:rPr lang="en-US" dirty="0"/>
              <a:t> (Eds.), </a:t>
            </a:r>
            <a:r>
              <a:rPr lang="en-US" i="1" dirty="0"/>
              <a:t>Spatial Econometrics</a:t>
            </a:r>
            <a:r>
              <a:rPr lang="en-US" dirty="0"/>
              <a:t> (pp. 363–387). Academic Press. </a:t>
            </a:r>
            <a:r>
              <a:rPr lang="en-US" dirty="0">
                <a:hlinkClick r:id="rId32"/>
              </a:rPr>
              <a:t>https://doi.org/10.1016/B978-0-12-813387-3.00026-3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Kelejian</a:t>
            </a:r>
            <a:r>
              <a:rPr lang="en-US" dirty="0"/>
              <a:t>, H., &amp; </a:t>
            </a:r>
            <a:r>
              <a:rPr lang="en-US" dirty="0" err="1"/>
              <a:t>Piras</a:t>
            </a:r>
            <a:r>
              <a:rPr lang="en-US" dirty="0"/>
              <a:t>, G. (2017b). Chapter 2—Specification and Estimation. In H. </a:t>
            </a:r>
            <a:r>
              <a:rPr lang="en-US" dirty="0" err="1"/>
              <a:t>Kelejian</a:t>
            </a:r>
            <a:r>
              <a:rPr lang="en-US" dirty="0"/>
              <a:t> &amp; G. </a:t>
            </a:r>
            <a:r>
              <a:rPr lang="en-US" dirty="0" err="1"/>
              <a:t>Piras</a:t>
            </a:r>
            <a:r>
              <a:rPr lang="en-US" dirty="0"/>
              <a:t> (Eds.), </a:t>
            </a:r>
            <a:r>
              <a:rPr lang="en-US" i="1" dirty="0"/>
              <a:t>Spatial Econometrics</a:t>
            </a:r>
            <a:r>
              <a:rPr lang="en-US" dirty="0"/>
              <a:t> (pp. 11–59). Academic Press. </a:t>
            </a:r>
            <a:r>
              <a:rPr lang="en-US" dirty="0">
                <a:hlinkClick r:id="rId33"/>
              </a:rPr>
              <a:t>https://doi.org/10.1016/B978-0-12-813387-3.00002-0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Kingdon</a:t>
            </a:r>
            <a:r>
              <a:rPr lang="en-US" dirty="0"/>
              <a:t>, G. (2008). Chapter 6 school-sector effects on student achievement in </a:t>
            </a:r>
            <a:r>
              <a:rPr lang="en-US" dirty="0" err="1"/>
              <a:t>india</a:t>
            </a:r>
            <a:r>
              <a:rPr lang="en-US" dirty="0"/>
              <a:t>. In </a:t>
            </a:r>
            <a:r>
              <a:rPr lang="en-US" i="1" dirty="0"/>
              <a:t>School choice international: Exploring public-private partnerships</a:t>
            </a:r>
            <a:r>
              <a:rPr lang="en-US" dirty="0"/>
              <a:t> (pp. 111–140). </a:t>
            </a:r>
            <a:r>
              <a:rPr lang="en-US" dirty="0">
                <a:hlinkClick r:id="rId34"/>
              </a:rPr>
              <a:t>https://doi.org/10.7551/mitpress/7767.003.0009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Koley</a:t>
            </a:r>
            <a:r>
              <a:rPr lang="en-US" dirty="0"/>
              <a:t>, M., &amp; </a:t>
            </a:r>
            <a:r>
              <a:rPr lang="en-US" dirty="0" err="1"/>
              <a:t>Bera</a:t>
            </a:r>
            <a:r>
              <a:rPr lang="en-US" dirty="0"/>
              <a:t>, A. K. (2024). To use, or not to use the spatial Durbin model? – That is the question. </a:t>
            </a:r>
            <a:r>
              <a:rPr lang="en-US" i="1" dirty="0"/>
              <a:t>Spatial Economic Analysis</a:t>
            </a:r>
            <a:r>
              <a:rPr lang="en-US" dirty="0"/>
              <a:t>, </a:t>
            </a:r>
            <a:r>
              <a:rPr lang="en-US" i="1" dirty="0"/>
              <a:t>19</a:t>
            </a:r>
            <a:r>
              <a:rPr lang="en-US" dirty="0"/>
              <a:t>(1), 30–56. </a:t>
            </a:r>
            <a:r>
              <a:rPr lang="en-US" dirty="0">
                <a:hlinkClick r:id="rId35"/>
              </a:rPr>
              <a:t>https://doi.org/10.1080/17421772.2023.2256810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Kremer, M., Chaudhury, N., Rogers, F. H., </a:t>
            </a:r>
            <a:r>
              <a:rPr lang="en-US" dirty="0" err="1"/>
              <a:t>Muralidharan</a:t>
            </a:r>
            <a:r>
              <a:rPr lang="en-US" dirty="0"/>
              <a:t>, K., &amp; Hammer, J. (2005). Teacher Absence in India: A Snapshot. </a:t>
            </a:r>
            <a:r>
              <a:rPr lang="en-US" i="1" dirty="0"/>
              <a:t>Journal of the European Economic Association</a:t>
            </a:r>
            <a:r>
              <a:rPr lang="en-US" dirty="0"/>
              <a:t>, </a:t>
            </a:r>
            <a:r>
              <a:rPr lang="en-US" i="1" dirty="0"/>
              <a:t>3</a:t>
            </a:r>
            <a:r>
              <a:rPr lang="en-US" dirty="0"/>
              <a:t>(2–3), 658–667. </a:t>
            </a:r>
            <a:r>
              <a:rPr lang="en-US" dirty="0">
                <a:hlinkClick r:id="rId36"/>
              </a:rPr>
              <a:t>https://doi.org/10.1162/jeea.2005.3.2-3.658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Kumar, H., &amp; </a:t>
            </a:r>
            <a:r>
              <a:rPr lang="en-US" dirty="0" err="1"/>
              <a:t>Somanathan</a:t>
            </a:r>
            <a:r>
              <a:rPr lang="en-US" dirty="0"/>
              <a:t>, R. (2016). </a:t>
            </a:r>
            <a:r>
              <a:rPr lang="en-US" i="1" dirty="0"/>
              <a:t>Creating Long Panels Using Census Data: 1961-2001</a:t>
            </a:r>
            <a:r>
              <a:rPr lang="en-US" dirty="0"/>
              <a:t>. </a:t>
            </a:r>
            <a:r>
              <a:rPr lang="en-US" dirty="0">
                <a:hlinkClick r:id="rId37"/>
              </a:rPr>
              <a:t>https://web.archive.org/web/20190429034949/http://www.cdedse.org/pdf/work248.pdf#expand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Kumar, H., &amp; </a:t>
            </a:r>
            <a:r>
              <a:rPr lang="en-US" dirty="0" err="1"/>
              <a:t>Somanathan</a:t>
            </a:r>
            <a:r>
              <a:rPr lang="en-US" dirty="0"/>
              <a:t>, R. (2017). Creating Long Panels Using Census Data (1961-2001). </a:t>
            </a:r>
            <a:r>
              <a:rPr lang="en-US" i="1" dirty="0"/>
              <a:t>Economic and Political Weekly</a:t>
            </a:r>
            <a:r>
              <a:rPr lang="en-US" dirty="0"/>
              <a:t>, </a:t>
            </a:r>
            <a:r>
              <a:rPr lang="en-US" i="1" dirty="0"/>
              <a:t>52</a:t>
            </a:r>
            <a:r>
              <a:rPr lang="en-US" dirty="0"/>
              <a:t>(29), 105–109. </a:t>
            </a:r>
            <a:r>
              <a:rPr lang="en-US" dirty="0">
                <a:hlinkClick r:id="rId38"/>
              </a:rPr>
              <a:t>https://www.jstor.org/stable/26695694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Lahoti, R., &amp; Mukhopadhyay, R. (2019). School choice in rural India. </a:t>
            </a:r>
            <a:r>
              <a:rPr lang="en-US" i="1" dirty="0"/>
              <a:t>Economic and Political Weekly</a:t>
            </a:r>
            <a:r>
              <a:rPr lang="en-US" dirty="0"/>
              <a:t>. </a:t>
            </a:r>
            <a:r>
              <a:rPr lang="en-US" dirty="0">
                <a:hlinkClick r:id="rId39"/>
              </a:rPr>
              <a:t>https://publications.azimpremjiuniversity.edu.in/2150/1/School Choice in Rural </a:t>
            </a:r>
            <a:r>
              <a:rPr lang="en-US" dirty="0" err="1">
                <a:hlinkClick r:id="rId39"/>
              </a:rPr>
              <a:t>India_Perceptions</a:t>
            </a:r>
            <a:r>
              <a:rPr lang="en-US" dirty="0">
                <a:hlinkClick r:id="rId39"/>
              </a:rPr>
              <a:t> and Realities in Four States.pdf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Laitin</a:t>
            </a:r>
            <a:r>
              <a:rPr lang="en-US" dirty="0"/>
              <a:t>, D. D., &amp; Ramachandran, R. (2022). Linguistic diversity, official language choice and human capital. </a:t>
            </a:r>
            <a:r>
              <a:rPr lang="en-US" i="1" dirty="0"/>
              <a:t>Journal of Development Economics</a:t>
            </a:r>
            <a:r>
              <a:rPr lang="en-US" dirty="0"/>
              <a:t>, </a:t>
            </a:r>
            <a:r>
              <a:rPr lang="en-US" i="1" dirty="0"/>
              <a:t>156</a:t>
            </a:r>
            <a:r>
              <a:rPr lang="en-US" dirty="0"/>
              <a:t>, 102811. </a:t>
            </a:r>
            <a:r>
              <a:rPr lang="en-US" dirty="0">
                <a:hlinkClick r:id="rId40"/>
              </a:rPr>
              <a:t>https://doi.org/10.1016/j.jdeveco.2021.102811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Lall</a:t>
            </a:r>
            <a:r>
              <a:rPr lang="en-US" dirty="0"/>
              <a:t>, S. V. (2007). Infrastructure and regional growth, growth dynamics and policy relevance for India. </a:t>
            </a:r>
            <a:r>
              <a:rPr lang="en-US" i="1" dirty="0"/>
              <a:t>ANNALS OF REGIONAL SCIENCE</a:t>
            </a:r>
            <a:r>
              <a:rPr lang="en-US" dirty="0"/>
              <a:t>, </a:t>
            </a:r>
            <a:r>
              <a:rPr lang="en-US" i="1" dirty="0"/>
              <a:t>41</a:t>
            </a:r>
            <a:r>
              <a:rPr lang="en-US" dirty="0"/>
              <a:t>(3), 581–599. </a:t>
            </a:r>
            <a:r>
              <a:rPr lang="en-US" dirty="0">
                <a:hlinkClick r:id="rId41"/>
              </a:rPr>
              <a:t>https://doi.org/10.1007/s00168-006-0112-4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Layard, R., &amp; </a:t>
            </a:r>
            <a:r>
              <a:rPr lang="en-US" dirty="0" err="1"/>
              <a:t>Psacharopoulos</a:t>
            </a:r>
            <a:r>
              <a:rPr lang="en-US" dirty="0"/>
              <a:t>, G. (1974). The screening hypothesis and the returns to education. </a:t>
            </a:r>
            <a:r>
              <a:rPr lang="en-US" i="1" dirty="0"/>
              <a:t>Journal of Political Economy</a:t>
            </a:r>
            <a:r>
              <a:rPr lang="en-US" dirty="0"/>
              <a:t>, </a:t>
            </a:r>
            <a:r>
              <a:rPr lang="en-US" i="1" dirty="0"/>
              <a:t>82</a:t>
            </a:r>
            <a:r>
              <a:rPr lang="en-US" dirty="0"/>
              <a:t>(5), 985–998. </a:t>
            </a:r>
            <a:r>
              <a:rPr lang="en-US" dirty="0">
                <a:hlinkClick r:id="rId42"/>
              </a:rPr>
              <a:t>https://doi.org/10.1086/260251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90048-E742-1B44-F75A-BBBF1387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081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A60E5-EEAB-4B40-974C-25D0259A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43" y="841529"/>
            <a:ext cx="5725357" cy="574570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Lesage, J. P., &amp; Fischer, M. M. (2008). Spatial Growth Regressions: Model Specification, Estimation and Interpretation. </a:t>
            </a:r>
            <a:r>
              <a:rPr lang="en-US" i="1" dirty="0"/>
              <a:t>Spatial Economic Analysis</a:t>
            </a:r>
            <a:r>
              <a:rPr lang="en-US" dirty="0"/>
              <a:t>, </a:t>
            </a:r>
            <a:r>
              <a:rPr lang="en-US" i="1" dirty="0"/>
              <a:t>3</a:t>
            </a:r>
            <a:r>
              <a:rPr lang="en-US" dirty="0"/>
              <a:t>(3), 275–304. </a:t>
            </a:r>
            <a:r>
              <a:rPr lang="en-US" dirty="0">
                <a:hlinkClick r:id="rId2"/>
              </a:rPr>
              <a:t>https://doi.org/10.1080/17421770802353758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Li, A. (2019). Chapter 14 Spatial Autocorrelation. In </a:t>
            </a:r>
            <a:r>
              <a:rPr lang="en-US" i="1" dirty="0"/>
              <a:t>R Spatial Workshop Notes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https://spatialanalysis.github.io/workshop-notes/spatial-autocorrelation.html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Li, Y., Teng, W., Tsai, L., &amp; Lin, T. M. (2022). Does English proficiency support the economic development of non-English-speaking countries? The case of Asia. </a:t>
            </a:r>
            <a:r>
              <a:rPr lang="en-US" i="1" dirty="0"/>
              <a:t>International Journal of Educational Development</a:t>
            </a:r>
            <a:r>
              <a:rPr lang="en-US" dirty="0"/>
              <a:t>, </a:t>
            </a:r>
            <a:r>
              <a:rPr lang="en-US" i="1" dirty="0"/>
              <a:t>92</a:t>
            </a:r>
            <a:r>
              <a:rPr lang="en-US" dirty="0"/>
              <a:t>, 102623. </a:t>
            </a:r>
            <a:r>
              <a:rPr lang="en-US" dirty="0">
                <a:hlinkClick r:id="rId4"/>
              </a:rPr>
              <a:t>https://doi.org/10.1016/j.ijedudev.2022.102623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Liu, A. H., &amp; </a:t>
            </a:r>
            <a:r>
              <a:rPr lang="en-US" dirty="0" err="1"/>
              <a:t>Pizzi</a:t>
            </a:r>
            <a:r>
              <a:rPr lang="en-US" dirty="0"/>
              <a:t>, E. (2016). The language of economic </a:t>
            </a:r>
            <a:r>
              <a:rPr lang="en-US" dirty="0" err="1"/>
              <a:t>Growth:A</a:t>
            </a:r>
            <a:r>
              <a:rPr lang="en-US" dirty="0"/>
              <a:t> new measure of linguistic heterogeneity. </a:t>
            </a:r>
            <a:r>
              <a:rPr lang="en-US" i="1" dirty="0"/>
              <a:t>British Journal of Political Science</a:t>
            </a:r>
            <a:r>
              <a:rPr lang="en-US" dirty="0"/>
              <a:t>, </a:t>
            </a:r>
            <a:r>
              <a:rPr lang="en-US" i="1" dirty="0"/>
              <a:t>48</a:t>
            </a:r>
            <a:r>
              <a:rPr lang="en-US" dirty="0"/>
              <a:t>(4), 953–980. </a:t>
            </a:r>
            <a:r>
              <a:rPr lang="en-US" dirty="0">
                <a:hlinkClick r:id="rId5"/>
              </a:rPr>
              <a:t>https://doi.org/10.1017/s0007123416000260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Liu, X., Guo, W., Feng, Q., &amp; Wang, P. (2022). Spatial correlation, driving factors and dynamic spatial spillover of electricity consumption in China: A perspective on industry heterogeneity. </a:t>
            </a:r>
            <a:r>
              <a:rPr lang="en-US" i="1" dirty="0"/>
              <a:t>Energy</a:t>
            </a:r>
            <a:r>
              <a:rPr lang="en-US" dirty="0"/>
              <a:t>, </a:t>
            </a:r>
            <a:r>
              <a:rPr lang="en-US" i="1" dirty="0"/>
              <a:t>257</a:t>
            </a:r>
            <a:r>
              <a:rPr lang="en-US" dirty="0"/>
              <a:t>, 124756. </a:t>
            </a:r>
            <a:r>
              <a:rPr lang="en-US" dirty="0">
                <a:hlinkClick r:id="rId6"/>
              </a:rPr>
              <a:t>https://doi.org/10.1016/j.energy.2022.124756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Madheswaran</a:t>
            </a:r>
            <a:r>
              <a:rPr lang="en-US" dirty="0"/>
              <a:t>, S., &amp; </a:t>
            </a:r>
            <a:r>
              <a:rPr lang="en-US" dirty="0" err="1"/>
              <a:t>Singhari</a:t>
            </a:r>
            <a:r>
              <a:rPr lang="en-US" dirty="0"/>
              <a:t>, S. (2016). Social exclusion and caste discrimination in public and private sectors in India: A decomposition analysis. </a:t>
            </a:r>
            <a:r>
              <a:rPr lang="en-US" i="1" dirty="0"/>
              <a:t>The Indian Journal of </a:t>
            </a:r>
            <a:r>
              <a:rPr lang="en-US" i="1" dirty="0" err="1"/>
              <a:t>Labour</a:t>
            </a:r>
            <a:r>
              <a:rPr lang="en-US" i="1" dirty="0"/>
              <a:t> Economics</a:t>
            </a:r>
            <a:r>
              <a:rPr lang="en-US" dirty="0"/>
              <a:t>, </a:t>
            </a:r>
            <a:r>
              <a:rPr lang="en-US" i="1" dirty="0"/>
              <a:t>59</a:t>
            </a:r>
            <a:r>
              <a:rPr lang="en-US" dirty="0"/>
              <a:t>(2), 175–201. </a:t>
            </a:r>
            <a:r>
              <a:rPr lang="en-US" dirty="0">
                <a:hlinkClick r:id="rId7"/>
              </a:rPr>
              <a:t>https://doi.org/10.1007/s41027-017-0053-8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Mankiw, N. G., &amp; </a:t>
            </a:r>
            <a:r>
              <a:rPr lang="en-US" dirty="0" err="1"/>
              <a:t>Swagel</a:t>
            </a:r>
            <a:r>
              <a:rPr lang="en-US" dirty="0"/>
              <a:t>, P. (2006). The politics and economics of offshore outsourcing. </a:t>
            </a:r>
            <a:r>
              <a:rPr lang="en-US" i="1" dirty="0"/>
              <a:t>Journal of Monetary Economics</a:t>
            </a:r>
            <a:r>
              <a:rPr lang="en-US" dirty="0"/>
              <a:t>, </a:t>
            </a:r>
            <a:r>
              <a:rPr lang="en-US" i="1" dirty="0"/>
              <a:t>53</a:t>
            </a:r>
            <a:r>
              <a:rPr lang="en-US" dirty="0"/>
              <a:t>(5), 1027–1056. </a:t>
            </a:r>
            <a:r>
              <a:rPr lang="en-US" dirty="0">
                <a:hlinkClick r:id="rId8"/>
              </a:rPr>
              <a:t>https://doi.org/10.1016/j.jmoneco.2006.05.009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Marphatia</a:t>
            </a:r>
            <a:r>
              <a:rPr lang="en-US" dirty="0"/>
              <a:t>, A. A., Reid, A. M., &amp; </a:t>
            </a:r>
            <a:r>
              <a:rPr lang="en-US" dirty="0" err="1"/>
              <a:t>Yajnik</a:t>
            </a:r>
            <a:r>
              <a:rPr lang="en-US" dirty="0"/>
              <a:t>, C. S. (2019). Developmental origins of secondary school dropout in rural India and its differential consequences by sex: A biosocial life-course analysis. </a:t>
            </a:r>
            <a:r>
              <a:rPr lang="en-US" i="1" dirty="0"/>
              <a:t>International Journal of Educational Development</a:t>
            </a:r>
            <a:r>
              <a:rPr lang="en-US" dirty="0"/>
              <a:t>, </a:t>
            </a:r>
            <a:r>
              <a:rPr lang="en-US" i="1" dirty="0"/>
              <a:t>66</a:t>
            </a:r>
            <a:r>
              <a:rPr lang="en-US" dirty="0"/>
              <a:t>, 8–23. </a:t>
            </a:r>
            <a:r>
              <a:rPr lang="en-US" dirty="0">
                <a:hlinkClick r:id="rId9"/>
              </a:rPr>
              <a:t>https://doi.org/10.1016/j.ijedudev.2018.12.001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Martin, L. A., </a:t>
            </a:r>
            <a:r>
              <a:rPr lang="en-US" dirty="0" err="1"/>
              <a:t>Nataraj</a:t>
            </a:r>
            <a:r>
              <a:rPr lang="en-US" dirty="0"/>
              <a:t>, S., &amp; Harrison, A. E. (2017). In with the Big, Out with the Small: Removing Small-Scale Reservations in India. </a:t>
            </a:r>
            <a:r>
              <a:rPr lang="en-US" i="1" dirty="0"/>
              <a:t>American Economic Review</a:t>
            </a:r>
            <a:r>
              <a:rPr lang="en-US" dirty="0"/>
              <a:t>, </a:t>
            </a:r>
            <a:r>
              <a:rPr lang="en-US" i="1" dirty="0"/>
              <a:t>107</a:t>
            </a:r>
            <a:r>
              <a:rPr lang="en-US" dirty="0"/>
              <a:t>(2), 354–386. </a:t>
            </a:r>
            <a:r>
              <a:rPr lang="en-US" dirty="0">
                <a:hlinkClick r:id="rId10"/>
              </a:rPr>
              <a:t>https://doi.org/10.1257/aer.20141335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Masani, B. Z. (2012). English or Hinglish—Which will India choose? </a:t>
            </a:r>
            <a:r>
              <a:rPr lang="en-US" i="1" dirty="0"/>
              <a:t>BBC News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Mathew, R., &amp; Srivastava, S. (2011). English Next India: The future of English in India. </a:t>
            </a:r>
            <a:r>
              <a:rPr lang="en-US" i="1" dirty="0"/>
              <a:t>ELT Journal</a:t>
            </a:r>
            <a:r>
              <a:rPr lang="en-US" dirty="0"/>
              <a:t>, </a:t>
            </a:r>
            <a:r>
              <a:rPr lang="en-US" i="1" dirty="0"/>
              <a:t>65</a:t>
            </a:r>
            <a:r>
              <a:rPr lang="en-US" dirty="0"/>
              <a:t>(3), 356–359. </a:t>
            </a:r>
            <a:r>
              <a:rPr lang="en-US" dirty="0">
                <a:hlinkClick r:id="rId11"/>
              </a:rPr>
              <a:t>https://doi.org/10.1093/elt/ccr034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Mathur, S. (2013). </a:t>
            </a:r>
            <a:r>
              <a:rPr lang="en-US" dirty="0" err="1"/>
              <a:t>Kancha</a:t>
            </a:r>
            <a:r>
              <a:rPr lang="en-US" dirty="0"/>
              <a:t> </a:t>
            </a:r>
            <a:r>
              <a:rPr lang="en-US" dirty="0" err="1"/>
              <a:t>Ilaiah</a:t>
            </a:r>
            <a:r>
              <a:rPr lang="en-US" dirty="0"/>
              <a:t>: Even if 10% </a:t>
            </a:r>
            <a:r>
              <a:rPr lang="en-US" dirty="0" err="1"/>
              <a:t>dalit</a:t>
            </a:r>
            <a:r>
              <a:rPr lang="en-US" dirty="0"/>
              <a:t> children got English education, India would change. </a:t>
            </a:r>
            <a:r>
              <a:rPr lang="en-US" i="1" dirty="0"/>
              <a:t>The Times of India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McCormick, C. (2013). Countries with better </a:t>
            </a:r>
            <a:r>
              <a:rPr lang="en-US" dirty="0" err="1"/>
              <a:t>english</a:t>
            </a:r>
            <a:r>
              <a:rPr lang="en-US" dirty="0"/>
              <a:t> have better economies. </a:t>
            </a:r>
            <a:r>
              <a:rPr lang="en-US" i="1" dirty="0"/>
              <a:t>Harvard Business Review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McCulloch, N. A., &amp; </a:t>
            </a:r>
            <a:r>
              <a:rPr lang="en-US" dirty="0" err="1"/>
              <a:t>Suharnoko</a:t>
            </a:r>
            <a:r>
              <a:rPr lang="en-US" dirty="0"/>
              <a:t> </a:t>
            </a:r>
            <a:r>
              <a:rPr lang="en-US" dirty="0" err="1"/>
              <a:t>Sjahrir</a:t>
            </a:r>
            <a:r>
              <a:rPr lang="en-US" dirty="0"/>
              <a:t>, B. (2008). </a:t>
            </a:r>
            <a:r>
              <a:rPr lang="en-US" i="1" dirty="0"/>
              <a:t>Endowments, Location or Luck? Evaluating the Determinants of Sub-National Growth in Decentralized Indonesia</a:t>
            </a:r>
            <a:r>
              <a:rPr lang="en-US" dirty="0"/>
              <a:t> (No. 1297808).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Meghir</a:t>
            </a:r>
            <a:r>
              <a:rPr lang="en-US" dirty="0"/>
              <a:t>, C., &amp; Rivkin, S. G. (2011). Econometric methods for research in education. In </a:t>
            </a:r>
            <a:r>
              <a:rPr lang="en-US" i="1" dirty="0"/>
              <a:t>Handbook of the economics of education</a:t>
            </a:r>
            <a:r>
              <a:rPr lang="en-US" dirty="0"/>
              <a:t> (pp. 1–87). </a:t>
            </a:r>
            <a:r>
              <a:rPr lang="en-US" dirty="0">
                <a:hlinkClick r:id="rId12"/>
              </a:rPr>
              <a:t>https://doi.org/10.1016/b978-0-444-53429-3.00001-6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Mehta, A. C. (2022). About 38 lakh children dropped out from Classes 1-8 between 2020-21 and 2021-22. </a:t>
            </a:r>
            <a:r>
              <a:rPr lang="en-US" i="1" dirty="0"/>
              <a:t>News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Melitz, J. (2016). English as a Global Language. In V. </a:t>
            </a:r>
            <a:r>
              <a:rPr lang="en-US" dirty="0" err="1"/>
              <a:t>Ginsburgh</a:t>
            </a:r>
            <a:r>
              <a:rPr lang="en-US" dirty="0"/>
              <a:t> &amp; S. Weber (Eds.), </a:t>
            </a:r>
            <a:r>
              <a:rPr lang="en-US" i="1" dirty="0"/>
              <a:t>The Palgrave Handbook of Economics and Language</a:t>
            </a:r>
            <a:r>
              <a:rPr lang="en-US" dirty="0"/>
              <a:t> (pp. 583–615). Palgrave Macmillan UK. </a:t>
            </a:r>
            <a:r>
              <a:rPr lang="en-US" dirty="0">
                <a:hlinkClick r:id="rId13"/>
              </a:rPr>
              <a:t>https://doi.org/10.1007/978-1-137-32505-1_21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Meyers, J. (2020). </a:t>
            </a:r>
            <a:r>
              <a:rPr lang="en-US" i="1" dirty="0"/>
              <a:t>India Official Boundaries 2019</a:t>
            </a:r>
            <a:r>
              <a:rPr lang="en-US" dirty="0"/>
              <a:t> [Dataset]. India_Official_Boundaries_2019. </a:t>
            </a:r>
            <a:r>
              <a:rPr lang="en-US" dirty="0">
                <a:hlinkClick r:id="rId14"/>
              </a:rPr>
              <a:t>https://github.com/justinelliotmeyers/India_Official_Boundaries_2019</a:t>
            </a:r>
            <a:r>
              <a:rPr lang="en-US" dirty="0"/>
              <a:t> (Original work published 2020)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Mincer, J. (1974). The Human Capital Earnings Function. In </a:t>
            </a:r>
            <a:r>
              <a:rPr lang="en-US" i="1" dirty="0"/>
              <a:t>Schooling, Experience, and Earnings</a:t>
            </a:r>
            <a:r>
              <a:rPr lang="en-US" dirty="0"/>
              <a:t> (pp. 83–96). National Bureau of Economic Research, Inc.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Ministry Human Resource Development. (2020). </a:t>
            </a:r>
            <a:r>
              <a:rPr lang="en-US" i="1" dirty="0"/>
              <a:t>National education policy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Mohanty, A. K. (2019). Language policy in education in India. In </a:t>
            </a:r>
            <a:r>
              <a:rPr lang="en-US" i="1" dirty="0"/>
              <a:t>Routledge eBooks</a:t>
            </a:r>
            <a:r>
              <a:rPr lang="en-US" dirty="0"/>
              <a:t> (pp. 329–340). </a:t>
            </a:r>
            <a:r>
              <a:rPr lang="en-US" dirty="0">
                <a:hlinkClick r:id="rId15"/>
              </a:rPr>
              <a:t>https://doi.org/10.4324/9781315666235-23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Mohanty, A. K. (2022). Multilingualism as a resource: Implications for education. In </a:t>
            </a:r>
            <a:r>
              <a:rPr lang="en-US" i="1" dirty="0"/>
              <a:t>Towards an integrative psychological science</a:t>
            </a:r>
            <a:r>
              <a:rPr lang="en-US" dirty="0"/>
              <a:t> (pp. 163–189). Springer. </a:t>
            </a:r>
            <a:r>
              <a:rPr lang="en-US" dirty="0">
                <a:hlinkClick r:id="rId16"/>
              </a:rPr>
              <a:t>https://doi.org/10.1007/978-981-16-9565-0_9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Mohanty, S. K., </a:t>
            </a:r>
            <a:r>
              <a:rPr lang="en-US" dirty="0" err="1"/>
              <a:t>Dehury</a:t>
            </a:r>
            <a:r>
              <a:rPr lang="en-US" dirty="0"/>
              <a:t>, B., Mishra, U. S., Dash, A., &amp; Singh, R. R. (2019). Spatial pattern of development in districts of India. In </a:t>
            </a:r>
            <a:r>
              <a:rPr lang="en-US" i="1" dirty="0"/>
              <a:t>The demographic and development divide in </a:t>
            </a:r>
            <a:r>
              <a:rPr lang="en-US" i="1" dirty="0" err="1"/>
              <a:t>india</a:t>
            </a:r>
            <a:r>
              <a:rPr lang="en-US" dirty="0"/>
              <a:t> (pp. 509–551). Springer. </a:t>
            </a:r>
            <a:r>
              <a:rPr lang="en-US" dirty="0">
                <a:hlinkClick r:id="rId17"/>
              </a:rPr>
              <a:t>https://doi.org/10.1007/978-981-13-5820-3_10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Motiram, S., &amp; </a:t>
            </a:r>
            <a:r>
              <a:rPr lang="en-US" dirty="0" err="1"/>
              <a:t>Osberg</a:t>
            </a:r>
            <a:r>
              <a:rPr lang="en-US" dirty="0"/>
              <a:t>, L. (2012). Demand or supply for schooling in rural India? </a:t>
            </a:r>
            <a:r>
              <a:rPr lang="en-US" i="1" dirty="0"/>
              <a:t>Electronic International Journal of Time Use Research</a:t>
            </a:r>
            <a:r>
              <a:rPr lang="en-US" dirty="0"/>
              <a:t>, </a:t>
            </a:r>
            <a:r>
              <a:rPr lang="en-US" i="1" dirty="0"/>
              <a:t>9</a:t>
            </a:r>
            <a:r>
              <a:rPr lang="en-US" dirty="0"/>
              <a:t>(1).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Mukherjee, A. (2013). </a:t>
            </a:r>
            <a:r>
              <a:rPr lang="en-US" i="1" dirty="0"/>
              <a:t>The service sector in </a:t>
            </a:r>
            <a:r>
              <a:rPr lang="en-US" i="1" dirty="0" err="1"/>
              <a:t>india</a:t>
            </a:r>
            <a:r>
              <a:rPr lang="en-US" i="1" dirty="0"/>
              <a:t>. Social science research network</a:t>
            </a:r>
            <a:r>
              <a:rPr lang="en-US" dirty="0"/>
              <a:t> (No. 352; Asian Development Bank Economics Working Paper Series). </a:t>
            </a:r>
            <a:r>
              <a:rPr lang="en-US" dirty="0">
                <a:hlinkClick r:id="rId18"/>
              </a:rPr>
              <a:t>https://doi.org/10.2139/ssrn.2282311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Munshi, K., &amp; Rosenzweig, M. R. (2006). Traditional institutions meet the modern world: Caste, gender, and schooling choice in a globalizing economy. </a:t>
            </a:r>
            <a:r>
              <a:rPr lang="en-US" i="1" dirty="0"/>
              <a:t>The American Economic Review</a:t>
            </a:r>
            <a:r>
              <a:rPr lang="en-US" dirty="0"/>
              <a:t>, </a:t>
            </a:r>
            <a:r>
              <a:rPr lang="en-US" i="1" dirty="0"/>
              <a:t>96</a:t>
            </a:r>
            <a:r>
              <a:rPr lang="en-US" dirty="0"/>
              <a:t>(4), 1225–1252. </a:t>
            </a:r>
            <a:r>
              <a:rPr lang="en-US" dirty="0">
                <a:hlinkClick r:id="rId19"/>
              </a:rPr>
              <a:t>https://doi.org/10.1257/aer.96.4.1225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4856AA-C9D3-41CD-8612-E387E1CC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6909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References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DB150-0ED5-4B10-9E78-1E7886CFF3B7}"/>
              </a:ext>
            </a:extLst>
          </p:cNvPr>
          <p:cNvSpPr txBox="1">
            <a:spLocks/>
          </p:cNvSpPr>
          <p:nvPr/>
        </p:nvSpPr>
        <p:spPr>
          <a:xfrm>
            <a:off x="6096000" y="841529"/>
            <a:ext cx="5725357" cy="574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Muralidharan</a:t>
            </a:r>
            <a:r>
              <a:rPr lang="en-US" dirty="0"/>
              <a:t>, K. (2019). </a:t>
            </a:r>
            <a:r>
              <a:rPr lang="en-US" i="1" dirty="0"/>
              <a:t>The state and the market in education provision: Evidence and the way ahead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Muralidharan</a:t>
            </a:r>
            <a:r>
              <a:rPr lang="en-US" dirty="0"/>
              <a:t>, K., Das, J., Holla, A., &amp; </a:t>
            </a:r>
            <a:r>
              <a:rPr lang="en-US" dirty="0" err="1"/>
              <a:t>Mohpal</a:t>
            </a:r>
            <a:r>
              <a:rPr lang="en-US" dirty="0"/>
              <a:t>, A. (2017). The fiscal cost of weak governance: Evidence from teacher absence in India. </a:t>
            </a:r>
            <a:r>
              <a:rPr lang="en-US" i="1" dirty="0"/>
              <a:t>Journal of Public Economics</a:t>
            </a:r>
            <a:r>
              <a:rPr lang="en-US" dirty="0"/>
              <a:t>, </a:t>
            </a:r>
            <a:r>
              <a:rPr lang="en-US" i="1" dirty="0"/>
              <a:t>145</a:t>
            </a:r>
            <a:r>
              <a:rPr lang="en-US" dirty="0"/>
              <a:t>, 116–135. </a:t>
            </a:r>
            <a:r>
              <a:rPr lang="en-US" dirty="0">
                <a:hlinkClick r:id="rId20"/>
              </a:rPr>
              <a:t>https://doi.org/10.1016/j.jpubeco.2016.11.005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Muralidharan</a:t>
            </a:r>
            <a:r>
              <a:rPr lang="en-US" dirty="0"/>
              <a:t>, K., &amp; Kremer, M. (2008). Chapter 5 public-private schools in rural </a:t>
            </a:r>
            <a:r>
              <a:rPr lang="en-US" dirty="0" err="1"/>
              <a:t>india</a:t>
            </a:r>
            <a:r>
              <a:rPr lang="en-US" dirty="0"/>
              <a:t>. In </a:t>
            </a:r>
            <a:r>
              <a:rPr lang="en-US" i="1" dirty="0"/>
              <a:t>School choice international: Exploring public-private partnerships</a:t>
            </a:r>
            <a:r>
              <a:rPr lang="en-US" dirty="0"/>
              <a:t> (pp. 91–110). MIT Press Books. </a:t>
            </a:r>
            <a:r>
              <a:rPr lang="en-US" dirty="0">
                <a:hlinkClick r:id="rId21"/>
              </a:rPr>
              <a:t>https://doi.org/10.7551/mitpress/7767.003.0008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Muralidharan</a:t>
            </a:r>
            <a:r>
              <a:rPr lang="en-US" dirty="0"/>
              <a:t>, K., &amp; </a:t>
            </a:r>
            <a:r>
              <a:rPr lang="en-US" dirty="0" err="1"/>
              <a:t>Sundararaman</a:t>
            </a:r>
            <a:r>
              <a:rPr lang="en-US" dirty="0"/>
              <a:t>, V. (2013). </a:t>
            </a:r>
            <a:r>
              <a:rPr lang="en-US" i="1" dirty="0"/>
              <a:t>Contract Teachers: Experimental Evidence from India</a:t>
            </a:r>
            <a:r>
              <a:rPr lang="en-US" dirty="0"/>
              <a:t> (No. 19440). National Bureau of Economic Research. </a:t>
            </a:r>
            <a:r>
              <a:rPr lang="en-US" dirty="0">
                <a:hlinkClick r:id="rId22"/>
              </a:rPr>
              <a:t>https://doi.org/10.3386/w19440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Muralidharan</a:t>
            </a:r>
            <a:r>
              <a:rPr lang="en-US" dirty="0"/>
              <a:t>, K., &amp; </a:t>
            </a:r>
            <a:r>
              <a:rPr lang="en-US" dirty="0" err="1"/>
              <a:t>Sundararaman</a:t>
            </a:r>
            <a:r>
              <a:rPr lang="en-US" dirty="0"/>
              <a:t>, V. (2015). The aggregate effect of school choice: Evidence from a two-stage experiment in </a:t>
            </a:r>
            <a:r>
              <a:rPr lang="en-US" dirty="0" err="1"/>
              <a:t>india</a:t>
            </a:r>
            <a:r>
              <a:rPr lang="en-US" dirty="0"/>
              <a:t> *. </a:t>
            </a:r>
            <a:r>
              <a:rPr lang="en-US" i="1" dirty="0"/>
              <a:t>The Quarterly Journal of Economics</a:t>
            </a:r>
            <a:r>
              <a:rPr lang="en-US" dirty="0"/>
              <a:t>, </a:t>
            </a:r>
            <a:r>
              <a:rPr lang="en-US" i="1" dirty="0"/>
              <a:t>130</a:t>
            </a:r>
            <a:r>
              <a:rPr lang="en-US" dirty="0"/>
              <a:t>(3), 1011–1066. </a:t>
            </a:r>
            <a:r>
              <a:rPr lang="en-US" dirty="0">
                <a:hlinkClick r:id="rId23"/>
              </a:rPr>
              <a:t>https://doi.org/10.1093/qje/qjv013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Murgante</a:t>
            </a:r>
            <a:r>
              <a:rPr lang="en-US" dirty="0"/>
              <a:t>, B., &amp; </a:t>
            </a:r>
            <a:r>
              <a:rPr lang="en-US" dirty="0" err="1"/>
              <a:t>Borruso</a:t>
            </a:r>
            <a:r>
              <a:rPr lang="en-US" dirty="0"/>
              <a:t>, G. (2012). Analyzing Migration Phenomena with Spatial Autocorrelation Techniques. In B. </a:t>
            </a:r>
            <a:r>
              <a:rPr lang="en-US" dirty="0" err="1"/>
              <a:t>Murgante</a:t>
            </a:r>
            <a:r>
              <a:rPr lang="en-US" dirty="0"/>
              <a:t>, O. </a:t>
            </a:r>
            <a:r>
              <a:rPr lang="en-US" dirty="0" err="1"/>
              <a:t>Gervasi</a:t>
            </a:r>
            <a:r>
              <a:rPr lang="en-US" dirty="0"/>
              <a:t>, S. </a:t>
            </a:r>
            <a:r>
              <a:rPr lang="en-US" dirty="0" err="1"/>
              <a:t>Misra</a:t>
            </a:r>
            <a:r>
              <a:rPr lang="en-US" dirty="0"/>
              <a:t>, N. </a:t>
            </a:r>
            <a:r>
              <a:rPr lang="en-US" dirty="0" err="1"/>
              <a:t>Nedjah</a:t>
            </a:r>
            <a:r>
              <a:rPr lang="en-US" dirty="0"/>
              <a:t>, A. M. A. C. Rocha, D. </a:t>
            </a:r>
            <a:r>
              <a:rPr lang="en-US" dirty="0" err="1"/>
              <a:t>Taniar</a:t>
            </a:r>
            <a:r>
              <a:rPr lang="en-US" dirty="0"/>
              <a:t>, &amp; B. O. </a:t>
            </a:r>
            <a:r>
              <a:rPr lang="en-US" dirty="0" err="1"/>
              <a:t>Apduhan</a:t>
            </a:r>
            <a:r>
              <a:rPr lang="en-US" dirty="0"/>
              <a:t> (Eds.), </a:t>
            </a:r>
            <a:r>
              <a:rPr lang="en-US" i="1" dirty="0"/>
              <a:t>Computational Science and Its Applications – ICCSA 2012</a:t>
            </a:r>
            <a:r>
              <a:rPr lang="en-US" dirty="0"/>
              <a:t> (pp. 670–685). Springer. </a:t>
            </a:r>
            <a:r>
              <a:rPr lang="en-US" dirty="0">
                <a:hlinkClick r:id="rId24"/>
              </a:rPr>
              <a:t>https://doi.org/10.1007/978-3-642-31075-1_50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Muthyanolla</a:t>
            </a:r>
            <a:r>
              <a:rPr lang="en-US" dirty="0"/>
              <a:t>, S. K. (2023, March). </a:t>
            </a:r>
            <a:r>
              <a:rPr lang="en-US" i="1" dirty="0"/>
              <a:t>Review: What has been the Implementation Progress of National Education Policy, 2020?</a:t>
            </a:r>
            <a:r>
              <a:rPr lang="en-US" dirty="0"/>
              <a:t> </a:t>
            </a:r>
            <a:r>
              <a:rPr lang="en-US" dirty="0">
                <a:hlinkClick r:id="rId25"/>
              </a:rPr>
              <a:t>https://factly.in/review-what-has-been-the-implementation-progress-of-national-education-policy-2020/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Nair, P. S. K. (2015). Does medium of instruction affect learning Outcomes?—Evidence using young lives longitudinal data of </a:t>
            </a:r>
            <a:r>
              <a:rPr lang="en-US" dirty="0" err="1"/>
              <a:t>andhra</a:t>
            </a:r>
            <a:r>
              <a:rPr lang="en-US" dirty="0"/>
              <a:t> </a:t>
            </a:r>
            <a:r>
              <a:rPr lang="en-US" dirty="0" err="1"/>
              <a:t>pradesh</a:t>
            </a:r>
            <a:r>
              <a:rPr lang="en-US" dirty="0"/>
              <a:t>, </a:t>
            </a:r>
            <a:r>
              <a:rPr lang="en-US" dirty="0" err="1"/>
              <a:t>india</a:t>
            </a:r>
            <a:r>
              <a:rPr lang="en-US" dirty="0"/>
              <a:t>. In </a:t>
            </a:r>
            <a:r>
              <a:rPr lang="en-US" i="1" dirty="0"/>
              <a:t>ESP working paper series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Nakagawa, M., &amp; </a:t>
            </a:r>
            <a:r>
              <a:rPr lang="en-US" dirty="0" err="1"/>
              <a:t>Sugasawa</a:t>
            </a:r>
            <a:r>
              <a:rPr lang="en-US" dirty="0"/>
              <a:t>, S. (2021). Linguistic distance and economic development: A cross-country analysis. </a:t>
            </a:r>
            <a:r>
              <a:rPr lang="en-US" i="1" dirty="0"/>
              <a:t>Review of Development Economics</a:t>
            </a:r>
            <a:r>
              <a:rPr lang="en-US" dirty="0"/>
              <a:t>, </a:t>
            </a:r>
            <a:r>
              <a:rPr lang="en-US" i="1" dirty="0"/>
              <a:t>26</a:t>
            </a:r>
            <a:r>
              <a:rPr lang="en-US" dirty="0"/>
              <a:t>(2), 793–834. </a:t>
            </a:r>
            <a:r>
              <a:rPr lang="en-US" dirty="0">
                <a:hlinkClick r:id="rId26"/>
              </a:rPr>
              <a:t>https://doi.org/10.1111/rode.12850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Council of Educational Research and Training. (2023). </a:t>
            </a:r>
            <a:r>
              <a:rPr lang="en-US" i="1" dirty="0"/>
              <a:t>National Achievement Survey (NAS)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Knowledge Commission. (2009). Report to the nation. </a:t>
            </a:r>
            <a:r>
              <a:rPr lang="en-US" i="1" dirty="0"/>
              <a:t>National Knowledge Commission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Sample Survey Office. (2010). </a:t>
            </a:r>
            <a:r>
              <a:rPr lang="en-US" i="1" dirty="0"/>
              <a:t>India—Employment, Unemployment and Migration Survey, July 2007—June 2008, NSS 64th Round</a:t>
            </a:r>
            <a:r>
              <a:rPr lang="en-US" dirty="0"/>
              <a:t> (No. IND-NSSO-EUMS-2007-v1) [Dataset]. </a:t>
            </a:r>
            <a:r>
              <a:rPr lang="en-US" dirty="0">
                <a:hlinkClick r:id="rId27"/>
              </a:rPr>
              <a:t>https://microdata.gov.in/NADA/index.php/catalog/117/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Sample Survey Office. (2011). </a:t>
            </a:r>
            <a:r>
              <a:rPr lang="en-US" i="1" dirty="0"/>
              <a:t>India—Participation and Expenditure in Education, 2007-08, 64th Round</a:t>
            </a:r>
            <a:r>
              <a:rPr lang="en-US" dirty="0"/>
              <a:t> (No. Schedule 25.2) [Dataset]. National Data Archive. </a:t>
            </a:r>
            <a:r>
              <a:rPr lang="en-US" dirty="0">
                <a:hlinkClick r:id="rId28"/>
              </a:rPr>
              <a:t>https://microdata.gov.in/NADA/index.php/catalog/118/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Sample Survey Office. (2018). </a:t>
            </a:r>
            <a:r>
              <a:rPr lang="en-US" i="1" dirty="0"/>
              <a:t>India—Employment and Unemployment, July 2009—June 2010, 66th Round</a:t>
            </a:r>
            <a:r>
              <a:rPr lang="en-US" dirty="0"/>
              <a:t>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Sample Survey Office. (2022). </a:t>
            </a:r>
            <a:r>
              <a:rPr lang="en-US" i="1" dirty="0"/>
              <a:t>Household Social Consumption: Education, NSS 75th Round Schedule-25.2 :July 2017-June 2018</a:t>
            </a:r>
            <a:r>
              <a:rPr lang="en-US" dirty="0"/>
              <a:t> [Dataset].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29"/>
              </a:rPr>
              <a:t>https://microdata.gov.in/NADA/index.php/catalog/151/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Sample Survey Office. (2023). </a:t>
            </a:r>
            <a:r>
              <a:rPr lang="en-US" i="1" dirty="0"/>
              <a:t>Time Use Survey (TUS), January 2019-December 2019</a:t>
            </a:r>
            <a:r>
              <a:rPr lang="en-US" dirty="0"/>
              <a:t>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Statistical Office. (2019a). </a:t>
            </a:r>
            <a:r>
              <a:rPr lang="en-US" i="1" dirty="0"/>
              <a:t>INDIA - Periodic </a:t>
            </a:r>
            <a:r>
              <a:rPr lang="en-US" i="1" dirty="0" err="1"/>
              <a:t>Labour</a:t>
            </a:r>
            <a:r>
              <a:rPr lang="en-US" i="1" dirty="0"/>
              <a:t> Force Survey (PLFS), July 2017-June 2018</a:t>
            </a:r>
            <a:r>
              <a:rPr lang="en-US" dirty="0"/>
              <a:t> (No. DDI-IND-CSO-PLFS-2017-18) [Dataset]. National Data Archive. </a:t>
            </a:r>
            <a:r>
              <a:rPr lang="en-US" dirty="0">
                <a:hlinkClick r:id="rId30"/>
              </a:rPr>
              <a:t>https://microdata.gov.in/NADA/index.php/catalog/204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Statistical Office. (2019b). </a:t>
            </a:r>
            <a:r>
              <a:rPr lang="en-US" i="1" dirty="0"/>
              <a:t>NSS report No.585: Household social consumption on education in </a:t>
            </a:r>
            <a:r>
              <a:rPr lang="en-US" i="1" dirty="0" err="1"/>
              <a:t>india</a:t>
            </a:r>
            <a:r>
              <a:rPr lang="en-US" dirty="0"/>
              <a:t>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 </a:t>
            </a:r>
            <a:r>
              <a:rPr lang="en-US" dirty="0">
                <a:hlinkClick r:id="rId31"/>
              </a:rPr>
              <a:t>https://mospi.gov.in/sites/default/files/publication_reports/Report_585_75th_round_Education_final_1507_0.pdf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Statistical Office. (2019c). Summary analysis of NSS report No.585: Household social consumption on education in </a:t>
            </a:r>
            <a:r>
              <a:rPr lang="en-US" dirty="0" err="1"/>
              <a:t>india</a:t>
            </a:r>
            <a:r>
              <a:rPr lang="en-US" dirty="0"/>
              <a:t>. In </a:t>
            </a:r>
            <a:r>
              <a:rPr lang="en-US" i="1" dirty="0"/>
              <a:t>NSS 75th round (</a:t>
            </a:r>
            <a:r>
              <a:rPr lang="en-US" i="1" dirty="0" err="1"/>
              <a:t>july</a:t>
            </a:r>
            <a:r>
              <a:rPr lang="en-US" i="1" dirty="0"/>
              <a:t> 2017-June 2018). Ministry of statistics and </a:t>
            </a:r>
            <a:r>
              <a:rPr lang="en-US" i="1" dirty="0" err="1"/>
              <a:t>programme</a:t>
            </a:r>
            <a:r>
              <a:rPr lang="en-US" i="1" dirty="0"/>
              <a:t> implementation</a:t>
            </a:r>
            <a:r>
              <a:rPr lang="en-US" dirty="0"/>
              <a:t>. </a:t>
            </a:r>
            <a:r>
              <a:rPr lang="en-US" dirty="0">
                <a:hlinkClick r:id="rId32"/>
              </a:rPr>
              <a:t>https://mospi.gov.in/sites/default/files/announcements/Summary Analysis_Report_585_Education.pdf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Statistical Office. (2021a). Migration in </a:t>
            </a:r>
            <a:r>
              <a:rPr lang="en-US" dirty="0" err="1"/>
              <a:t>india</a:t>
            </a:r>
            <a:r>
              <a:rPr lang="en-US" dirty="0"/>
              <a:t> (JULY 2020—JUNE 2021): Periodic </a:t>
            </a:r>
            <a:r>
              <a:rPr lang="en-US" dirty="0" err="1"/>
              <a:t>labour</a:t>
            </a:r>
            <a:r>
              <a:rPr lang="en-US" dirty="0"/>
              <a:t> force survey (PLFS. </a:t>
            </a:r>
            <a:r>
              <a:rPr lang="en-US" i="1" dirty="0"/>
              <a:t>Ministry of Statistics and </a:t>
            </a:r>
            <a:r>
              <a:rPr lang="en-US" i="1" dirty="0" err="1"/>
              <a:t>Programme</a:t>
            </a:r>
            <a:r>
              <a:rPr lang="en-US" i="1" dirty="0"/>
              <a:t> Implementation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National Statistical Office. (2021b). </a:t>
            </a:r>
            <a:r>
              <a:rPr lang="en-US" i="1" dirty="0"/>
              <a:t>Migration in India: Unit Level Data of Periodic </a:t>
            </a:r>
            <a:r>
              <a:rPr lang="en-US" i="1" dirty="0" err="1"/>
              <a:t>Labour</a:t>
            </a:r>
            <a:r>
              <a:rPr lang="en-US" i="1" dirty="0"/>
              <a:t> Force Survey (PLFS) July 2020-June 2021</a:t>
            </a:r>
            <a:r>
              <a:rPr lang="en-US" dirty="0"/>
              <a:t>. Ministry of Statistics and </a:t>
            </a:r>
            <a:r>
              <a:rPr lang="en-US" dirty="0" err="1"/>
              <a:t>Programme</a:t>
            </a:r>
            <a:r>
              <a:rPr lang="en-US" dirty="0"/>
              <a:t> Implementation.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Office of the Registrar General and Census Commissioner of India. (2001). </a:t>
            </a:r>
            <a:r>
              <a:rPr lang="en-US" i="1" dirty="0"/>
              <a:t>Census of India 2001</a:t>
            </a:r>
            <a:r>
              <a:rPr lang="en-US" dirty="0"/>
              <a:t> [Dataset]. Ministry of Home Affairs. </a:t>
            </a:r>
            <a:r>
              <a:rPr lang="en-US" dirty="0">
                <a:hlinkClick r:id="rId33"/>
              </a:rPr>
              <a:t>https://censusindia.gov.in/census.website/data/census-tables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Olejnik, S., Mills, J., &amp; </a:t>
            </a:r>
            <a:r>
              <a:rPr lang="en-US" dirty="0" err="1"/>
              <a:t>Keselman</a:t>
            </a:r>
            <a:r>
              <a:rPr lang="en-US" dirty="0"/>
              <a:t>, H. (2000). Using Wherry’s Adjusted R</a:t>
            </a:r>
            <a:r>
              <a:rPr lang="en-US" baseline="30000" dirty="0"/>
              <a:t>2</a:t>
            </a:r>
            <a:r>
              <a:rPr lang="en-US" dirty="0"/>
              <a:t> and Mallow’s Cp for Model Selection from All Possible Regressions. </a:t>
            </a:r>
            <a:r>
              <a:rPr lang="en-US" i="1" dirty="0"/>
              <a:t>The Journal of Experimental Education</a:t>
            </a:r>
            <a:r>
              <a:rPr lang="en-US" dirty="0"/>
              <a:t>, </a:t>
            </a:r>
            <a:r>
              <a:rPr lang="en-US" i="1" dirty="0"/>
              <a:t>68</a:t>
            </a:r>
            <a:r>
              <a:rPr lang="en-US" dirty="0"/>
              <a:t>(4), 365–380.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Ord, K. (1975). Estimation methods for models of spatial interaction. </a:t>
            </a:r>
            <a:r>
              <a:rPr lang="en-US" i="1" dirty="0"/>
              <a:t>Journal of the American Statistical Association</a:t>
            </a:r>
            <a:r>
              <a:rPr lang="en-US" dirty="0"/>
              <a:t>, </a:t>
            </a:r>
            <a:r>
              <a:rPr lang="en-US" i="1" dirty="0"/>
              <a:t>70</a:t>
            </a:r>
            <a:r>
              <a:rPr lang="en-US" dirty="0"/>
              <a:t>(349), 120. </a:t>
            </a:r>
            <a:r>
              <a:rPr lang="en-US" dirty="0">
                <a:hlinkClick r:id="rId34"/>
              </a:rPr>
              <a:t>https://doi.org/10.2307/2285387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977F5-80A2-E5DD-0A6D-41786E9E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88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A60E5-EEAB-4B40-974C-25D0259A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43" y="841529"/>
            <a:ext cx="5725357" cy="574570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Parida</a:t>
            </a:r>
            <a:r>
              <a:rPr lang="en-US" dirty="0"/>
              <a:t>, J. K., </a:t>
            </a:r>
            <a:r>
              <a:rPr lang="en-US" dirty="0" err="1"/>
              <a:t>Pattayat</a:t>
            </a:r>
            <a:r>
              <a:rPr lang="en-US" dirty="0"/>
              <a:t>, S. S., &amp; </a:t>
            </a:r>
            <a:r>
              <a:rPr lang="en-US" dirty="0" err="1"/>
              <a:t>Verick</a:t>
            </a:r>
            <a:r>
              <a:rPr lang="en-US" dirty="0"/>
              <a:t>, S. (2023). Why is the size of discouraged </a:t>
            </a:r>
            <a:r>
              <a:rPr lang="en-US" dirty="0" err="1"/>
              <a:t>labour</a:t>
            </a:r>
            <a:r>
              <a:rPr lang="en-US" dirty="0"/>
              <a:t> force increasing in India? </a:t>
            </a:r>
            <a:r>
              <a:rPr lang="en-US" i="1" dirty="0"/>
              <a:t>Economic Change and Restructuring</a:t>
            </a:r>
            <a:r>
              <a:rPr lang="en-US" dirty="0"/>
              <a:t>, </a:t>
            </a:r>
            <a:r>
              <a:rPr lang="en-US" i="1" dirty="0"/>
              <a:t>56</a:t>
            </a:r>
            <a:r>
              <a:rPr lang="en-US" dirty="0"/>
              <a:t>(5), 3601–3630. </a:t>
            </a:r>
            <a:r>
              <a:rPr lang="en-US" dirty="0">
                <a:hlinkClick r:id="rId2"/>
              </a:rPr>
              <a:t>https://doi.org/10.1007/s10644-023-09538-0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Park, S. (2011). Returning to school for higher returns. </a:t>
            </a:r>
            <a:r>
              <a:rPr lang="en-US" i="1" dirty="0"/>
              <a:t>Economics of Education Review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(6), 1215–1228. </a:t>
            </a:r>
            <a:r>
              <a:rPr lang="en-US" dirty="0">
                <a:hlinkClick r:id="rId3"/>
              </a:rPr>
              <a:t>https://doi.org/10.1016/j.econedurev.2011.07.006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 err="1">
                <a:effectLst/>
              </a:rPr>
              <a:t>Pebesma</a:t>
            </a:r>
            <a:r>
              <a:rPr lang="en-US" dirty="0">
                <a:effectLst/>
              </a:rPr>
              <a:t>, E., &amp; </a:t>
            </a:r>
            <a:r>
              <a:rPr lang="en-US" dirty="0" err="1">
                <a:effectLst/>
              </a:rPr>
              <a:t>Bivand</a:t>
            </a:r>
            <a:r>
              <a:rPr lang="en-US" dirty="0">
                <a:effectLst/>
              </a:rPr>
              <a:t>, R. (2025). </a:t>
            </a:r>
            <a:r>
              <a:rPr lang="en-US" i="1" dirty="0">
                <a:effectLst/>
              </a:rPr>
              <a:t>Spatial Data Science With Applications in R</a:t>
            </a:r>
            <a:r>
              <a:rPr lang="en-US" dirty="0">
                <a:effectLst/>
              </a:rPr>
              <a:t> (1st ed.). CRC Press. </a:t>
            </a:r>
            <a:r>
              <a:rPr lang="en-US" dirty="0">
                <a:effectLst/>
                <a:hlinkClick r:id="rId4"/>
              </a:rPr>
              <a:t>https://r-spatial.org/book/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Psacharopoulos</a:t>
            </a:r>
            <a:r>
              <a:rPr lang="en-US" dirty="0"/>
              <a:t>, G., &amp; Teixeira, P. (2019). Rates of return to Education: Conceptual and methodological issues. In </a:t>
            </a:r>
            <a:r>
              <a:rPr lang="en-US" i="1" dirty="0"/>
              <a:t>Encyclopedia of international higher education systems and institutions</a:t>
            </a:r>
            <a:r>
              <a:rPr lang="en-US" dirty="0"/>
              <a:t> (pp. 1–8). Springer. </a:t>
            </a:r>
            <a:r>
              <a:rPr lang="en-US" dirty="0">
                <a:hlinkClick r:id="rId5"/>
              </a:rPr>
              <a:t>https://doi.org/10.1007/978-94-017-9553-1_109-1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Qamar, F. (2022, June). </a:t>
            </a:r>
            <a:r>
              <a:rPr lang="en-US" i="1" dirty="0"/>
              <a:t>National education policy 2020: Why states are wary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Rajan</a:t>
            </a:r>
            <a:r>
              <a:rPr lang="en-US" dirty="0"/>
              <a:t>, S. I., &amp; Bhagat, R. B. (2021). Internal migration and the COVID-19 pandemic in India. In </a:t>
            </a:r>
            <a:r>
              <a:rPr lang="en-US" i="1" dirty="0"/>
              <a:t>IMISCOE research series</a:t>
            </a:r>
            <a:r>
              <a:rPr lang="en-US" dirty="0"/>
              <a:t> (pp. 227–248). </a:t>
            </a:r>
            <a:r>
              <a:rPr lang="en-US" dirty="0">
                <a:hlinkClick r:id="rId6"/>
              </a:rPr>
              <a:t>https://doi.org/10.1007/978-3-030-81210-2_12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Ramachandran, R. (2017). Language use in education and human capital formation: Evidence from the Ethiopian educational reform. </a:t>
            </a:r>
            <a:r>
              <a:rPr lang="en-US" i="1" dirty="0"/>
              <a:t>World Development</a:t>
            </a:r>
            <a:r>
              <a:rPr lang="en-US" dirty="0"/>
              <a:t>, </a:t>
            </a:r>
            <a:r>
              <a:rPr lang="en-US" i="1" dirty="0"/>
              <a:t>98</a:t>
            </a:r>
            <a:r>
              <a:rPr lang="en-US" dirty="0"/>
              <a:t>, 195–213. </a:t>
            </a:r>
            <a:r>
              <a:rPr lang="en-US" dirty="0">
                <a:hlinkClick r:id="rId7"/>
              </a:rPr>
              <a:t>https://doi.org/10.1016/j.worlddev.2017.04.029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Ramanathan, H. (2016). English education policy in India. In </a:t>
            </a:r>
            <a:r>
              <a:rPr lang="en-US" i="1" dirty="0"/>
              <a:t>Language policy</a:t>
            </a:r>
            <a:r>
              <a:rPr lang="en-US" dirty="0"/>
              <a:t> (pp. 113–126). </a:t>
            </a:r>
            <a:r>
              <a:rPr lang="en-US" dirty="0">
                <a:hlinkClick r:id="rId8"/>
              </a:rPr>
              <a:t>https://doi.org/10.1007/978-3-319-22464-0_5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Refeque</a:t>
            </a:r>
            <a:r>
              <a:rPr lang="en-US" dirty="0"/>
              <a:t>, E. M., &amp; Azad, P. (2022). How do linguistic and technical skills affect earnings in India? </a:t>
            </a:r>
            <a:r>
              <a:rPr lang="en-US" i="1" dirty="0"/>
              <a:t>Indian Economic Review</a:t>
            </a:r>
            <a:r>
              <a:rPr lang="en-US" dirty="0"/>
              <a:t>, </a:t>
            </a:r>
            <a:r>
              <a:rPr lang="en-US" i="1" dirty="0"/>
              <a:t>57</a:t>
            </a:r>
            <a:r>
              <a:rPr lang="en-US" dirty="0"/>
              <a:t>(1), 23–57. </a:t>
            </a:r>
            <a:r>
              <a:rPr lang="en-US" dirty="0">
                <a:hlinkClick r:id="rId9"/>
              </a:rPr>
              <a:t>https://doi.org/10.1007/s41775-022-00132-1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Rivkin, S. G., Hanushek, E. A., &amp; Kain, J. F. (2005). Teachers, Schools, and Academic Achievement. </a:t>
            </a:r>
            <a:r>
              <a:rPr lang="en-US" i="1" dirty="0" err="1"/>
              <a:t>Econometrica</a:t>
            </a:r>
            <a:r>
              <a:rPr lang="en-US" i="1" dirty="0"/>
              <a:t> : Journal of the Econometric Society</a:t>
            </a:r>
            <a:r>
              <a:rPr lang="en-US" dirty="0"/>
              <a:t>, </a:t>
            </a:r>
            <a:r>
              <a:rPr lang="en-US" i="1" dirty="0"/>
              <a:t>73</a:t>
            </a:r>
            <a:r>
              <a:rPr lang="en-US" dirty="0"/>
              <a:t>(2), 417–458. </a:t>
            </a:r>
            <a:r>
              <a:rPr lang="en-US" dirty="0">
                <a:hlinkClick r:id="rId10"/>
              </a:rPr>
              <a:t>https://doi.org/10.1111/j.1468-0262.2005.00584.x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Runde</a:t>
            </a:r>
            <a:r>
              <a:rPr lang="en-US" dirty="0"/>
              <a:t>, D. F., &amp; </a:t>
            </a:r>
            <a:r>
              <a:rPr lang="en-US" dirty="0" err="1"/>
              <a:t>Nealer</a:t>
            </a:r>
            <a:r>
              <a:rPr lang="en-US" dirty="0"/>
              <a:t>, E. (2017, February). </a:t>
            </a:r>
            <a:r>
              <a:rPr lang="en-US" i="1" dirty="0"/>
              <a:t>English language proficiency and development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Sam Daniel Stalin, J. (2019). Tamil-Speaking ministers join firefight as Anti-Hindi uproar flares. </a:t>
            </a:r>
            <a:r>
              <a:rPr lang="en-US" i="1" dirty="0" err="1"/>
              <a:t>NDTV.Com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Sengupta, P., &amp; </a:t>
            </a:r>
            <a:r>
              <a:rPr lang="en-US" dirty="0" err="1"/>
              <a:t>Puri</a:t>
            </a:r>
            <a:r>
              <a:rPr lang="en-US" dirty="0"/>
              <a:t>, R. (2021). Gender pay gap in </a:t>
            </a:r>
            <a:r>
              <a:rPr lang="en-US" dirty="0" err="1"/>
              <a:t>india</a:t>
            </a:r>
            <a:r>
              <a:rPr lang="en-US" dirty="0"/>
              <a:t>: A reality and the way Forward—An empirical approach using quantile regression technique. </a:t>
            </a:r>
            <a:r>
              <a:rPr lang="en-US" i="1" dirty="0"/>
              <a:t>Studies in Microeconomics</a:t>
            </a:r>
            <a:r>
              <a:rPr lang="en-US" dirty="0"/>
              <a:t>, </a:t>
            </a:r>
            <a:r>
              <a:rPr lang="en-US" i="1" dirty="0"/>
              <a:t>10</a:t>
            </a:r>
            <a:r>
              <a:rPr lang="en-US" dirty="0"/>
              <a:t>(1), 50–81. </a:t>
            </a:r>
            <a:r>
              <a:rPr lang="en-US" dirty="0">
                <a:hlinkClick r:id="rId11"/>
              </a:rPr>
              <a:t>https://doi.org/10.1177/2321022221995674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Shastry</a:t>
            </a:r>
            <a:r>
              <a:rPr lang="en-US" dirty="0"/>
              <a:t>, G. K. (2012). Human capital response to globalization. </a:t>
            </a:r>
            <a:r>
              <a:rPr lang="en-US" i="1" dirty="0"/>
              <a:t>Journal of Human Resources</a:t>
            </a:r>
            <a:r>
              <a:rPr lang="en-US" dirty="0"/>
              <a:t>, </a:t>
            </a:r>
            <a:r>
              <a:rPr lang="en-US" i="1" dirty="0"/>
              <a:t>47</a:t>
            </a:r>
            <a:r>
              <a:rPr lang="en-US" dirty="0"/>
              <a:t>(2), 287–330. </a:t>
            </a:r>
            <a:r>
              <a:rPr lang="en-US" dirty="0">
                <a:hlinkClick r:id="rId12"/>
              </a:rPr>
              <a:t>https://doi.org/10.3368/jhr.47.2.287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Shukla, V., &amp; Mishra, U. S. (2017). Literacy achievement in India: A demographic evaluation. </a:t>
            </a:r>
            <a:r>
              <a:rPr lang="en-US" i="1" dirty="0"/>
              <a:t>PROSPECTS</a:t>
            </a:r>
            <a:r>
              <a:rPr lang="en-US" dirty="0"/>
              <a:t>, </a:t>
            </a:r>
            <a:r>
              <a:rPr lang="en-US" i="1" dirty="0"/>
              <a:t>47</a:t>
            </a:r>
            <a:r>
              <a:rPr lang="en-US" dirty="0"/>
              <a:t>(3), 257–274. </a:t>
            </a:r>
            <a:r>
              <a:rPr lang="en-US" dirty="0">
                <a:hlinkClick r:id="rId13"/>
              </a:rPr>
              <a:t>https://doi.org/10.1007/s11125-018-9429-x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Singh, A. (2013). </a:t>
            </a:r>
            <a:r>
              <a:rPr lang="en-US" i="1" dirty="0"/>
              <a:t>Size and Sources of the Private School Premium in Test Scores in India</a:t>
            </a:r>
            <a:r>
              <a:rPr lang="en-US" dirty="0"/>
              <a:t>. </a:t>
            </a:r>
            <a:r>
              <a:rPr lang="en-US" dirty="0">
                <a:hlinkClick r:id="rId14"/>
              </a:rPr>
              <a:t>https://ora.ox.ac.uk/objects/uuid:4edff2cf-5534-473f-b01d-f21e10f1a34d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Singh, D. P., &amp; </a:t>
            </a:r>
            <a:r>
              <a:rPr lang="en-US" dirty="0" err="1"/>
              <a:t>Biradar</a:t>
            </a:r>
            <a:r>
              <a:rPr lang="en-US" dirty="0"/>
              <a:t>, R. (2022). Migration in India: Trends and characteristics. </a:t>
            </a:r>
            <a:r>
              <a:rPr lang="en-US" i="1" dirty="0"/>
              <a:t>Demography India</a:t>
            </a:r>
            <a:r>
              <a:rPr lang="en-US" dirty="0"/>
              <a:t>, </a:t>
            </a:r>
            <a:r>
              <a:rPr lang="en-US" i="1" dirty="0"/>
              <a:t>51</a:t>
            </a:r>
            <a:r>
              <a:rPr lang="en-US" dirty="0"/>
              <a:t>(No. 1), 160–175. </a:t>
            </a:r>
            <a:r>
              <a:rPr lang="en-US" dirty="0">
                <a:hlinkClick r:id="rId15"/>
              </a:rPr>
              <a:t>https://iasp.ac.in/uploads/journal/10. Migration in India trends and characteristics-1669206793.pdf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Smokotin</a:t>
            </a:r>
            <a:r>
              <a:rPr lang="en-US" dirty="0"/>
              <a:t>, V. M., </a:t>
            </a:r>
            <a:r>
              <a:rPr lang="en-US" dirty="0" err="1"/>
              <a:t>Alekseyenko</a:t>
            </a:r>
            <a:r>
              <a:rPr lang="en-US" dirty="0"/>
              <a:t>, A. S., &amp; </a:t>
            </a:r>
            <a:r>
              <a:rPr lang="en-US" dirty="0" err="1"/>
              <a:t>Петрова</a:t>
            </a:r>
            <a:r>
              <a:rPr lang="en-US" dirty="0"/>
              <a:t>, Г. (2014). The phenomenon of linguistic globalization: English as the global lingua franca (EGLF). </a:t>
            </a:r>
            <a:r>
              <a:rPr lang="en-US" i="1" dirty="0"/>
              <a:t>Procedia - Social and Behavioral Sciences</a:t>
            </a:r>
            <a:r>
              <a:rPr lang="en-US" dirty="0"/>
              <a:t>, </a:t>
            </a:r>
            <a:r>
              <a:rPr lang="en-US" i="1" dirty="0"/>
              <a:t>154</a:t>
            </a:r>
            <a:r>
              <a:rPr lang="en-US" dirty="0"/>
              <a:t>, 509–513. </a:t>
            </a:r>
            <a:r>
              <a:rPr lang="en-US" dirty="0">
                <a:hlinkClick r:id="rId16"/>
              </a:rPr>
              <a:t>https://doi.org/10.1016/j.sbspro.2014.10.177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Soni</a:t>
            </a:r>
            <a:r>
              <a:rPr lang="en-US" dirty="0"/>
              <a:t>, S., &amp; </a:t>
            </a:r>
            <a:r>
              <a:rPr lang="en-US" dirty="0" err="1"/>
              <a:t>Subrahmanya</a:t>
            </a:r>
            <a:r>
              <a:rPr lang="en-US" dirty="0"/>
              <a:t>, M. H. B. (2020). India’s Sectoral Growth Patterns and USD 5 Trillion Trajectory: An Empirical Investigation on Macroeconomic Impact of COVID-19. </a:t>
            </a:r>
            <a:r>
              <a:rPr lang="en-US" i="1" dirty="0"/>
              <a:t>The Indian Economic Journal</a:t>
            </a:r>
            <a:r>
              <a:rPr lang="en-US" dirty="0"/>
              <a:t>, </a:t>
            </a:r>
            <a:r>
              <a:rPr lang="en-US" i="1" dirty="0"/>
              <a:t>68</a:t>
            </a:r>
            <a:r>
              <a:rPr lang="en-US" dirty="0"/>
              <a:t>(3), 309–322. </a:t>
            </a:r>
            <a:r>
              <a:rPr lang="en-US" dirty="0">
                <a:hlinkClick r:id="rId17"/>
              </a:rPr>
              <a:t>https://doi.org/10.1177/0019466220968064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Srivastava, A., &amp; </a:t>
            </a:r>
            <a:r>
              <a:rPr lang="en-US" dirty="0" err="1"/>
              <a:t>Balodi</a:t>
            </a:r>
            <a:r>
              <a:rPr lang="en-US" dirty="0"/>
              <a:t>, B. (2023). Investment in education and economic growth in </a:t>
            </a:r>
            <a:r>
              <a:rPr lang="en-US" dirty="0" err="1"/>
              <a:t>india</a:t>
            </a:r>
            <a:r>
              <a:rPr lang="en-US" dirty="0"/>
              <a:t>: Evidence from the last two decades. In </a:t>
            </a:r>
            <a:r>
              <a:rPr lang="en-US" i="1" dirty="0"/>
              <a:t>Demographic transformation and socio-economic development</a:t>
            </a:r>
            <a:r>
              <a:rPr lang="en-US" dirty="0"/>
              <a:t> (pp. 37–48). </a:t>
            </a:r>
            <a:r>
              <a:rPr lang="en-US" dirty="0">
                <a:hlinkClick r:id="rId18"/>
              </a:rPr>
              <a:t>https://doi.org/10.1007/978-3-031-39382-2_3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Stares, M. (2019). </a:t>
            </a:r>
            <a:r>
              <a:rPr lang="en-US" i="1" dirty="0"/>
              <a:t>Staring at R</a:t>
            </a:r>
            <a:r>
              <a:rPr lang="en-US" dirty="0"/>
              <a:t>. Staring at R. </a:t>
            </a:r>
            <a:r>
              <a:rPr lang="en-US" dirty="0">
                <a:hlinkClick r:id="rId19"/>
              </a:rPr>
              <a:t>https://www.staringatr.com/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Steele, L. G., Bostic, A., Lynch, S. M., &amp; </a:t>
            </a:r>
            <a:r>
              <a:rPr lang="en-US" dirty="0" err="1"/>
              <a:t>Abdelaaty</a:t>
            </a:r>
            <a:r>
              <a:rPr lang="en-US" dirty="0"/>
              <a:t>, L. (2022). Measuring Ethnic Diversity. </a:t>
            </a:r>
            <a:r>
              <a:rPr lang="en-US" i="1" dirty="0"/>
              <a:t>Annual Review of Sociology</a:t>
            </a:r>
            <a:r>
              <a:rPr lang="en-US" dirty="0"/>
              <a:t>, </a:t>
            </a:r>
            <a:r>
              <a:rPr lang="en-US" i="1" dirty="0"/>
              <a:t>48</a:t>
            </a:r>
            <a:r>
              <a:rPr lang="en-US" dirty="0"/>
              <a:t>(1), 43–63. </a:t>
            </a:r>
            <a:r>
              <a:rPr lang="en-US" dirty="0">
                <a:hlinkClick r:id="rId20"/>
              </a:rPr>
              <a:t>https://doi.org/10.1146/annurev-soc-030420-015435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Sundaram, A., &amp; </a:t>
            </a:r>
            <a:r>
              <a:rPr lang="en-US" dirty="0" err="1"/>
              <a:t>Vanneman</a:t>
            </a:r>
            <a:r>
              <a:rPr lang="en-US" dirty="0"/>
              <a:t>, R. (2008). Gender differentials in literacy in </a:t>
            </a:r>
            <a:r>
              <a:rPr lang="en-US" dirty="0" err="1"/>
              <a:t>india</a:t>
            </a:r>
            <a:r>
              <a:rPr lang="en-US" dirty="0"/>
              <a:t>: The intriguing relationship with women’s labor force participation. </a:t>
            </a:r>
            <a:r>
              <a:rPr lang="en-US" i="1" dirty="0"/>
              <a:t>World Development</a:t>
            </a:r>
            <a:r>
              <a:rPr lang="en-US" dirty="0"/>
              <a:t>, </a:t>
            </a:r>
            <a:r>
              <a:rPr lang="en-US" i="1" dirty="0"/>
              <a:t>36</a:t>
            </a:r>
            <a:r>
              <a:rPr lang="en-US" dirty="0"/>
              <a:t>(1), 128–143. </a:t>
            </a:r>
            <a:r>
              <a:rPr lang="en-US" dirty="0">
                <a:hlinkClick r:id="rId21"/>
              </a:rPr>
              <a:t>https://doi.org/10.1016/j.worlddev.2007.02.017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Swanson, S. A. (2019). A Practical Guide to Selection Bias in Instrumental Variable Analyses. </a:t>
            </a:r>
            <a:r>
              <a:rPr lang="en-US" i="1" dirty="0"/>
              <a:t>Epidemiology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(3), 345–349. </a:t>
            </a:r>
            <a:r>
              <a:rPr lang="en-US" dirty="0">
                <a:hlinkClick r:id="rId22"/>
              </a:rPr>
              <a:t>https://www.jstor.org/stable/26741264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Treffers-Daller</a:t>
            </a:r>
            <a:r>
              <a:rPr lang="en-US" dirty="0"/>
              <a:t>, J., Mukhopadhyay, L., Balasubramanian, A., </a:t>
            </a:r>
            <a:r>
              <a:rPr lang="en-US" dirty="0" err="1"/>
              <a:t>Tamboli</a:t>
            </a:r>
            <a:r>
              <a:rPr lang="en-US" dirty="0"/>
              <a:t>, V., &amp; </a:t>
            </a:r>
            <a:r>
              <a:rPr lang="en-US" dirty="0" err="1"/>
              <a:t>Tsimpli</a:t>
            </a:r>
            <a:r>
              <a:rPr lang="en-US" dirty="0"/>
              <a:t>, I. M. (2022). How ready are </a:t>
            </a:r>
            <a:r>
              <a:rPr lang="en-US" dirty="0" err="1"/>
              <a:t>indian</a:t>
            </a:r>
            <a:r>
              <a:rPr lang="en-US" dirty="0"/>
              <a:t> primary school children for </a:t>
            </a:r>
            <a:r>
              <a:rPr lang="en-US" dirty="0" err="1"/>
              <a:t>english</a:t>
            </a:r>
            <a:r>
              <a:rPr lang="en-US" dirty="0"/>
              <a:t> medium instruction? An analysis of the relationship between the reading skills of low-SES children, their oral vocabulary and English input in the classroom in government schools in India. </a:t>
            </a:r>
            <a:r>
              <a:rPr lang="en-US" i="1" dirty="0"/>
              <a:t>Applied Linguistics</a:t>
            </a:r>
            <a:r>
              <a:rPr lang="en-US" dirty="0"/>
              <a:t>, </a:t>
            </a:r>
            <a:r>
              <a:rPr lang="en-US" i="1" dirty="0"/>
              <a:t>43</a:t>
            </a:r>
            <a:r>
              <a:rPr lang="en-US" dirty="0"/>
              <a:t>(4), 746–775. </a:t>
            </a:r>
            <a:r>
              <a:rPr lang="en-US" dirty="0">
                <a:hlinkClick r:id="rId23"/>
              </a:rPr>
              <a:t>https://doi.org/10.1093/applin/amac003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United Nations Development </a:t>
            </a:r>
            <a:r>
              <a:rPr lang="en-US" dirty="0" err="1"/>
              <a:t>Programme</a:t>
            </a:r>
            <a:r>
              <a:rPr lang="en-US" dirty="0"/>
              <a:t>. (2024). </a:t>
            </a:r>
            <a:r>
              <a:rPr lang="en-US" i="1" dirty="0"/>
              <a:t>Human Development Report 2023-24</a:t>
            </a:r>
            <a:r>
              <a:rPr lang="en-US" dirty="0"/>
              <a:t>. UNDP India.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Vij</a:t>
            </a:r>
            <a:r>
              <a:rPr lang="en-US" dirty="0"/>
              <a:t>, S. (2020, July). </a:t>
            </a:r>
            <a:r>
              <a:rPr lang="en-US" i="1" dirty="0"/>
              <a:t>The mother tongue fanatics are keeping India a poor, backward country</a:t>
            </a:r>
            <a:r>
              <a:rPr lang="en-US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4856AA-C9D3-41CD-8612-E387E1CC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86" y="169098"/>
            <a:ext cx="10477028" cy="97427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References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DB150-0ED5-4B10-9E78-1E7886CFF3B7}"/>
              </a:ext>
            </a:extLst>
          </p:cNvPr>
          <p:cNvSpPr txBox="1">
            <a:spLocks/>
          </p:cNvSpPr>
          <p:nvPr/>
        </p:nvSpPr>
        <p:spPr>
          <a:xfrm>
            <a:off x="6096000" y="841529"/>
            <a:ext cx="5725357" cy="574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Willis, R. J. (1986). Chapter 10 Wage determinants: A survey and reinterpretation of human capital earnings functions. In </a:t>
            </a:r>
            <a:r>
              <a:rPr lang="en-US" i="1" dirty="0"/>
              <a:t>Handbook of Labor Economics</a:t>
            </a:r>
            <a:r>
              <a:rPr lang="en-US" dirty="0"/>
              <a:t> (Vol. 1, pp. 525–602). Elsevier. </a:t>
            </a:r>
            <a:r>
              <a:rPr lang="en-US" dirty="0">
                <a:hlinkClick r:id="rId24"/>
              </a:rPr>
              <a:t>https://doi.org/10.1016/S1573-4463(86)01013-1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Withnall</a:t>
            </a:r>
            <a:r>
              <a:rPr lang="en-US" dirty="0"/>
              <a:t>, A. (2020). India moves to end primary teaching in English as Modi unveils major education reforms | The Independent. </a:t>
            </a:r>
            <a:r>
              <a:rPr lang="en-US" i="1" dirty="0"/>
              <a:t>The Independent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 err="1"/>
              <a:t>Xie</a:t>
            </a:r>
            <a:r>
              <a:rPr lang="en-US" dirty="0"/>
              <a:t>, Y., </a:t>
            </a:r>
            <a:r>
              <a:rPr lang="en-US" dirty="0" err="1"/>
              <a:t>Dervieux</a:t>
            </a:r>
            <a:r>
              <a:rPr lang="en-US" dirty="0"/>
              <a:t>, C., &amp; </a:t>
            </a:r>
            <a:r>
              <a:rPr lang="en-US" dirty="0" err="1"/>
              <a:t>Riederer</a:t>
            </a:r>
            <a:r>
              <a:rPr lang="en-US" dirty="0"/>
              <a:t>, E. (2024). </a:t>
            </a:r>
            <a:r>
              <a:rPr lang="en-US" i="1" dirty="0"/>
              <a:t>R Markdown Cookbook</a:t>
            </a:r>
            <a:r>
              <a:rPr lang="en-US" dirty="0"/>
              <a:t>. </a:t>
            </a:r>
            <a:r>
              <a:rPr lang="en-US" dirty="0">
                <a:hlinkClick r:id="rId25"/>
              </a:rPr>
              <a:t>https://bookdown.org/yihui/rmarkdown-cookbook/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Xu, R., &amp; Wooldridge, J. M. (2022). </a:t>
            </a:r>
            <a:r>
              <a:rPr lang="en-US" i="1" dirty="0"/>
              <a:t>A Design-Based approach to spatial correlation</a:t>
            </a:r>
            <a:r>
              <a:rPr lang="en-US" dirty="0"/>
              <a:t>. </a:t>
            </a:r>
            <a:r>
              <a:rPr lang="en-US" dirty="0">
                <a:hlinkClick r:id="rId26"/>
              </a:rPr>
              <a:t>https://doi.org/10.48550/arxiv.2211.14354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Zhang, C., Wang, Z., &amp; Luo, H. (2023). </a:t>
            </a:r>
            <a:r>
              <a:rPr lang="en-US" dirty="0" err="1"/>
              <a:t>Spatio</a:t>
            </a:r>
            <a:r>
              <a:rPr lang="en-US" dirty="0"/>
              <a:t>-temporal variations, spatial spillover, and driving factors of carbon emission efficiency in RCEP members under the background of carbon neutrality. </a:t>
            </a:r>
            <a:r>
              <a:rPr lang="en-US" i="1" dirty="0"/>
              <a:t>Environmental Science and Pollution Research</a:t>
            </a:r>
            <a:r>
              <a:rPr lang="en-US" dirty="0"/>
              <a:t>, </a:t>
            </a:r>
            <a:r>
              <a:rPr lang="en-US" i="1" dirty="0"/>
              <a:t>30</a:t>
            </a:r>
            <a:r>
              <a:rPr lang="en-US" dirty="0"/>
              <a:t>(13), 36485–36501. </a:t>
            </a:r>
            <a:r>
              <a:rPr lang="en-US" dirty="0">
                <a:hlinkClick r:id="rId27"/>
              </a:rPr>
              <a:t>https://doi.org/10.1007/s11356-022-24778-9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Zhang, H., Dai, Y., &amp; Liu, H. (2021). English Proficiency and happiness: The mediation of income satisfaction and leisure satisfaction and the moderation of the national economy. </a:t>
            </a:r>
            <a:r>
              <a:rPr lang="en-US" i="1" dirty="0"/>
              <a:t>SAGE Open</a:t>
            </a:r>
            <a:r>
              <a:rPr lang="en-US" dirty="0"/>
              <a:t>, </a:t>
            </a:r>
            <a:r>
              <a:rPr lang="en-US" i="1" dirty="0"/>
              <a:t>11</a:t>
            </a:r>
            <a:r>
              <a:rPr lang="en-US" dirty="0"/>
              <a:t>(4), 215824402110544. </a:t>
            </a:r>
            <a:r>
              <a:rPr lang="en-US" dirty="0">
                <a:hlinkClick r:id="rId28"/>
              </a:rPr>
              <a:t>https://doi.org/10.1177/21582440211054482</a:t>
            </a:r>
            <a:endParaRPr lang="en-US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Font typeface="Corbel" pitchFamily="34" charset="0"/>
              <a:buNone/>
            </a:pPr>
            <a:r>
              <a:rPr lang="en-US" dirty="0"/>
              <a:t>Zhang, W., Han, X., Ding, Q., &amp; Zhang, D. (2024). Analysis of spatial spillover effects and influencing factors of transportation carbon emission efficiency from a provincial perspective in China. </a:t>
            </a:r>
            <a:r>
              <a:rPr lang="en-US" i="1" dirty="0"/>
              <a:t>Environmental Science and Pollution Research</a:t>
            </a:r>
            <a:r>
              <a:rPr lang="en-US" dirty="0"/>
              <a:t>, </a:t>
            </a:r>
            <a:r>
              <a:rPr lang="en-US" i="1" dirty="0"/>
              <a:t>31</a:t>
            </a:r>
            <a:r>
              <a:rPr lang="en-US" dirty="0"/>
              <a:t>(8), 12174–12193. </a:t>
            </a:r>
            <a:r>
              <a:rPr lang="en-US" dirty="0">
                <a:hlinkClick r:id="rId29"/>
              </a:rPr>
              <a:t>https://doi.org/10.1007/s11356-024-31840-1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3581B-C730-FFD1-7FFE-FD1A913C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3992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2143-6C21-4D9F-8F29-85CBDE61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76" y="2277188"/>
            <a:ext cx="9070848" cy="2587752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E6799-1BF5-EAC7-73BF-71D7FB2F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39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3A299"/>
              </a:buClr>
              <a:buSzPct val="100000"/>
              <a:buFont typeface="Tw Cen MT" panose="020B0602020104020603" pitchFamily="34" charset="0"/>
              <a:buNone/>
              <a:tabLst/>
              <a:defRPr/>
            </a:pPr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Iterated Fuzzy Joins</a:t>
            </a:r>
            <a:b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Soundex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= 0: Phonetic variants in anglicization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	“</a:t>
            </a:r>
            <a:r>
              <a:rPr lang="en-US" sz="3600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Baleswar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” ≈ “</a:t>
            </a:r>
            <a:r>
              <a:rPr lang="en-US" sz="3600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Balasore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”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Jaro</a:t>
            </a: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-Winkler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0.15: Respellings, vowel swaps with 0.85 similarity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Damerau-Levenshtein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2: At most two insertions, deletions, substitutions, transpositions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Optimal String Alignment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1: One single typo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Iterating Iterated Fuzzy Joins</a:t>
            </a:r>
            <a:b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5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Repeat for all previous years </a:t>
            </a:r>
            <a:r>
              <a:rPr lang="en-US" sz="20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e.g., 2007-08 data matched with 2008, …, 2001 districts</a:t>
            </a:r>
            <a:endParaRPr lang="en-US" dirty="0">
              <a:highlight>
                <a:srgbClr val="808000"/>
              </a:highlight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74087-786F-62FA-A310-C7361998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5298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0DD3-8AAC-4CC8-BFA8-C6EDAB3E3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marL="4572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3A299"/>
              </a:buClr>
              <a:buSzPct val="100000"/>
              <a:buFont typeface="Tw Cen MT" panose="020B0602020104020603" pitchFamily="34" charset="0"/>
              <a:buNone/>
              <a:tabLst/>
              <a:defRPr/>
            </a:pPr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Iterated Fuzzy Joins</a:t>
            </a:r>
            <a:b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Soundex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= 0: Phonetic variants in anglicization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	“</a:t>
            </a:r>
            <a:r>
              <a:rPr lang="en-US" sz="3600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Baleswar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” ≈ “</a:t>
            </a:r>
            <a:r>
              <a:rPr lang="en-US" sz="3600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Balasore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”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Jaro</a:t>
            </a: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-Winkler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0.15: Respellings, vowel swaps with 0.85 similarity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 err="1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Damerau-Levenshtein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2: At most two insertions, deletions, substitutions, transpositions</a:t>
            </a: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u="sng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Optimal String Alignment</a:t>
            </a: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≤ 1: One single typo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Iterating Iterated Fuzzy Joins</a:t>
            </a:r>
            <a:b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5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36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Repeat for all previous years </a:t>
            </a:r>
            <a:r>
              <a:rPr lang="en-US" sz="2000" cap="none" spc="0" dirty="0">
                <a:solidFill>
                  <a:prstClr val="white"/>
                </a:solidFill>
                <a:latin typeface="Century Gothic" panose="020B0502020202020204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e.g., 2007-08 data matched with 2008, …, 2001 districts</a:t>
            </a:r>
            <a:endParaRPr lang="en-US" dirty="0">
              <a:highlight>
                <a:srgbClr val="808000"/>
              </a:highlight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62D72F-5A56-4656-A387-862924A45D30}"/>
              </a:ext>
            </a:extLst>
          </p:cNvPr>
          <p:cNvSpPr/>
          <p:nvPr/>
        </p:nvSpPr>
        <p:spPr>
          <a:xfrm rot="12567359">
            <a:off x="-893287" y="3195586"/>
            <a:ext cx="14035193" cy="461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7499B-0501-4176-AE2E-7B5F8A8B0E81}"/>
              </a:ext>
            </a:extLst>
          </p:cNvPr>
          <p:cNvSpPr/>
          <p:nvPr/>
        </p:nvSpPr>
        <p:spPr>
          <a:xfrm rot="9032641" flipV="1">
            <a:off x="-893286" y="3195585"/>
            <a:ext cx="14035193" cy="461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C0EB0-E4D0-4F40-926A-070543AA8326}"/>
              </a:ext>
            </a:extLst>
          </p:cNvPr>
          <p:cNvSpPr txBox="1"/>
          <p:nvPr/>
        </p:nvSpPr>
        <p:spPr>
          <a:xfrm>
            <a:off x="867052" y="1690062"/>
            <a:ext cx="10457896" cy="34778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n-US" sz="6000" b="0" i="0" u="none" strike="noStrike" kern="1200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Yet the problem continues!</a:t>
            </a:r>
          </a:p>
          <a:p>
            <a:pPr algn="ctr">
              <a:spcBef>
                <a:spcPts val="1200"/>
              </a:spcBef>
            </a:pPr>
            <a:r>
              <a:rPr lang="en-US" sz="4500" spc="100" dirty="0">
                <a:solidFill>
                  <a:schemeClr val="bg1"/>
                </a:solidFill>
                <a:latin typeface="Century Gothic" panose="020B05020202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Must manually match the many remaining mismatches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8ED86-95A2-41F9-DC25-410A1BFB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523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7A5-F4DC-4855-9F58-F1FD542C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2229"/>
            <a:ext cx="10058400" cy="761663"/>
          </a:xfrm>
        </p:spPr>
        <p:txBody>
          <a:bodyPr>
            <a:normAutofit/>
          </a:bodyPr>
          <a:lstStyle/>
          <a:p>
            <a:r>
              <a:rPr lang="en-US" sz="3200" dirty="0"/>
              <a:t>All Potential Response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D67C-B2A4-49B5-B7D9-B3E74EEA6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76890"/>
            <a:ext cx="10058400" cy="5639137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Percent change </a:t>
            </a:r>
            <a:r>
              <a:rPr lang="en-US" sz="2000" dirty="0">
                <a:sym typeface="Wingdings" panose="05000000000000000000" pitchFamily="2" charset="2"/>
              </a:rPr>
              <a:t>in household consumption (absolute or %)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NSS 07-08, and NSS on Household Social Consumption: Health, 2017-18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ΔConsumption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>
              <a:highlight>
                <a:srgbClr val="808000"/>
              </a:highlight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Percent change in wages (absolute or %)</a:t>
            </a:r>
            <a:endParaRPr lang="en-US" sz="105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effectLst/>
                <a:ea typeface="Aptos"/>
              </a:rPr>
              <a:t>Data: Periodic Labor Force Survey (PLFS) 2017-18, NSS on Employment-Unemployment, 2007-08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highlight>
                  <a:srgbClr val="808000"/>
                </a:highlight>
                <a:ea typeface="Aptos"/>
              </a:rPr>
              <a:t>%</a:t>
            </a: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ΔWage</a:t>
            </a:r>
            <a:r>
              <a:rPr lang="en-US" sz="2000" i="1" baseline="-25000" dirty="0" err="1">
                <a:highlight>
                  <a:srgbClr val="808000"/>
                </a:highlight>
                <a:ea typeface="Aptos"/>
              </a:rPr>
              <a:t>d</a:t>
            </a:r>
            <a:endParaRPr lang="en-US" sz="2000" dirty="0">
              <a:effectLst/>
              <a:highlight>
                <a:srgbClr val="808000"/>
              </a:highlight>
              <a:ea typeface="Aptos"/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Change in Gini coefficient of consumption and welfare</a:t>
            </a:r>
            <a:endParaRPr lang="en-US" sz="105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ΔGini</a:t>
            </a:r>
            <a:r>
              <a:rPr lang="en-US" sz="2000" i="1" baseline="-25000" dirty="0" err="1">
                <a:effectLst/>
                <a:highlight>
                  <a:srgbClr val="808000"/>
                </a:highlight>
                <a:ea typeface="Aptos"/>
              </a:rPr>
              <a:t>d</a:t>
            </a:r>
            <a:r>
              <a:rPr lang="en-US" sz="2000" baseline="30000" dirty="0" err="1">
                <a:effectLst/>
                <a:highlight>
                  <a:srgbClr val="808000"/>
                </a:highlight>
                <a:ea typeface="Aptos"/>
              </a:rPr>
              <a:t>Consumption</a:t>
            </a:r>
            <a:endParaRPr lang="en-US" sz="2000" baseline="30000" dirty="0">
              <a:effectLst/>
              <a:highlight>
                <a:srgbClr val="808000"/>
              </a:highlight>
              <a:ea typeface="Aptos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ΔGini</a:t>
            </a:r>
            <a:r>
              <a:rPr lang="en-US" sz="2000" i="1" baseline="-25000" dirty="0" err="1">
                <a:effectLst/>
                <a:highlight>
                  <a:srgbClr val="808000"/>
                </a:highlight>
                <a:ea typeface="Aptos"/>
              </a:rPr>
              <a:t>d</a:t>
            </a:r>
            <a:r>
              <a:rPr lang="en-US" sz="2000" baseline="30000" dirty="0" err="1">
                <a:effectLst/>
                <a:highlight>
                  <a:srgbClr val="808000"/>
                </a:highlight>
                <a:ea typeface="Aptos"/>
              </a:rPr>
              <a:t>Wage</a:t>
            </a:r>
            <a:endParaRPr lang="en-US" sz="2000" dirty="0">
              <a:effectLst/>
              <a:highlight>
                <a:srgbClr val="808000"/>
              </a:highlight>
              <a:ea typeface="Aptos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000" dirty="0">
                <a:sym typeface="Wingdings" panose="05000000000000000000" pitchFamily="2" charset="2"/>
              </a:rPr>
              <a:t>Percent change in employment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Periodic Labor Force Survey (PLFS) 2017-18, NSS on Employment-Unemployment, 2007-08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ΔEmployment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>
              <a:highlight>
                <a:srgbClr val="808000"/>
              </a:highlight>
              <a:sym typeface="Wingdings" panose="05000000000000000000" pitchFamily="2" charset="2"/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2000" dirty="0">
                <a:sym typeface="Wingdings" panose="05000000000000000000" pitchFamily="2" charset="2"/>
              </a:rPr>
              <a:t>Change in Human Development Index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National Family Health Surveys from 2005-06 (NFHS-III) and 2019-21 (NFHS-V)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ΔHDI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6A659-9FF0-3DFF-95CD-49BB4288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34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7A5-F4DC-4855-9F58-F1FD542C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2229"/>
            <a:ext cx="10058400" cy="761663"/>
          </a:xfrm>
        </p:spPr>
        <p:txBody>
          <a:bodyPr>
            <a:normAutofit/>
          </a:bodyPr>
          <a:lstStyle/>
          <a:p>
            <a:r>
              <a:rPr lang="en-US" sz="3200" dirty="0"/>
              <a:t>Additional Potential Response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D67C-B2A4-49B5-B7D9-B3E74EEA6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76890"/>
            <a:ext cx="10058400" cy="5639137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Percent change </a:t>
            </a:r>
            <a:r>
              <a:rPr lang="en-US" sz="2000" dirty="0">
                <a:sym typeface="Wingdings" panose="05000000000000000000" pitchFamily="2" charset="2"/>
              </a:rPr>
              <a:t>in household consumption (absolute or %)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NSS 07-08, and NSS on Household Social Consumption: Health, 2017-18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ΔConsumption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>
              <a:highlight>
                <a:srgbClr val="808000"/>
              </a:highlight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Percent change in wages (absolute or %)</a:t>
            </a:r>
            <a:endParaRPr lang="en-US" sz="105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effectLst/>
                <a:ea typeface="Aptos"/>
              </a:rPr>
              <a:t>Data: Periodic Labor Force Survey (PLFS) 2017-18, NSS on Employment-Unemployment, 2007-08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highlight>
                  <a:srgbClr val="808000"/>
                </a:highlight>
                <a:ea typeface="Aptos"/>
              </a:rPr>
              <a:t>%</a:t>
            </a: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ΔWage</a:t>
            </a:r>
            <a:r>
              <a:rPr lang="en-US" sz="2000" i="1" baseline="-25000" dirty="0" err="1">
                <a:highlight>
                  <a:srgbClr val="808000"/>
                </a:highlight>
                <a:ea typeface="Aptos"/>
              </a:rPr>
              <a:t>d</a:t>
            </a:r>
            <a:endParaRPr lang="en-US" sz="2000" dirty="0">
              <a:effectLst/>
              <a:highlight>
                <a:srgbClr val="808000"/>
              </a:highlight>
              <a:ea typeface="Aptos"/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Wingdings" panose="05000000000000000000" pitchFamily="2" charset="2"/>
              </a:rPr>
              <a:t>Change in Gini coefficient of consumption and welfare</a:t>
            </a:r>
            <a:endParaRPr lang="en-US" sz="1050" dirty="0">
              <a:sym typeface="Wingdings" panose="05000000000000000000" pitchFamily="2" charset="2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ΔGini</a:t>
            </a:r>
            <a:r>
              <a:rPr lang="en-US" sz="2000" i="1" baseline="-25000" dirty="0" err="1">
                <a:effectLst/>
                <a:highlight>
                  <a:srgbClr val="808000"/>
                </a:highlight>
                <a:ea typeface="Aptos"/>
              </a:rPr>
              <a:t>d</a:t>
            </a:r>
            <a:r>
              <a:rPr lang="en-US" sz="2000" baseline="30000" dirty="0" err="1">
                <a:effectLst/>
                <a:highlight>
                  <a:srgbClr val="808000"/>
                </a:highlight>
                <a:ea typeface="Aptos"/>
              </a:rPr>
              <a:t>Consumption</a:t>
            </a:r>
            <a:endParaRPr lang="en-US" sz="2000" baseline="30000" dirty="0">
              <a:effectLst/>
              <a:highlight>
                <a:srgbClr val="808000"/>
              </a:highlight>
              <a:ea typeface="Aptos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 err="1">
                <a:effectLst/>
                <a:highlight>
                  <a:srgbClr val="808000"/>
                </a:highlight>
                <a:ea typeface="Aptos"/>
              </a:rPr>
              <a:t>ΔGini</a:t>
            </a:r>
            <a:r>
              <a:rPr lang="en-US" sz="2000" i="1" baseline="-25000" dirty="0" err="1">
                <a:effectLst/>
                <a:highlight>
                  <a:srgbClr val="808000"/>
                </a:highlight>
                <a:ea typeface="Aptos"/>
              </a:rPr>
              <a:t>d</a:t>
            </a:r>
            <a:r>
              <a:rPr lang="en-US" sz="2000" baseline="30000" dirty="0" err="1">
                <a:effectLst/>
                <a:highlight>
                  <a:srgbClr val="808000"/>
                </a:highlight>
                <a:ea typeface="Aptos"/>
              </a:rPr>
              <a:t>Wage</a:t>
            </a:r>
            <a:endParaRPr lang="en-US" sz="2000" dirty="0">
              <a:effectLst/>
              <a:highlight>
                <a:srgbClr val="808000"/>
              </a:highlight>
              <a:ea typeface="Aptos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000" dirty="0">
                <a:sym typeface="Wingdings" panose="05000000000000000000" pitchFamily="2" charset="2"/>
              </a:rPr>
              <a:t>Percent change in employment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Periodic Labor Force Survey (PLFS) 2017-18, NSS on Employment-Unemployment, 2007-08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ΔEmployment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>
              <a:highlight>
                <a:srgbClr val="808000"/>
              </a:highlight>
              <a:sym typeface="Wingdings" panose="05000000000000000000" pitchFamily="2" charset="2"/>
            </a:endParaRPr>
          </a:p>
          <a:p>
            <a:pPr marL="4572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rbel" pitchFamily="34" charset="0"/>
              <a:buNone/>
              <a:tabLst/>
              <a:defRPr/>
            </a:pPr>
            <a:r>
              <a:rPr lang="en-US" sz="2000" dirty="0">
                <a:sym typeface="Wingdings" panose="05000000000000000000" pitchFamily="2" charset="2"/>
              </a:rPr>
              <a:t>Change in Human Development Index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Data: National Family Health Surveys from 2005-06 (NFHS-III) and 2019-21 (NFHS-V)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808000"/>
                </a:highlight>
              </a:rPr>
              <a:t>%</a:t>
            </a:r>
            <a:r>
              <a:rPr lang="en-US" sz="2000" dirty="0" err="1">
                <a:highlight>
                  <a:srgbClr val="808000"/>
                </a:highlight>
              </a:rPr>
              <a:t>ΔHDI</a:t>
            </a:r>
            <a:r>
              <a:rPr lang="en-US" sz="2000" i="1" baseline="-25000" dirty="0" err="1">
                <a:highlight>
                  <a:srgbClr val="808000"/>
                </a:highlight>
              </a:rPr>
              <a:t>d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F73A7-27E2-4C77-B4FD-FAFB4DA32053}"/>
              </a:ext>
            </a:extLst>
          </p:cNvPr>
          <p:cNvSpPr/>
          <p:nvPr/>
        </p:nvSpPr>
        <p:spPr>
          <a:xfrm rot="11117352">
            <a:off x="1690416" y="5738904"/>
            <a:ext cx="9144420" cy="84411"/>
          </a:xfrm>
          <a:prstGeom prst="rect">
            <a:avLst/>
          </a:prstGeom>
          <a:solidFill>
            <a:srgbClr val="CF543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FB72C-17C2-456F-96F5-2D8DC5364D44}"/>
              </a:ext>
            </a:extLst>
          </p:cNvPr>
          <p:cNvSpPr/>
          <p:nvPr/>
        </p:nvSpPr>
        <p:spPr>
          <a:xfrm rot="10482648" flipV="1">
            <a:off x="1700980" y="5738904"/>
            <a:ext cx="9144420" cy="84411"/>
          </a:xfrm>
          <a:prstGeom prst="rect">
            <a:avLst/>
          </a:prstGeom>
          <a:solidFill>
            <a:srgbClr val="CF543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A87D6-F6B9-4815-9E39-E6A5403DEDE8}"/>
              </a:ext>
            </a:extLst>
          </p:cNvPr>
          <p:cNvSpPr txBox="1"/>
          <p:nvPr/>
        </p:nvSpPr>
        <p:spPr>
          <a:xfrm>
            <a:off x="3827392" y="5365610"/>
            <a:ext cx="4891595" cy="830997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n-US" sz="2800" b="0" i="0" u="none" strike="noStrike" kern="1200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Data now </a:t>
            </a:r>
            <a:r>
              <a:rPr lang="en-US" sz="2800" spc="1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inaccessible</a:t>
            </a:r>
            <a:endParaRPr kumimoji="0" lang="en-US" sz="2800" b="0" i="0" u="none" strike="noStrike" kern="1200" spc="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algn="ctr"/>
            <a:r>
              <a:rPr lang="en-US" sz="2000" spc="100" dirty="0">
                <a:solidFill>
                  <a:schemeClr val="bg1"/>
                </a:solidFill>
                <a:latin typeface="Century Gothic" panose="020B05020202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Was collected + stored by USAID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FBC86-E324-E0DF-2EE5-4A784E67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854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ppt/theme/theme3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2508</TotalTime>
  <Words>8990</Words>
  <Application>Microsoft Macintosh PowerPoint</Application>
  <PresentationFormat>Widescreen</PresentationFormat>
  <Paragraphs>465</Paragraphs>
  <Slides>52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71" baseType="lpstr">
      <vt:lpstr>Aptos</vt:lpstr>
      <vt:lpstr>Arial</vt:lpstr>
      <vt:lpstr>Bookman Old Style</vt:lpstr>
      <vt:lpstr>Calibri</vt:lpstr>
      <vt:lpstr>Cascadia Code SemiBold</vt:lpstr>
      <vt:lpstr>Cascadia Mono</vt:lpstr>
      <vt:lpstr>Cascadia Mono SemiBold</vt:lpstr>
      <vt:lpstr>Century Gothic</vt:lpstr>
      <vt:lpstr>Corbel</vt:lpstr>
      <vt:lpstr>Courier New</vt:lpstr>
      <vt:lpstr>Sitka Display Semibold</vt:lpstr>
      <vt:lpstr>Times New Roman</vt:lpstr>
      <vt:lpstr>Tw Cen MT</vt:lpstr>
      <vt:lpstr>Tw Cen MT Condensed</vt:lpstr>
      <vt:lpstr>Wingdings</vt:lpstr>
      <vt:lpstr>Wingdings 3</vt:lpstr>
      <vt:lpstr>Savon</vt:lpstr>
      <vt:lpstr>Integral</vt:lpstr>
      <vt:lpstr>1_Basis</vt:lpstr>
      <vt:lpstr>English and Education in India</vt:lpstr>
      <vt:lpstr>PowerPoint Presentation</vt:lpstr>
      <vt:lpstr>PowerPoint Presentation</vt:lpstr>
      <vt:lpstr>PowerPoint Presentation</vt:lpstr>
      <vt:lpstr>Our Context</vt:lpstr>
      <vt:lpstr>Our Motivation</vt:lpstr>
      <vt:lpstr>PowerPoint Presentation</vt:lpstr>
      <vt:lpstr>Limits to the Literature</vt:lpstr>
      <vt:lpstr>Limits to EMI</vt:lpstr>
      <vt:lpstr>Our Research Question</vt:lpstr>
      <vt:lpstr>Explanatory Variable Construct for EMI what Chakraborty and Bakshi (2016) construct for public schools:</vt:lpstr>
      <vt:lpstr>Response Variable Identify robust measures of welfare</vt:lpstr>
      <vt:lpstr>Empirical Methodology How can we best isolate the effect of EMIE on %ΔConsumption?</vt:lpstr>
      <vt:lpstr>Econometric Challenges What prevents us from isolating the effect of EMIE on %ΔConsumption?</vt:lpstr>
      <vt:lpstr>Econometric Challenges What prevents us from isolating the effect of EMIE on %ΔConsumption?</vt:lpstr>
      <vt:lpstr>Empirical Methodology How can we best isolate the effect of EMIE on %ΔConsumption?</vt:lpstr>
      <vt:lpstr>Control Variables Identify variables which could cause changes in both EMIE and %ΔConsumption</vt:lpstr>
      <vt:lpstr>Control Variables Identify variables which could cause changes in both EMIE and %ΔConsumption</vt:lpstr>
      <vt:lpstr>Econometric Tools What can we use to isolate the effect of EMIE on %ΔConsumption?</vt:lpstr>
      <vt:lpstr>Econometric Tools What can we use to isolate the effect of EMIE on %ΔConsumption?</vt:lpstr>
      <vt:lpstr>Instrumental Variable</vt:lpstr>
      <vt:lpstr>Two-Stage Least Squares Framework</vt:lpstr>
      <vt:lpstr>Empirical Methodology How can we best isolate the effect of EMIE on %ΔConsumption?</vt:lpstr>
      <vt:lpstr>Explanatory Variable Construct for EMI what Chakraborty and Bakshi (2016) construct for public schools:</vt:lpstr>
      <vt:lpstr>Econometric Challenges What prevents us from isolating the effect of EMIE on %ΔConsumption?</vt:lpstr>
      <vt:lpstr>Empirical Methodology How can we best isolate the effect of EMIE on %ΔConsumption?</vt:lpstr>
      <vt:lpstr>Participation Equation</vt:lpstr>
      <vt:lpstr>Inverse Mills Ratio</vt:lpstr>
      <vt:lpstr>Participation Regression</vt:lpstr>
      <vt:lpstr>First-Stage Regression</vt:lpstr>
      <vt:lpstr>PowerPoint Presentation</vt:lpstr>
      <vt:lpstr>PowerPoint Presentation</vt:lpstr>
      <vt:lpstr>Second-Stage Regression</vt:lpstr>
      <vt:lpstr>PowerPoint Presentation</vt:lpstr>
      <vt:lpstr>PowerPoint Presentation</vt:lpstr>
      <vt:lpstr>PowerPoint Presentation</vt:lpstr>
      <vt:lpstr>PowerPoint Presentation</vt:lpstr>
      <vt:lpstr>Econometric Challenges What prevents us from isolating the effect of EMIE on %ΔConsumption?</vt:lpstr>
      <vt:lpstr>Econometric Challenges What prevents us from isolating the effect of EMIE on %ΔConsumption?</vt:lpstr>
      <vt:lpstr>Econometric Challenges What prevents us from isolating the effect of EMIE on %ΔConsumption?</vt:lpstr>
      <vt:lpstr>Spatial Autocorrelation p-Values</vt:lpstr>
      <vt:lpstr>Empirical Methodology How can we best isolate the effect of EMIE on %ΔConsumption?</vt:lpstr>
      <vt:lpstr>Spatial Econometrics Models and next steps…</vt:lpstr>
      <vt:lpstr>References</vt:lpstr>
      <vt:lpstr>References</vt:lpstr>
      <vt:lpstr>References</vt:lpstr>
      <vt:lpstr>References</vt:lpstr>
      <vt:lpstr>Appendix</vt:lpstr>
      <vt:lpstr>Iterated Fuzzy Joins Soundex = 0: Phonetic variants in anglicization  “Baleswar” ≈ “Balasore”  Jaro-Winkler ≤ 0.15: Respellings, vowel swaps with 0.85 similarity  Damerau-Levenshtein ≤ 2: At most two insertions, deletions, substitutions, transpositions  Optimal String Alignment ≤ 1: One single typo   Iterating Iterated Fuzzy Joins  Repeat for all previous years e.g., 2007-08 data matched with 2008, …, 2001 districts</vt:lpstr>
      <vt:lpstr>Iterated Fuzzy Joins Soundex = 0: Phonetic variants in anglicization  “Baleswar” ≈ “Balasore”  Jaro-Winkler ≤ 0.15: Respellings, vowel swaps with 0.85 similarity  Damerau-Levenshtein ≤ 2: At most two insertions, deletions, substitutions, transpositions  Optimal String Alignment ≤ 1: One single typo   Iterating Iterated Fuzzy Joins  Repeat for all previous years e.g., 2007-08 data matched with 2008, …, 2001 districts</vt:lpstr>
      <vt:lpstr>All Potential Response Variables</vt:lpstr>
      <vt:lpstr>Additional Potential Response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and Education  in India</dc:title>
  <dc:creator>Rishav Roy</dc:creator>
  <cp:lastModifiedBy>Rishav Roy</cp:lastModifiedBy>
  <cp:revision>42</cp:revision>
  <cp:lastPrinted>2025-10-04T08:14:22Z</cp:lastPrinted>
  <dcterms:created xsi:type="dcterms:W3CDTF">2025-04-01T04:32:49Z</dcterms:created>
  <dcterms:modified xsi:type="dcterms:W3CDTF">2025-10-04T08:14:40Z</dcterms:modified>
</cp:coreProperties>
</file>